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81" r:id="rId3"/>
    <p:sldId id="278" r:id="rId4"/>
    <p:sldId id="284" r:id="rId5"/>
    <p:sldId id="285" r:id="rId6"/>
    <p:sldId id="287" r:id="rId7"/>
    <p:sldId id="289" r:id="rId8"/>
    <p:sldId id="290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72BE3-42C2-4095-A60B-794EDE9F81C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D7549-91EF-4789-8768-2B53EF98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7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7549-91EF-4789-8768-2B53EF98D94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8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7549-91EF-4789-8768-2B53EF98D9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19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9FEF1-8754-462C-9820-2A593D153B6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4D427-11E3-4922-A296-A5A29ECC6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AA-2025-Algorithm/Algorith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jx.cn/vm/mCyR8oU.asp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AA-2025-Algorithm/Algorith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AA-2025-Algorithm/Algorith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hpan.buaa.edu.cn/link/AAE0208A04EBAE4ADC88755B2DF96F3E0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55383" y="2235200"/>
            <a:ext cx="10081234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2025-</a:t>
            </a:r>
            <a:r>
              <a:rPr lang="zh-CN" altLang="en-US" dirty="0"/>
              <a:t>秋季学期</a:t>
            </a:r>
            <a:r>
              <a:rPr lang="en-US" altLang="zh-CN" dirty="0"/>
              <a:t>-</a:t>
            </a:r>
            <a:r>
              <a:rPr lang="zh-CN" altLang="en-US" dirty="0"/>
              <a:t>算法分析与设计</a:t>
            </a:r>
            <a:br>
              <a:rPr lang="en-US" altLang="zh-CN" sz="4900" b="1" dirty="0"/>
            </a:br>
            <a:br>
              <a:rPr lang="en-US" altLang="zh-CN" dirty="0"/>
            </a:br>
            <a:r>
              <a:rPr lang="zh-CN" altLang="en-US" sz="4800" dirty="0"/>
              <a:t>线上指南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GitHub Organization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12747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/>
              <a:t>本学期使用</a:t>
            </a:r>
            <a:r>
              <a:rPr lang="zh-CN" altLang="en-US" sz="2000" b="1" dirty="0"/>
              <a:t>组织（</a:t>
            </a:r>
            <a:r>
              <a:rPr lang="en-US" altLang="zh-CN" sz="2000" b="1" dirty="0"/>
              <a:t>Organization</a:t>
            </a:r>
            <a:r>
              <a:rPr lang="zh-CN" altLang="en-US" sz="2000" b="1" dirty="0"/>
              <a:t>）</a:t>
            </a:r>
            <a:r>
              <a:rPr lang="zh-CN" altLang="en-US" sz="2000" dirty="0"/>
              <a:t>进行算法课程的线上工作。地址为：</a:t>
            </a:r>
            <a:r>
              <a:rPr lang="en-US" altLang="zh-CN" sz="2000" dirty="0">
                <a:hlinkClick r:id="rId3"/>
              </a:rPr>
              <a:t>https://github.com/BUAA-2025-Algorithm</a:t>
            </a:r>
            <a:r>
              <a:rPr lang="zh-CN" altLang="en-US" sz="2000" dirty="0"/>
              <a:t>。</a:t>
            </a:r>
            <a:endParaRPr lang="en-US" altLang="zh-CN" sz="2100" dirty="0"/>
          </a:p>
          <a:p>
            <a:pPr>
              <a:lnSpc>
                <a:spcPct val="130000"/>
              </a:lnSpc>
            </a:pPr>
            <a:r>
              <a:rPr lang="zh-CN" altLang="en-US" sz="2000" dirty="0"/>
              <a:t>填写问卷，由助教统一将同学们邀请至团队中，邀请后需要同学在 </a:t>
            </a:r>
            <a:r>
              <a:rPr lang="en-US" altLang="zh-CN" sz="2000" dirty="0"/>
              <a:t>GitHub </a:t>
            </a:r>
            <a:r>
              <a:rPr lang="zh-CN" altLang="en-US" sz="2000" dirty="0"/>
              <a:t>使用的邮箱中进行</a:t>
            </a:r>
            <a:r>
              <a:rPr lang="zh-CN" altLang="en-US" sz="2000" b="1" dirty="0"/>
              <a:t>确认</a:t>
            </a:r>
            <a:r>
              <a:rPr lang="zh-CN" altLang="en-US" sz="2000" dirty="0"/>
              <a:t>：</a:t>
            </a:r>
            <a:r>
              <a:rPr lang="en-US" altLang="zh-CN" sz="2000" dirty="0"/>
              <a:t> </a:t>
            </a:r>
            <a:r>
              <a:rPr lang="en-US" altLang="zh-CN" sz="2000" dirty="0">
                <a:hlinkClick r:id="rId4"/>
              </a:rPr>
              <a:t>https://www.wjx.cn/vm/mCyR8oU.aspx#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30000"/>
              </a:lnSpc>
            </a:pPr>
            <a:r>
              <a:rPr lang="zh-CN" altLang="en-US" sz="2000" dirty="0"/>
              <a:t>组织的仓库会集中展示在组织主页，本学期的仓库已经建好，名为 </a:t>
            </a:r>
            <a:r>
              <a:rPr lang="en-US" altLang="zh-CN" sz="2000" b="1" dirty="0"/>
              <a:t>Algorithm</a:t>
            </a:r>
            <a:r>
              <a:rPr lang="zh-CN" altLang="en-US" sz="2000" dirty="0"/>
              <a:t>，地址为：</a:t>
            </a:r>
            <a:r>
              <a:rPr lang="en-US" altLang="zh-CN" sz="2000" dirty="0">
                <a:hlinkClick r:id="rId3"/>
              </a:rPr>
              <a:t>https://github.com/BUAA-2025-Algorithm/Algorithm</a:t>
            </a:r>
            <a:r>
              <a:rPr lang="zh-CN" altLang="en-US" sz="2000" dirty="0"/>
              <a:t>。后续大家会在这个仓库中进行答疑、题解查看。组织的仓库都是私有的，没有对全网公开。</a:t>
            </a:r>
            <a:endParaRPr lang="en-US" altLang="zh-CN" sz="2000" dirty="0"/>
          </a:p>
          <a:p>
            <a:pPr>
              <a:lnSpc>
                <a:spcPct val="130000"/>
              </a:lnSpc>
            </a:pPr>
            <a:r>
              <a:rPr lang="zh-CN" altLang="en-US" sz="2000" dirty="0"/>
              <a:t>大家被助教拉入组织的成员团队（名为 </a:t>
            </a:r>
            <a:r>
              <a:rPr lang="en-US" altLang="zh-CN" sz="2000" dirty="0"/>
              <a:t>Members</a:t>
            </a:r>
            <a:r>
              <a:rPr lang="zh-CN" altLang="en-US" sz="2000" dirty="0"/>
              <a:t>）后就有了对本学期仓库的</a:t>
            </a:r>
            <a:r>
              <a:rPr lang="zh-CN" altLang="en-US" sz="2000" b="1" dirty="0"/>
              <a:t>只读</a:t>
            </a:r>
            <a:r>
              <a:rPr lang="zh-CN" altLang="en-US" sz="2000" dirty="0"/>
              <a:t>权限。大家可以在仓库中进行答疑（提 </a:t>
            </a:r>
            <a:r>
              <a:rPr lang="en-US" altLang="zh-CN" sz="2000" dirty="0"/>
              <a:t>issue</a:t>
            </a:r>
            <a:r>
              <a:rPr lang="zh-CN" altLang="en-US" sz="2000" dirty="0"/>
              <a:t>）和查看、下载题解，也可以 </a:t>
            </a:r>
            <a:r>
              <a:rPr lang="en-US" altLang="zh-CN" sz="2000" dirty="0"/>
              <a:t>clone </a:t>
            </a:r>
            <a:r>
              <a:rPr lang="zh-CN" altLang="en-US" sz="2000" dirty="0"/>
              <a:t>到本地，随时 </a:t>
            </a:r>
            <a:r>
              <a:rPr lang="en-US" altLang="zh-CN" sz="2000" dirty="0"/>
              <a:t>pull </a:t>
            </a:r>
            <a:r>
              <a:rPr lang="zh-CN" altLang="en-US" sz="2000" dirty="0"/>
              <a:t>更新查看，但不能提交对仓库的任何修改。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答疑流程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本学期答疑均在 </a:t>
            </a:r>
            <a:r>
              <a:rPr lang="en-US" altLang="zh-CN" sz="2000" dirty="0"/>
              <a:t>Algorithm </a:t>
            </a:r>
            <a:r>
              <a:rPr lang="zh-CN" altLang="en-US" sz="2000" dirty="0"/>
              <a:t>仓库中进行：</a:t>
            </a:r>
            <a:r>
              <a:rPr lang="en-US" altLang="zh-CN" sz="2000" dirty="0">
                <a:hlinkClick r:id="rId2"/>
              </a:rPr>
              <a:t> https://github.com/BUAA-2025-Algorithm/Algorithm </a:t>
            </a:r>
            <a:r>
              <a:rPr lang="zh-CN" altLang="en-US" sz="2000" dirty="0">
                <a:sym typeface="+mn-ea"/>
              </a:rPr>
              <a:t>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首先是学生发表 </a:t>
            </a:r>
            <a:r>
              <a:rPr lang="en-US" altLang="zh-CN" sz="2000" dirty="0"/>
              <a:t>issue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助教认领，同时</a:t>
            </a:r>
            <a:r>
              <a:rPr lang="zh-CN" altLang="zh-CN" sz="2000" dirty="0"/>
              <a:t>将问题贴上标签，方便查询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助教回答问题。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学生可以选择追问，助教则继续回答。如果学生觉得得到了满意的答案，学生主动去关闭问题。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000" dirty="0"/>
              <a:t>如果学生忘记</a:t>
            </a:r>
            <a:r>
              <a:rPr lang="en-US" altLang="zh-CN" sz="2000" dirty="0"/>
              <a:t>close</a:t>
            </a:r>
            <a:r>
              <a:rPr lang="zh-CN" altLang="en-US" sz="2000" dirty="0"/>
              <a:t>，或者老师</a:t>
            </a:r>
            <a:r>
              <a:rPr lang="en-US" altLang="zh-CN" sz="2000" dirty="0"/>
              <a:t>/</a:t>
            </a:r>
            <a:r>
              <a:rPr lang="zh-CN" altLang="en-US" sz="2000" dirty="0"/>
              <a:t>助教觉得回答的够充分了，老师</a:t>
            </a:r>
            <a:r>
              <a:rPr lang="en-US" altLang="zh-CN" sz="2000" dirty="0"/>
              <a:t>/</a:t>
            </a:r>
            <a:r>
              <a:rPr lang="zh-CN" altLang="en-US" sz="2000" dirty="0"/>
              <a:t>助教也会关闭问题。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对于贴代码期望助教帮忙寻找 </a:t>
            </a:r>
            <a:r>
              <a:rPr lang="en-US" altLang="zh-CN" sz="2000" b="1" dirty="0"/>
              <a:t>bug </a:t>
            </a:r>
            <a:r>
              <a:rPr lang="zh-CN" altLang="en-US" sz="2000" b="1" dirty="0"/>
              <a:t>的 </a:t>
            </a:r>
            <a:r>
              <a:rPr lang="en-US" altLang="zh-CN" sz="2000" b="1" dirty="0"/>
              <a:t>issue</a:t>
            </a:r>
            <a:r>
              <a:rPr lang="zh-CN" altLang="en-US" sz="2000" b="1" dirty="0"/>
              <a:t>，可能在短时间内（或永远）无法得到回复，请利用对拍的形式找到错误的数据自行 </a:t>
            </a:r>
            <a:r>
              <a:rPr lang="en-US" altLang="zh-CN" sz="2000" b="1" dirty="0"/>
              <a:t>debug</a:t>
            </a:r>
            <a:r>
              <a:rPr lang="zh-CN" altLang="en-US" sz="2000" b="1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答疑流程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224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/>
              <a:t>学生发表 </a:t>
            </a:r>
            <a:r>
              <a:rPr lang="en-US" altLang="zh-CN" sz="2000" dirty="0"/>
              <a:t>issue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03" y="2865730"/>
            <a:ext cx="4857207" cy="2530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24540" t="8957" b="9571"/>
          <a:stretch>
            <a:fillRect/>
          </a:stretch>
        </p:blipFill>
        <p:spPr>
          <a:xfrm>
            <a:off x="6153761" y="2865731"/>
            <a:ext cx="5200039" cy="2530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答疑流程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224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/>
              <a:t>查询 </a:t>
            </a:r>
            <a:r>
              <a:rPr lang="en-US" altLang="zh-CN" sz="2000" dirty="0"/>
              <a:t>issue</a:t>
            </a:r>
            <a:r>
              <a:rPr lang="zh-CN" altLang="en-US" sz="2000" dirty="0"/>
              <a:t>（寻找你感兴趣的问题 </a:t>
            </a:r>
            <a:r>
              <a:rPr lang="en-US" altLang="zh-CN" sz="2000" dirty="0"/>
              <a:t>or </a:t>
            </a:r>
            <a:r>
              <a:rPr lang="zh-CN" altLang="en-US" sz="2000" dirty="0"/>
              <a:t>提问前查询有无相关问题已被解决）。</a:t>
            </a:r>
            <a:endParaRPr lang="en-US" altLang="zh-CN" sz="2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56" y="2731905"/>
            <a:ext cx="7175265" cy="3288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答疑流程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224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/>
              <a:t>关闭 </a:t>
            </a:r>
            <a:r>
              <a:rPr lang="en-US" altLang="zh-CN" sz="2000" dirty="0"/>
              <a:t>issue</a:t>
            </a:r>
          </a:p>
          <a:p>
            <a:pPr>
              <a:lnSpc>
                <a:spcPct val="130000"/>
              </a:lnSpc>
            </a:pPr>
            <a:endParaRPr lang="en-US" altLang="zh-CN" sz="2000" dirty="0"/>
          </a:p>
          <a:p>
            <a:r>
              <a:rPr lang="zh-CN" altLang="en-US" sz="2000" dirty="0"/>
              <a:t>如果你觉得回复满意了，可主动关闭 </a:t>
            </a:r>
            <a:r>
              <a:rPr lang="en-US" altLang="zh-CN" sz="2000" dirty="0"/>
              <a:t>issue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如果老师</a:t>
            </a:r>
            <a:r>
              <a:rPr lang="en-US" altLang="zh-CN" sz="2000" dirty="0"/>
              <a:t>/</a:t>
            </a:r>
            <a:r>
              <a:rPr lang="zh-CN" altLang="en-US" sz="2000" dirty="0"/>
              <a:t>助教觉得回答的够充分了，但长时间未关闭，老师</a:t>
            </a:r>
            <a:r>
              <a:rPr lang="en-US" altLang="zh-CN" sz="2000" dirty="0"/>
              <a:t>/</a:t>
            </a:r>
            <a:r>
              <a:rPr lang="zh-CN" altLang="en-US" sz="2000" dirty="0"/>
              <a:t>助教也会关闭 </a:t>
            </a:r>
            <a:r>
              <a:rPr lang="en-US" altLang="zh-CN" sz="2000" dirty="0"/>
              <a:t>issue</a:t>
            </a:r>
            <a:r>
              <a:rPr lang="zh-CN" altLang="en-US" sz="2000" dirty="0"/>
              <a:t>。</a:t>
            </a:r>
          </a:p>
          <a:p>
            <a:pPr>
              <a:lnSpc>
                <a:spcPct val="130000"/>
              </a:lnSpc>
            </a:pP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9E9AB4-25D4-4179-BF59-422CDE31E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317" y="4516675"/>
            <a:ext cx="3845366" cy="940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题解查看流程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本学期题解发布也均在 </a:t>
            </a:r>
            <a:r>
              <a:rPr lang="en-US" altLang="zh-CN" sz="2000" dirty="0"/>
              <a:t>Algorithm </a:t>
            </a:r>
            <a:r>
              <a:rPr lang="zh-CN" altLang="en-US" sz="2000" dirty="0"/>
              <a:t>仓库中进行：</a:t>
            </a:r>
            <a:r>
              <a:rPr lang="en-US" altLang="zh-CN" sz="2000" dirty="0">
                <a:hlinkClick r:id="rId2"/>
              </a:rPr>
              <a:t> https://github.com/BUAA-2025-Algorithm/Algorithm </a:t>
            </a:r>
            <a:r>
              <a:rPr lang="zh-CN" altLang="en-US" sz="2000" dirty="0">
                <a:sym typeface="+mn-ea"/>
              </a:rPr>
              <a:t>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现在已经创建了一个空的 </a:t>
            </a:r>
            <a:r>
              <a:rPr lang="en-US" altLang="zh-CN" sz="2000" dirty="0"/>
              <a:t>markdown </a:t>
            </a:r>
            <a:r>
              <a:rPr lang="zh-CN" altLang="en-US" sz="2000" dirty="0"/>
              <a:t>题解示例，之后可以在这里看到每次大家提交的题解。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可以先 </a:t>
            </a:r>
            <a:r>
              <a:rPr lang="en-US" altLang="zh-CN" sz="2000" dirty="0"/>
              <a:t>clone </a:t>
            </a:r>
            <a:r>
              <a:rPr lang="zh-CN" altLang="en-US" sz="2000" dirty="0"/>
              <a:t>到本地，之后直接 </a:t>
            </a:r>
            <a:r>
              <a:rPr lang="en-US" altLang="zh-CN" sz="2000" dirty="0"/>
              <a:t>pull </a:t>
            </a:r>
            <a:r>
              <a:rPr lang="zh-CN" altLang="en-US" sz="2000" dirty="0"/>
              <a:t>以下载</a:t>
            </a:r>
            <a:r>
              <a:rPr lang="en-US" altLang="zh-CN" sz="2000" dirty="0"/>
              <a:t>/</a:t>
            </a:r>
            <a:r>
              <a:rPr lang="zh-CN" altLang="en-US" sz="2000" dirty="0"/>
              <a:t>更新每次新发布的题解。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如果发现题解有问题也可提 </a:t>
            </a:r>
            <a:r>
              <a:rPr lang="en-US" altLang="zh-CN" sz="2000" dirty="0"/>
              <a:t>issue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题解提交流程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919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每次上机结束后助教们会上传标程，并向同学们征集题解。</a:t>
            </a:r>
            <a:r>
              <a:rPr lang="zh-CN" altLang="en-US" sz="2000" b="1" dirty="0"/>
              <a:t>写题解不是必做项。</a:t>
            </a:r>
            <a:endParaRPr lang="en-US" altLang="zh-CN" sz="2000" b="1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题解的提交方式为北航云盘，</a:t>
            </a:r>
            <a:r>
              <a:rPr lang="en-US" altLang="zh-CN" sz="2000" dirty="0"/>
              <a:t>DDL </a:t>
            </a:r>
            <a:r>
              <a:rPr lang="zh-CN" altLang="en-US" sz="2000"/>
              <a:t>为周日晚上 </a:t>
            </a:r>
            <a:r>
              <a:rPr lang="en-US" altLang="zh-CN" sz="2000" dirty="0"/>
              <a:t>24 </a:t>
            </a:r>
            <a:r>
              <a:rPr lang="zh-CN" altLang="en-US" sz="2000" dirty="0"/>
              <a:t>点，之后助教们会选出每道题的讲题人并进行通知。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讲题人需要在周三之前制作一份讲题</a:t>
            </a:r>
            <a:r>
              <a:rPr lang="en-US" altLang="zh-CN" sz="2000" dirty="0"/>
              <a:t> PPT </a:t>
            </a:r>
            <a:r>
              <a:rPr lang="zh-CN" altLang="en-US" sz="2000" dirty="0"/>
              <a:t>并提交至北航云盘，之后助教会对 </a:t>
            </a:r>
            <a:r>
              <a:rPr lang="en-US" altLang="zh-CN" sz="2000" dirty="0"/>
              <a:t>PPT </a:t>
            </a:r>
            <a:r>
              <a:rPr lang="zh-CN" altLang="en-US" sz="2000" dirty="0"/>
              <a:t>提一些意见，完善 </a:t>
            </a:r>
            <a:r>
              <a:rPr lang="en-US" altLang="zh-CN" sz="2000" dirty="0"/>
              <a:t>PPT </a:t>
            </a:r>
            <a:r>
              <a:rPr lang="zh-CN" altLang="en-US" sz="2000" dirty="0"/>
              <a:t>并在周三讲题后，会进行相应的加分。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题解和讲题</a:t>
            </a:r>
            <a:r>
              <a:rPr lang="en-US" altLang="zh-CN" sz="2000" dirty="0"/>
              <a:t>PPT</a:t>
            </a:r>
            <a:r>
              <a:rPr lang="zh-CN" altLang="en-US" sz="2000" dirty="0"/>
              <a:t>请提交到这里：</a:t>
            </a:r>
            <a:r>
              <a:rPr lang="en-US" altLang="zh-CN" sz="2000" dirty="0"/>
              <a:t> </a:t>
            </a:r>
            <a:r>
              <a:rPr lang="en-US" altLang="zh-CN" sz="2000" dirty="0">
                <a:hlinkClick r:id="rId3"/>
              </a:rPr>
              <a:t>https://bhpan.buaa.edu.cn/link/AAE0208A04EBAE4ADC88755B2DF96F3E06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endParaRPr lang="zh-CN" altLang="en-US" sz="2000" dirty="0"/>
          </a:p>
          <a:p>
            <a:pPr>
              <a:lnSpc>
                <a:spcPct val="110000"/>
              </a:lnSpc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723031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gwOTQ0OGUyZjMzNTc0OTFlMTgyMWVkNjc5MjVlNG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604</Words>
  <Application>Microsoft Office PowerPoint</Application>
  <PresentationFormat>宽屏</PresentationFormat>
  <Paragraphs>37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2025-秋季学期-算法分析与设计  线上指南</vt:lpstr>
      <vt:lpstr>GitHub Organization</vt:lpstr>
      <vt:lpstr>答疑流程</vt:lpstr>
      <vt:lpstr>答疑流程</vt:lpstr>
      <vt:lpstr>答疑流程</vt:lpstr>
      <vt:lpstr>答疑流程</vt:lpstr>
      <vt:lpstr>题解查看流程</vt:lpstr>
      <vt:lpstr>题解提交流程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Github答疑流程</dc:title>
  <dc:creator>陈 泓瑞</dc:creator>
  <cp:lastModifiedBy>双羽 吕</cp:lastModifiedBy>
  <cp:revision>333</cp:revision>
  <dcterms:created xsi:type="dcterms:W3CDTF">2020-08-23T03:01:00Z</dcterms:created>
  <dcterms:modified xsi:type="dcterms:W3CDTF">2025-09-17T14:32:35Z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5A97394525A840129B083B3E92F34B57</vt:lpwstr>
  </property>
</Properties>
</file>