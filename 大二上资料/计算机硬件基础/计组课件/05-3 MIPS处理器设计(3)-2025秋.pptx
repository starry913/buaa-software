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xml" ContentType="application/vnd.openxmlformats-officedocument.presentationml.tags+xml"/>
  <Override PartName="/ppt/notesSlides/notesSlide17.xml" ContentType="application/vnd.openxmlformats-officedocument.presentationml.notesSlide+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3" r:id="rId2"/>
  </p:sldMasterIdLst>
  <p:notesMasterIdLst>
    <p:notesMasterId r:id="rId30"/>
  </p:notesMasterIdLst>
  <p:handoutMasterIdLst>
    <p:handoutMasterId r:id="rId31"/>
  </p:handoutMasterIdLst>
  <p:sldIdLst>
    <p:sldId id="740" r:id="rId3"/>
    <p:sldId id="1066" r:id="rId4"/>
    <p:sldId id="1132" r:id="rId5"/>
    <p:sldId id="1133" r:id="rId6"/>
    <p:sldId id="1134" r:id="rId7"/>
    <p:sldId id="1135" r:id="rId8"/>
    <p:sldId id="1136" r:id="rId9"/>
    <p:sldId id="1137" r:id="rId10"/>
    <p:sldId id="1138" r:id="rId11"/>
    <p:sldId id="1140" r:id="rId12"/>
    <p:sldId id="1141" r:id="rId13"/>
    <p:sldId id="1167" r:id="rId14"/>
    <p:sldId id="1142" r:id="rId15"/>
    <p:sldId id="1143" r:id="rId16"/>
    <p:sldId id="1144" r:id="rId17"/>
    <p:sldId id="1145" r:id="rId18"/>
    <p:sldId id="1168" r:id="rId19"/>
    <p:sldId id="1147" r:id="rId20"/>
    <p:sldId id="1148" r:id="rId21"/>
    <p:sldId id="1149" r:id="rId22"/>
    <p:sldId id="1150" r:id="rId23"/>
    <p:sldId id="1151" r:id="rId24"/>
    <p:sldId id="1152" r:id="rId25"/>
    <p:sldId id="1154" r:id="rId26"/>
    <p:sldId id="1155" r:id="rId27"/>
    <p:sldId id="1156" r:id="rId28"/>
    <p:sldId id="1157" r:id="rId29"/>
  </p:sldIdLst>
  <p:sldSz cx="12192000" cy="6858000"/>
  <p:notesSz cx="7099300" cy="10234613"/>
  <p:kinsoku lang="zh-CN" invalStChars="、。，．・：；？！゛゜ヽヾゝゞ々ー’”）〕］｝〉》」』】°‰′″℃￠％ぁぃぅぇぉっゃゅょゎァィゥェォッャュョヮヵヶ!%),.:;?]}｡｣､･ｧｨｩｪｫｬｭｮｯｰﾞﾟ" invalEndChars="‘“（〔［｛〈《「『【￥＄$([\{｢￡"/>
  <p:defaultTextStyle>
    <a:defPPr>
      <a:defRPr lang="en-US"/>
    </a:defPPr>
    <a:lvl1pPr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p15:clr>
            <a:srgbClr val="A4A3A4"/>
          </p15:clr>
        </p15:guide>
        <p15:guide id="2" pos="3834">
          <p15:clr>
            <a:srgbClr val="A4A3A4"/>
          </p15:clr>
        </p15:guide>
      </p15:sldGuideLst>
    </p:ext>
    <p:ext uri="{2D200454-40CA-4A62-9FC3-DE9A4176ACB9}">
      <p15:notesGuideLst xmlns:p15="http://schemas.microsoft.com/office/powerpoint/2012/main">
        <p15:guide id="1" orient="horz" pos="2833">
          <p15:clr>
            <a:srgbClr val="A4A3A4"/>
          </p15:clr>
        </p15:guide>
        <p15:guide id="2" pos="2232">
          <p15:clr>
            <a:srgbClr val="A4A3A4"/>
          </p15:clr>
        </p15:guide>
        <p15:guide id="3" orient="horz" pos="32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D"/>
    <a:srgbClr val="F9FDC7"/>
    <a:srgbClr val="000099"/>
    <a:srgbClr val="535CA1"/>
    <a:srgbClr val="DDDDDD"/>
    <a:srgbClr val="EAEAEA"/>
    <a:srgbClr val="FFDA3F"/>
    <a:srgbClr val="00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60" autoAdjust="0"/>
    <p:restoredTop sz="79728" autoAdjust="0"/>
  </p:normalViewPr>
  <p:slideViewPr>
    <p:cSldViewPr>
      <p:cViewPr varScale="1">
        <p:scale>
          <a:sx n="101" d="100"/>
          <a:sy n="101" d="100"/>
        </p:scale>
        <p:origin x="1688" y="184"/>
      </p:cViewPr>
      <p:guideLst>
        <p:guide orient="horz" pos="2205"/>
        <p:guide pos="383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46"/>
    </p:cViewPr>
  </p:sorterViewPr>
  <p:notesViewPr>
    <p:cSldViewPr>
      <p:cViewPr varScale="1">
        <p:scale>
          <a:sx n="42" d="100"/>
          <a:sy n="42" d="100"/>
        </p:scale>
        <p:origin x="-1230" y="-96"/>
      </p:cViewPr>
      <p:guideLst>
        <p:guide orient="horz" pos="2833"/>
        <p:guide pos="2232"/>
        <p:guide orient="horz" pos="32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0496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60338" y="658813"/>
            <a:ext cx="6792912" cy="3822700"/>
          </a:xfrm>
          <a:prstGeom prst="rect">
            <a:avLst/>
          </a:prstGeom>
          <a:noFill/>
          <a:ln w="12700">
            <a:noFill/>
            <a:miter lim="800000"/>
          </a:ln>
          <a:effectLst/>
        </p:spPr>
      </p:sp>
      <p:sp>
        <p:nvSpPr>
          <p:cNvPr id="2051" name="Rectangle 3"/>
          <p:cNvSpPr>
            <a:spLocks noGrp="1" noChangeArrowheads="1"/>
          </p:cNvSpPr>
          <p:nvPr>
            <p:ph type="body" sz="quarter" idx="3"/>
          </p:nvPr>
        </p:nvSpPr>
        <p:spPr bwMode="auto">
          <a:xfrm>
            <a:off x="533576" y="4860873"/>
            <a:ext cx="6119197" cy="4605312"/>
          </a:xfrm>
          <a:prstGeom prst="rect">
            <a:avLst/>
          </a:prstGeom>
          <a:noFill/>
          <a:ln w="12700">
            <a:noFill/>
            <a:miter lim="800000"/>
          </a:ln>
          <a:effectLst/>
        </p:spPr>
        <p:txBody>
          <a:bodyPr vert="horz" wrap="square" lIns="98007" tIns="48144" rIns="98007" bIns="48144" numCol="1" anchor="t" anchorCtr="0" compatLnSpc="1"/>
          <a:lstStyle/>
          <a:p>
            <a:pPr lvl="0"/>
            <a:r>
              <a:rPr lang="en-US" altLang="zh-CN"/>
              <a:t>We want this to be in font 11 and justify.</a:t>
            </a:r>
          </a:p>
        </p:txBody>
      </p:sp>
    </p:spTree>
    <p:extLst>
      <p:ext uri="{BB962C8B-B14F-4D97-AF65-F5344CB8AC3E}">
        <p14:creationId xmlns:p14="http://schemas.microsoft.com/office/powerpoint/2010/main" val="4037780464"/>
      </p:ext>
    </p:extLst>
  </p:cSld>
  <p:clrMap bg1="lt1" tx1="dk1" bg2="lt2" tx2="dk2" accent1="accent1" accent2="accent2" accent3="accent3" accent4="accent4" accent5="accent5" accent6="accent6" hlink="hlink" folHlink="folHlink"/>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160338" y="658813"/>
            <a:ext cx="6792912" cy="3822700"/>
          </a:xfrm>
        </p:spPr>
      </p:sp>
      <p:sp>
        <p:nvSpPr>
          <p:cNvPr id="133123"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379926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76326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AU">
                <a:solidFill>
                  <a:prstClr val="black"/>
                </a:solidFill>
              </a:rPr>
              <a:t>Morgan Kaufmann Publishers</a:t>
            </a:r>
          </a:p>
        </p:txBody>
      </p:sp>
      <p:sp>
        <p:nvSpPr>
          <p:cNvPr id="5" name="Rectangle 3"/>
          <p:cNvSpPr>
            <a:spLocks noGrp="1" noChangeArrowheads="1"/>
          </p:cNvSpPr>
          <p:nvPr>
            <p:ph type="dt" idx="1"/>
          </p:nvPr>
        </p:nvSpPr>
        <p:spPr/>
        <p:txBody>
          <a:bodyPr/>
          <a:lstStyle/>
          <a:p>
            <a:fld id="{6BEB134A-141B-5B40-9166-72E046F65F03}" type="datetime3">
              <a:rPr lang="en-AU">
                <a:solidFill>
                  <a:prstClr val="black"/>
                </a:solidFill>
              </a:rPr>
              <a:t>27 October, 2025</a:t>
            </a:fld>
            <a:endParaRPr lang="en-AU">
              <a:solidFill>
                <a:prstClr val="black"/>
              </a:solidFill>
            </a:endParaRPr>
          </a:p>
        </p:txBody>
      </p:sp>
      <p:sp>
        <p:nvSpPr>
          <p:cNvPr id="6" name="Rectangle 6"/>
          <p:cNvSpPr>
            <a:spLocks noGrp="1" noChangeArrowheads="1"/>
          </p:cNvSpPr>
          <p:nvPr>
            <p:ph type="ftr" sz="quarter" idx="4"/>
          </p:nvPr>
        </p:nvSpPr>
        <p:spPr/>
        <p:txBody>
          <a:bodyPr/>
          <a:lstStyle/>
          <a:p>
            <a:r>
              <a:rPr lang="en-AU">
                <a:solidFill>
                  <a:prstClr val="black"/>
                </a:solidFill>
              </a:rPr>
              <a:t>Chapter 4 — The Processor</a:t>
            </a:r>
          </a:p>
        </p:txBody>
      </p:sp>
      <p:sp>
        <p:nvSpPr>
          <p:cNvPr id="7" name="Rectangle 7"/>
          <p:cNvSpPr>
            <a:spLocks noGrp="1" noChangeArrowheads="1"/>
          </p:cNvSpPr>
          <p:nvPr>
            <p:ph type="sldNum" sz="quarter" idx="5"/>
          </p:nvPr>
        </p:nvSpPr>
        <p:spPr/>
        <p:txBody>
          <a:bodyPr/>
          <a:lstStyle/>
          <a:p>
            <a:fld id="{020993C2-33EC-6841-8B88-705AD99553A6}" type="slidenum">
              <a:rPr lang="en-AU">
                <a:solidFill>
                  <a:prstClr val="black"/>
                </a:solidFill>
              </a:rPr>
              <a:t>3</a:t>
            </a:fld>
            <a:endParaRPr lang="en-AU">
              <a:solidFill>
                <a:prstClr val="black"/>
              </a:solidFill>
            </a:endParaRPr>
          </a:p>
        </p:txBody>
      </p:sp>
      <p:sp>
        <p:nvSpPr>
          <p:cNvPr id="453634" name="Rectangle 2"/>
          <p:cNvSpPr>
            <a:spLocks noGrp="1" noRot="1" noChangeAspect="1" noChangeArrowheads="1" noTextEdit="1"/>
          </p:cNvSpPr>
          <p:nvPr>
            <p:ph type="sldImg"/>
          </p:nvPr>
        </p:nvSpPr>
        <p:spPr>
          <a:xfrm>
            <a:off x="92075" y="746125"/>
            <a:ext cx="6613525" cy="3721100"/>
          </a:xfrm>
        </p:spPr>
      </p:sp>
      <p:sp>
        <p:nvSpPr>
          <p:cNvPr id="4536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109127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AU">
                <a:solidFill>
                  <a:prstClr val="black"/>
                </a:solidFill>
              </a:rPr>
              <a:t>Morgan Kaufmann Publishers</a:t>
            </a:r>
          </a:p>
        </p:txBody>
      </p:sp>
      <p:sp>
        <p:nvSpPr>
          <p:cNvPr id="5" name="Rectangle 3"/>
          <p:cNvSpPr>
            <a:spLocks noGrp="1" noChangeArrowheads="1"/>
          </p:cNvSpPr>
          <p:nvPr>
            <p:ph type="dt" idx="1"/>
          </p:nvPr>
        </p:nvSpPr>
        <p:spPr/>
        <p:txBody>
          <a:bodyPr/>
          <a:lstStyle/>
          <a:p>
            <a:fld id="{3D3508E0-F770-7C4D-9470-635F49919A05}" type="datetime3">
              <a:rPr lang="en-AU">
                <a:solidFill>
                  <a:prstClr val="black"/>
                </a:solidFill>
              </a:rPr>
              <a:t>27 October, 2025</a:t>
            </a:fld>
            <a:endParaRPr lang="en-AU">
              <a:solidFill>
                <a:prstClr val="black"/>
              </a:solidFill>
            </a:endParaRPr>
          </a:p>
        </p:txBody>
      </p:sp>
      <p:sp>
        <p:nvSpPr>
          <p:cNvPr id="6" name="Rectangle 6"/>
          <p:cNvSpPr>
            <a:spLocks noGrp="1" noChangeArrowheads="1"/>
          </p:cNvSpPr>
          <p:nvPr>
            <p:ph type="ftr" sz="quarter" idx="4"/>
          </p:nvPr>
        </p:nvSpPr>
        <p:spPr/>
        <p:txBody>
          <a:bodyPr/>
          <a:lstStyle/>
          <a:p>
            <a:r>
              <a:rPr lang="en-AU">
                <a:solidFill>
                  <a:prstClr val="black"/>
                </a:solidFill>
              </a:rPr>
              <a:t>Chapter 4 — The Processor</a:t>
            </a:r>
          </a:p>
        </p:txBody>
      </p:sp>
      <p:sp>
        <p:nvSpPr>
          <p:cNvPr id="7" name="Rectangle 7"/>
          <p:cNvSpPr>
            <a:spLocks noGrp="1" noChangeArrowheads="1"/>
          </p:cNvSpPr>
          <p:nvPr>
            <p:ph type="sldNum" sz="quarter" idx="5"/>
          </p:nvPr>
        </p:nvSpPr>
        <p:spPr/>
        <p:txBody>
          <a:bodyPr/>
          <a:lstStyle/>
          <a:p>
            <a:fld id="{21571301-9103-074E-B9AA-6273CE542A86}" type="slidenum">
              <a:rPr lang="en-AU">
                <a:solidFill>
                  <a:prstClr val="black"/>
                </a:solidFill>
              </a:rPr>
              <a:t>4</a:t>
            </a:fld>
            <a:endParaRPr lang="en-AU">
              <a:solidFill>
                <a:prstClr val="black"/>
              </a:solidFill>
            </a:endParaRPr>
          </a:p>
        </p:txBody>
      </p:sp>
      <p:sp>
        <p:nvSpPr>
          <p:cNvPr id="455682" name="Rectangle 2"/>
          <p:cNvSpPr>
            <a:spLocks noGrp="1" noRot="1" noChangeAspect="1" noChangeArrowheads="1" noTextEdit="1"/>
          </p:cNvSpPr>
          <p:nvPr>
            <p:ph type="sldImg"/>
          </p:nvPr>
        </p:nvSpPr>
        <p:spPr>
          <a:xfrm>
            <a:off x="92075" y="746125"/>
            <a:ext cx="6613525" cy="3721100"/>
          </a:xfrm>
        </p:spPr>
      </p:sp>
      <p:sp>
        <p:nvSpPr>
          <p:cNvPr id="455683" name="Rectangle 3"/>
          <p:cNvSpPr>
            <a:spLocks noGrp="1" noChangeArrowheads="1"/>
          </p:cNvSpPr>
          <p:nvPr>
            <p:ph type="body" idx="1"/>
          </p:nvPr>
        </p:nvSpPr>
        <p:spPr/>
        <p:txBody>
          <a:bodyPr/>
          <a:lstStyle/>
          <a:p>
            <a:pPr>
              <a:buNone/>
            </a:pPr>
            <a:r>
              <a:rPr lang="en-US" altLang="zh-CN" dirty="0"/>
              <a:t>MIPS </a:t>
            </a:r>
            <a:r>
              <a:rPr lang="zh-CN" altLang="en-US" dirty="0"/>
              <a:t>的异常</a:t>
            </a:r>
            <a:r>
              <a:rPr lang="en-US" altLang="zh-CN" dirty="0"/>
              <a:t>/</a:t>
            </a:r>
            <a:r>
              <a:rPr lang="zh-CN" altLang="en-US" dirty="0"/>
              <a:t>中断向量表</a:t>
            </a:r>
            <a:r>
              <a:rPr lang="en-US" altLang="zh-CN" dirty="0"/>
              <a:t>(</a:t>
            </a:r>
            <a:r>
              <a:rPr lang="zh-CN" altLang="en-US" dirty="0"/>
              <a:t>假定将</a:t>
            </a:r>
            <a:r>
              <a:rPr lang="en-US" altLang="zh-CN" dirty="0"/>
              <a:t>MIPS</a:t>
            </a:r>
            <a:r>
              <a:rPr lang="zh-CN" altLang="en-US" dirty="0"/>
              <a:t>运行在</a:t>
            </a:r>
            <a:r>
              <a:rPr lang="en-US" altLang="zh-CN" dirty="0"/>
              <a:t>32</a:t>
            </a:r>
            <a:r>
              <a:rPr lang="zh-CN" altLang="en-US" dirty="0"/>
              <a:t>为模式下</a:t>
            </a:r>
            <a:r>
              <a:rPr lang="en-US" altLang="zh-CN" dirty="0"/>
              <a:t>)</a:t>
            </a:r>
          </a:p>
          <a:p>
            <a:pPr>
              <a:buNone/>
            </a:pPr>
            <a:r>
              <a:rPr lang="en-US" altLang="zh-CN" dirty="0"/>
              <a:t>Reset, NMI</a:t>
            </a:r>
            <a:r>
              <a:rPr lang="zh-CN" altLang="en-US" dirty="0"/>
              <a:t>： </a:t>
            </a:r>
            <a:r>
              <a:rPr lang="en-US" altLang="zh-CN" dirty="0"/>
              <a:t>0x8000 0000</a:t>
            </a:r>
          </a:p>
          <a:p>
            <a:pPr>
              <a:buNone/>
            </a:pPr>
            <a:r>
              <a:rPr lang="en-US" altLang="zh-CN" dirty="0"/>
              <a:t>TLB Refill</a:t>
            </a:r>
            <a:r>
              <a:rPr lang="zh-CN" altLang="en-US" dirty="0"/>
              <a:t>： </a:t>
            </a:r>
            <a:r>
              <a:rPr lang="en-US" altLang="zh-CN" dirty="0"/>
              <a:t>0x8000 0000</a:t>
            </a:r>
          </a:p>
          <a:p>
            <a:pPr>
              <a:buNone/>
            </a:pPr>
            <a:r>
              <a:rPr lang="en-US" altLang="zh-CN" dirty="0"/>
              <a:t>Cache Error: 0xA000 00100</a:t>
            </a:r>
          </a:p>
          <a:p>
            <a:pPr>
              <a:buNone/>
            </a:pPr>
            <a:r>
              <a:rPr lang="zh-CN" altLang="en-US" dirty="0"/>
              <a:t>其他的异常都指向：</a:t>
            </a:r>
            <a:r>
              <a:rPr lang="en-US" altLang="zh-CN" dirty="0"/>
              <a:t>0x8000 0180</a:t>
            </a:r>
          </a:p>
        </p:txBody>
      </p:sp>
    </p:spTree>
    <p:extLst>
      <p:ext uri="{BB962C8B-B14F-4D97-AF65-F5344CB8AC3E}">
        <p14:creationId xmlns:p14="http://schemas.microsoft.com/office/powerpoint/2010/main" val="3311493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 segmentation fault (often shortened to </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segfault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is a particular error condition that can occur during the operation of computer software. In short, a segmentation fault occurs when a program attempts to access a memory location that it is not allowed to access, or attempts to access a memory location in a way that is not allowed (e.g., attempts to write to a read-only location, or to overwrite part of the operating system). Systems based on processors like the Motorola 68000 tend to refer to these events as Address or Bus errors.</a:t>
            </a:r>
          </a:p>
          <a:p>
            <a:br>
              <a:rPr lang="en-US" altLang="zh-CN" dirty="0"/>
            </a:br>
            <a:endParaRPr lang="zh-CN" altLang="en-US" dirty="0"/>
          </a:p>
        </p:txBody>
      </p:sp>
      <p:sp>
        <p:nvSpPr>
          <p:cNvPr id="4" name="灯片编号占位符 3"/>
          <p:cNvSpPr>
            <a:spLocks noGrp="1"/>
          </p:cNvSpPr>
          <p:nvPr>
            <p:ph type="sldNum" sz="quarter" idx="10"/>
          </p:nvPr>
        </p:nvSpPr>
        <p:spPr/>
        <p:txBody>
          <a:bodyPr/>
          <a:lstStyle/>
          <a:p>
            <a:pPr>
              <a:defRPr/>
            </a:pPr>
            <a:fld id="{44F41309-E684-4FFB-9549-4D2B145DD2E1}" type="slidenum">
              <a:rPr lang="en-US" altLang="zh-CN" smtClean="0"/>
              <a:t>5</a:t>
            </a:fld>
            <a:endParaRPr lang="en-US" altLang="zh-CN"/>
          </a:p>
        </p:txBody>
      </p:sp>
    </p:spTree>
    <p:extLst>
      <p:ext uri="{BB962C8B-B14F-4D97-AF65-F5344CB8AC3E}">
        <p14:creationId xmlns:p14="http://schemas.microsoft.com/office/powerpoint/2010/main" val="639712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AU">
                <a:solidFill>
                  <a:prstClr val="black"/>
                </a:solidFill>
              </a:rPr>
              <a:t>Morgan Kaufmann Publishers</a:t>
            </a:r>
          </a:p>
        </p:txBody>
      </p:sp>
      <p:sp>
        <p:nvSpPr>
          <p:cNvPr id="5" name="Rectangle 3"/>
          <p:cNvSpPr>
            <a:spLocks noGrp="1" noChangeArrowheads="1"/>
          </p:cNvSpPr>
          <p:nvPr>
            <p:ph type="dt" idx="1"/>
          </p:nvPr>
        </p:nvSpPr>
        <p:spPr/>
        <p:txBody>
          <a:bodyPr/>
          <a:lstStyle/>
          <a:p>
            <a:fld id="{18666136-3E36-B74D-B6D8-BD0C0E1F0662}" type="datetime3">
              <a:rPr lang="en-AU">
                <a:solidFill>
                  <a:prstClr val="black"/>
                </a:solidFill>
              </a:rPr>
              <a:t>27 October, 2025</a:t>
            </a:fld>
            <a:endParaRPr lang="en-AU">
              <a:solidFill>
                <a:prstClr val="black"/>
              </a:solidFill>
            </a:endParaRPr>
          </a:p>
        </p:txBody>
      </p:sp>
      <p:sp>
        <p:nvSpPr>
          <p:cNvPr id="6" name="Rectangle 6"/>
          <p:cNvSpPr>
            <a:spLocks noGrp="1" noChangeArrowheads="1"/>
          </p:cNvSpPr>
          <p:nvPr>
            <p:ph type="ftr" sz="quarter" idx="4"/>
          </p:nvPr>
        </p:nvSpPr>
        <p:spPr/>
        <p:txBody>
          <a:bodyPr/>
          <a:lstStyle/>
          <a:p>
            <a:r>
              <a:rPr lang="en-AU">
                <a:solidFill>
                  <a:prstClr val="black"/>
                </a:solidFill>
              </a:rPr>
              <a:t>Chapter 4 — The Processor</a:t>
            </a:r>
          </a:p>
        </p:txBody>
      </p:sp>
      <p:sp>
        <p:nvSpPr>
          <p:cNvPr id="7" name="Rectangle 7"/>
          <p:cNvSpPr>
            <a:spLocks noGrp="1" noChangeArrowheads="1"/>
          </p:cNvSpPr>
          <p:nvPr>
            <p:ph type="sldNum" sz="quarter" idx="5"/>
          </p:nvPr>
        </p:nvSpPr>
        <p:spPr/>
        <p:txBody>
          <a:bodyPr/>
          <a:lstStyle/>
          <a:p>
            <a:fld id="{020C7EBD-A2C0-624C-B468-E169A36EE307}" type="slidenum">
              <a:rPr lang="en-AU">
                <a:solidFill>
                  <a:prstClr val="black"/>
                </a:solidFill>
              </a:rPr>
              <a:t>6</a:t>
            </a:fld>
            <a:endParaRPr lang="en-AU">
              <a:solidFill>
                <a:prstClr val="black"/>
              </a:solidFill>
            </a:endParaRPr>
          </a:p>
        </p:txBody>
      </p:sp>
      <p:sp>
        <p:nvSpPr>
          <p:cNvPr id="467970" name="Rectangle 2"/>
          <p:cNvSpPr>
            <a:spLocks noGrp="1" noRot="1" noChangeAspect="1" noChangeArrowheads="1" noTextEdit="1"/>
          </p:cNvSpPr>
          <p:nvPr>
            <p:ph type="sldImg"/>
          </p:nvPr>
        </p:nvSpPr>
        <p:spPr>
          <a:xfrm>
            <a:off x="92075" y="746125"/>
            <a:ext cx="6613525" cy="3721100"/>
          </a:xfrm>
        </p:spPr>
      </p:sp>
      <p:sp>
        <p:nvSpPr>
          <p:cNvPr id="467971" name="Rectangle 3"/>
          <p:cNvSpPr>
            <a:spLocks noGrp="1" noChangeArrowheads="1"/>
          </p:cNvSpPr>
          <p:nvPr>
            <p:ph type="body" idx="1"/>
          </p:nvPr>
        </p:nvSpPr>
        <p:spPr/>
        <p:txBody>
          <a:bodyPr/>
          <a:lstStyle/>
          <a:p>
            <a:r>
              <a:rPr lang="en-US" dirty="0"/>
              <a:t>Non-re-</a:t>
            </a:r>
            <a:r>
              <a:rPr lang="en-US" dirty="0" err="1"/>
              <a:t>startable</a:t>
            </a:r>
            <a:r>
              <a:rPr lang="en-US" baseline="0" dirty="0"/>
              <a:t> exception example:  arithmetic overflow.  If instruction completes, can’t show offending values</a:t>
            </a:r>
          </a:p>
          <a:p>
            <a:r>
              <a:rPr lang="en-US" baseline="0" dirty="0"/>
              <a:t>Re-</a:t>
            </a:r>
            <a:r>
              <a:rPr lang="en-US" baseline="0" dirty="0" err="1"/>
              <a:t>startable</a:t>
            </a:r>
            <a:r>
              <a:rPr lang="en-US" baseline="0" dirty="0"/>
              <a:t> exception example:  I/O device interrupt.</a:t>
            </a:r>
            <a:endParaRPr lang="en-US" dirty="0"/>
          </a:p>
        </p:txBody>
      </p:sp>
    </p:spTree>
    <p:extLst>
      <p:ext uri="{BB962C8B-B14F-4D97-AF65-F5344CB8AC3E}">
        <p14:creationId xmlns:p14="http://schemas.microsoft.com/office/powerpoint/2010/main" val="2778329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AU">
                <a:solidFill>
                  <a:prstClr val="black"/>
                </a:solidFill>
              </a:rPr>
              <a:t>Morgan Kaufmann Publishers</a:t>
            </a:r>
          </a:p>
        </p:txBody>
      </p:sp>
      <p:sp>
        <p:nvSpPr>
          <p:cNvPr id="5" name="Rectangle 3"/>
          <p:cNvSpPr>
            <a:spLocks noGrp="1" noChangeArrowheads="1"/>
          </p:cNvSpPr>
          <p:nvPr>
            <p:ph type="dt" idx="1"/>
          </p:nvPr>
        </p:nvSpPr>
        <p:spPr/>
        <p:txBody>
          <a:bodyPr/>
          <a:lstStyle/>
          <a:p>
            <a:fld id="{E167AA84-6628-BA46-ADAB-A9204FFF4A43}" type="datetime3">
              <a:rPr lang="en-AU">
                <a:solidFill>
                  <a:prstClr val="black"/>
                </a:solidFill>
              </a:rPr>
              <a:t>27 October, 2025</a:t>
            </a:fld>
            <a:endParaRPr lang="en-AU">
              <a:solidFill>
                <a:prstClr val="black"/>
              </a:solidFill>
            </a:endParaRPr>
          </a:p>
        </p:txBody>
      </p:sp>
      <p:sp>
        <p:nvSpPr>
          <p:cNvPr id="6" name="Rectangle 6"/>
          <p:cNvSpPr>
            <a:spLocks noGrp="1" noChangeArrowheads="1"/>
          </p:cNvSpPr>
          <p:nvPr>
            <p:ph type="ftr" sz="quarter" idx="4"/>
          </p:nvPr>
        </p:nvSpPr>
        <p:spPr/>
        <p:txBody>
          <a:bodyPr/>
          <a:lstStyle/>
          <a:p>
            <a:r>
              <a:rPr lang="en-AU">
                <a:solidFill>
                  <a:prstClr val="black"/>
                </a:solidFill>
              </a:rPr>
              <a:t>Chapter 4 — The Processor</a:t>
            </a:r>
          </a:p>
        </p:txBody>
      </p:sp>
      <p:sp>
        <p:nvSpPr>
          <p:cNvPr id="7" name="Rectangle 7"/>
          <p:cNvSpPr>
            <a:spLocks noGrp="1" noChangeArrowheads="1"/>
          </p:cNvSpPr>
          <p:nvPr>
            <p:ph type="sldNum" sz="quarter" idx="5"/>
          </p:nvPr>
        </p:nvSpPr>
        <p:spPr/>
        <p:txBody>
          <a:bodyPr/>
          <a:lstStyle/>
          <a:p>
            <a:fld id="{6373C6B3-8A30-AF4D-840E-01804555342F}" type="slidenum">
              <a:rPr lang="en-AU">
                <a:solidFill>
                  <a:prstClr val="black"/>
                </a:solidFill>
              </a:rPr>
              <a:t>7</a:t>
            </a:fld>
            <a:endParaRPr lang="en-AU">
              <a:solidFill>
                <a:prstClr val="black"/>
              </a:solidFill>
            </a:endParaRPr>
          </a:p>
        </p:txBody>
      </p:sp>
      <p:sp>
        <p:nvSpPr>
          <p:cNvPr id="459778" name="Rectangle 2"/>
          <p:cNvSpPr>
            <a:spLocks noGrp="1" noRot="1" noChangeAspect="1" noChangeArrowheads="1" noTextEdit="1"/>
          </p:cNvSpPr>
          <p:nvPr>
            <p:ph type="sldImg"/>
          </p:nvPr>
        </p:nvSpPr>
        <p:spPr>
          <a:xfrm>
            <a:off x="92075" y="746125"/>
            <a:ext cx="6613525" cy="3721100"/>
          </a:xfrm>
        </p:spPr>
      </p:sp>
      <p:sp>
        <p:nvSpPr>
          <p:cNvPr id="459779" name="Rectangle 3"/>
          <p:cNvSpPr>
            <a:spLocks noGrp="1" noChangeArrowheads="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一句话来说，段错误（</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segfault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）是指访问的内存超出了系统给这个程序所设定的内存空间，例如访问了不存在的内存地址、访问了系统保护的内存地址、访问了只读的内存地址等等情况。</a:t>
            </a:r>
            <a:endParaRPr lang="en-US" dirty="0"/>
          </a:p>
        </p:txBody>
      </p:sp>
    </p:spTree>
    <p:extLst>
      <p:ext uri="{BB962C8B-B14F-4D97-AF65-F5344CB8AC3E}">
        <p14:creationId xmlns:p14="http://schemas.microsoft.com/office/powerpoint/2010/main" val="3517041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1266" name="Rectangle 2"/>
          <p:cNvSpPr>
            <a:spLocks noGrp="1" noChangeArrowheads="1"/>
          </p:cNvSpPr>
          <p:nvPr>
            <p:ph type="body" idx="1"/>
          </p:nvPr>
        </p:nvSpPr>
        <p:spPr bwMode="auto">
          <a:xfrm>
            <a:off x="511671" y="4715232"/>
            <a:ext cx="5857310" cy="4468039"/>
          </a:xfrm>
          <a:prstGeom prst="rect">
            <a:avLst/>
          </a:prstGeom>
          <a:noFill/>
          <a:ln w="12700">
            <a:miter lim="800000"/>
          </a:ln>
        </p:spPr>
        <p:txBody>
          <a:bodyPr lIns="92264" tIns="45322" rIns="92264" bIns="45322"/>
          <a:lstStyle/>
          <a:p>
            <a:r>
              <a:rPr lang="en-US" dirty="0"/>
              <a:t>How does an I/O interrupt different from the exception you already learned?</a:t>
            </a:r>
          </a:p>
          <a:p>
            <a:r>
              <a:rPr lang="en-US" dirty="0"/>
              <a:t>Well, an I/O interrupt is asynchronous with respect to the instruction execution while exception such as overflow or page fault are always associated with a certain instruction.</a:t>
            </a:r>
          </a:p>
          <a:p>
            <a:r>
              <a:rPr lang="en-US" dirty="0"/>
              <a:t>Also for exception, the only information needs to be conveyed is the fact that an exceptional condition has occurred but for interrupt, there is more information to be conveyed.</a:t>
            </a:r>
          </a:p>
          <a:p>
            <a:r>
              <a:rPr lang="en-US" dirty="0"/>
              <a:t>Let me  elaborate on each of these two points.</a:t>
            </a:r>
          </a:p>
          <a:p>
            <a:r>
              <a:rPr lang="en-US" dirty="0"/>
              <a:t>Unlike exception, which is always associated with an instruction,  interrupt is not associated with any instruction. The user program is just doing its things when an I/O interrupt occurs.</a:t>
            </a:r>
          </a:p>
          <a:p>
            <a:r>
              <a:rPr lang="en-US" dirty="0"/>
              <a:t>So I/O interrupt does not prevent any instruction from completing so you can pick your own convenient point to take the interrupt.</a:t>
            </a:r>
          </a:p>
          <a:p>
            <a:r>
              <a:rPr lang="en-US" dirty="0"/>
              <a:t>As far as conveying more information is concerned, the interrupt detection hardware must somehow let the OS know who is causing the interrupt.</a:t>
            </a:r>
          </a:p>
          <a:p>
            <a:r>
              <a:rPr lang="en-US" dirty="0"/>
              <a:t>Furthermore, interrupt requests needs to be prioritized.  The hardware that can do all these looks like this.</a:t>
            </a:r>
          </a:p>
        </p:txBody>
      </p:sp>
      <p:sp>
        <p:nvSpPr>
          <p:cNvPr id="3211267" name="Rectangle 3"/>
          <p:cNvSpPr>
            <a:spLocks noGrp="1" noRot="1" noChangeAspect="1" noChangeArrowheads="1"/>
          </p:cNvSpPr>
          <p:nvPr>
            <p:ph type="sldImg"/>
          </p:nvPr>
        </p:nvSpPr>
        <p:spPr bwMode="auto">
          <a:xfrm>
            <a:off x="115888" y="642938"/>
            <a:ext cx="6578600" cy="3702050"/>
          </a:xfrm>
          <a:prstGeom prst="rect">
            <a:avLst/>
          </a:prstGeom>
          <a:noFill/>
          <a:ln w="12700">
            <a:miter lim="800000"/>
          </a:ln>
        </p:spPr>
      </p:sp>
    </p:spTree>
    <p:extLst>
      <p:ext uri="{BB962C8B-B14F-4D97-AF65-F5344CB8AC3E}">
        <p14:creationId xmlns:p14="http://schemas.microsoft.com/office/powerpoint/2010/main" val="643376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62" name="Rectangle 2"/>
          <p:cNvSpPr>
            <a:spLocks noGrp="1" noChangeArrowheads="1"/>
          </p:cNvSpPr>
          <p:nvPr>
            <p:ph type="body" idx="1"/>
          </p:nvPr>
        </p:nvSpPr>
        <p:spPr bwMode="auto">
          <a:xfrm>
            <a:off x="511671" y="4715232"/>
            <a:ext cx="5857310" cy="4468039"/>
          </a:xfrm>
          <a:prstGeom prst="rect">
            <a:avLst/>
          </a:prstGeom>
          <a:noFill/>
          <a:ln w="12700">
            <a:miter lim="800000"/>
          </a:ln>
        </p:spPr>
        <p:txBody>
          <a:bodyPr lIns="92264" tIns="45322" rIns="92264" bIns="45322"/>
          <a:lstStyle/>
          <a:p>
            <a:r>
              <a:rPr lang="en-US" dirty="0"/>
              <a:t>That is, whenever an I/O device needs attention from the processor, it interrupts the processor from what it is currently doing.</a:t>
            </a:r>
          </a:p>
          <a:p>
            <a:r>
              <a:rPr lang="en-US" dirty="0"/>
              <a:t>This is how an I/O interrupt looks in the overall scheme of things.  The processor is  minding its business when one of the I/O device wants its attention and causes an I/O interrupt.</a:t>
            </a:r>
          </a:p>
          <a:p>
            <a:r>
              <a:rPr lang="en-US" dirty="0"/>
              <a:t>The processor then save the current PC, branch to the address where the interrupt service routine resides, and start executing the interrupt service routine.</a:t>
            </a:r>
          </a:p>
          <a:p>
            <a:r>
              <a:rPr lang="en-US" dirty="0"/>
              <a:t>When it finishes executing the interrupt service routine, it branches back to the point of the original program where we stop and continue.</a:t>
            </a:r>
          </a:p>
          <a:p>
            <a:r>
              <a:rPr lang="en-US" dirty="0"/>
              <a:t>The advantage of this approach is efficiency.  The user program’s progress is halted only during actual transfer.</a:t>
            </a:r>
          </a:p>
          <a:p>
            <a:r>
              <a:rPr lang="en-US" dirty="0"/>
              <a:t>The disadvantage is that it require special hardware in the I/O device to generate the interrupt.  And on the processor side, we need special hardware to detect the interrupt and then to save the proper states so we can resume after the interrupt.</a:t>
            </a:r>
          </a:p>
          <a:p>
            <a:endParaRPr lang="en-US" dirty="0"/>
          </a:p>
        </p:txBody>
      </p:sp>
      <p:sp>
        <p:nvSpPr>
          <p:cNvPr id="3215363" name="Rectangle 3"/>
          <p:cNvSpPr>
            <a:spLocks noGrp="1" noRot="1" noChangeAspect="1" noChangeArrowheads="1"/>
          </p:cNvSpPr>
          <p:nvPr>
            <p:ph type="sldImg"/>
          </p:nvPr>
        </p:nvSpPr>
        <p:spPr bwMode="auto">
          <a:xfrm>
            <a:off x="115888" y="642938"/>
            <a:ext cx="6578600" cy="3702050"/>
          </a:xfrm>
          <a:prstGeom prst="rect">
            <a:avLst/>
          </a:prstGeom>
          <a:noFill/>
          <a:ln w="12700">
            <a:miter lim="800000"/>
          </a:ln>
        </p:spPr>
      </p:sp>
    </p:spTree>
    <p:extLst>
      <p:ext uri="{BB962C8B-B14F-4D97-AF65-F5344CB8AC3E}">
        <p14:creationId xmlns:p14="http://schemas.microsoft.com/office/powerpoint/2010/main" val="4087026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https://blog.csdn.net/whuzm08/article/details/79536361</a:t>
            </a:r>
            <a:endParaRPr lang="zh-CN" altLang="en-US" dirty="0"/>
          </a:p>
        </p:txBody>
      </p:sp>
    </p:spTree>
    <p:extLst>
      <p:ext uri="{BB962C8B-B14F-4D97-AF65-F5344CB8AC3E}">
        <p14:creationId xmlns:p14="http://schemas.microsoft.com/office/powerpoint/2010/main" val="552838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IP: </a:t>
            </a:r>
            <a:endParaRPr lang="zh-CN" altLang="en-US" dirty="0"/>
          </a:p>
        </p:txBody>
      </p:sp>
    </p:spTree>
    <p:extLst>
      <p:ext uri="{BB962C8B-B14F-4D97-AF65-F5344CB8AC3E}">
        <p14:creationId xmlns:p14="http://schemas.microsoft.com/office/powerpoint/2010/main" val="3527065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IP: </a:t>
            </a:r>
            <a:endParaRPr lang="zh-CN" altLang="en-US" dirty="0"/>
          </a:p>
        </p:txBody>
      </p:sp>
    </p:spTree>
    <p:extLst>
      <p:ext uri="{BB962C8B-B14F-4D97-AF65-F5344CB8AC3E}">
        <p14:creationId xmlns:p14="http://schemas.microsoft.com/office/powerpoint/2010/main" val="579053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13525" cy="3721100"/>
          </a:xfrm>
        </p:spPr>
      </p:sp>
      <p:sp>
        <p:nvSpPr>
          <p:cNvPr id="3" name="备注占位符 2"/>
          <p:cNvSpPr>
            <a:spLocks noGrp="1"/>
          </p:cNvSpPr>
          <p:nvPr>
            <p:ph type="body" idx="1"/>
          </p:nvPr>
        </p:nvSpPr>
        <p:spPr/>
        <p:txBody>
          <a:bodyPr/>
          <a:lstStyle/>
          <a:p>
            <a:r>
              <a:rPr lang="en-US" altLang="zh-CN" dirty="0"/>
              <a:t>SR</a:t>
            </a:r>
            <a:r>
              <a:rPr lang="zh-CN" altLang="en-US" dirty="0"/>
              <a:t>：</a:t>
            </a:r>
            <a:r>
              <a:rPr lang="en-US" altLang="zh-CN" dirty="0"/>
              <a:t>Status Register</a:t>
            </a:r>
          </a:p>
        </p:txBody>
      </p:sp>
      <p:sp>
        <p:nvSpPr>
          <p:cNvPr id="4" name="灯片编号占位符 3"/>
          <p:cNvSpPr>
            <a:spLocks noGrp="1"/>
          </p:cNvSpPr>
          <p:nvPr>
            <p:ph type="sldNum" sz="quarter" idx="10"/>
          </p:nvPr>
        </p:nvSpPr>
        <p:spPr/>
        <p:txBody>
          <a:bodyPr/>
          <a:lstStyle/>
          <a:p>
            <a:pPr>
              <a:defRPr/>
            </a:pPr>
            <a:fld id="{44F41309-E684-4FFB-9549-4D2B145DD2E1}" type="slidenum">
              <a:rPr lang="en-US" altLang="zh-CN" smtClean="0"/>
              <a:t>14</a:t>
            </a:fld>
            <a:endParaRPr lang="en-US" altLang="zh-CN"/>
          </a:p>
        </p:txBody>
      </p:sp>
    </p:spTree>
    <p:extLst>
      <p:ext uri="{BB962C8B-B14F-4D97-AF65-F5344CB8AC3E}">
        <p14:creationId xmlns:p14="http://schemas.microsoft.com/office/powerpoint/2010/main" val="2557641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13525" cy="3721100"/>
          </a:xfrm>
        </p:spPr>
      </p:sp>
      <p:sp>
        <p:nvSpPr>
          <p:cNvPr id="3" name="备注占位符 2"/>
          <p:cNvSpPr>
            <a:spLocks noGrp="1"/>
          </p:cNvSpPr>
          <p:nvPr>
            <p:ph type="body" idx="1"/>
          </p:nvPr>
        </p:nvSpPr>
        <p:spPr/>
        <p:txBody>
          <a:bodyPr/>
          <a:lstStyle/>
          <a:p>
            <a:pPr defTabSz="882015">
              <a:defRPr/>
            </a:pPr>
            <a:r>
              <a:rPr lang="en-US" altLang="zh-CN" dirty="0"/>
              <a:t>SR:</a:t>
            </a:r>
            <a:r>
              <a:rPr lang="en-US" altLang="zh-CN" baseline="0" dirty="0"/>
              <a:t> Status register </a:t>
            </a:r>
            <a:r>
              <a:rPr lang="en-US" altLang="zh-CN" dirty="0" err="1"/>
              <a:t>sr</a:t>
            </a:r>
            <a:r>
              <a:rPr lang="en-US" altLang="zh-CN" dirty="0"/>
              <a:t> ( </a:t>
            </a:r>
            <a:r>
              <a:rPr lang="zh-CN" altLang="en-US" dirty="0"/>
              <a:t>全称</a:t>
            </a:r>
            <a:r>
              <a:rPr lang="en-US" altLang="zh-CN" dirty="0"/>
              <a:t>Status ,CP0 Reg12) Processor status and control; interrupt control; and shadow set control</a:t>
            </a:r>
          </a:p>
          <a:p>
            <a:endParaRPr lang="zh-CN" altLang="en-US" dirty="0"/>
          </a:p>
        </p:txBody>
      </p:sp>
      <p:sp>
        <p:nvSpPr>
          <p:cNvPr id="4" name="灯片编号占位符 3"/>
          <p:cNvSpPr>
            <a:spLocks noGrp="1"/>
          </p:cNvSpPr>
          <p:nvPr>
            <p:ph type="sldNum" sz="quarter" idx="10"/>
          </p:nvPr>
        </p:nvSpPr>
        <p:spPr/>
        <p:txBody>
          <a:bodyPr/>
          <a:lstStyle/>
          <a:p>
            <a:pPr>
              <a:defRPr/>
            </a:pPr>
            <a:fld id="{44F41309-E684-4FFB-9549-4D2B145DD2E1}" type="slidenum">
              <a:rPr lang="en-US" altLang="zh-CN" smtClean="0"/>
              <a:t>16</a:t>
            </a:fld>
            <a:endParaRPr lang="en-US" altLang="zh-CN"/>
          </a:p>
        </p:txBody>
      </p:sp>
    </p:spTree>
    <p:extLst>
      <p:ext uri="{BB962C8B-B14F-4D97-AF65-F5344CB8AC3E}">
        <p14:creationId xmlns:p14="http://schemas.microsoft.com/office/powerpoint/2010/main" val="1079527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13525" cy="3721100"/>
          </a:xfrm>
        </p:spPr>
      </p:sp>
      <p:sp>
        <p:nvSpPr>
          <p:cNvPr id="3" name="备注占位符 2"/>
          <p:cNvSpPr>
            <a:spLocks noGrp="1"/>
          </p:cNvSpPr>
          <p:nvPr>
            <p:ph type="body" idx="1"/>
          </p:nvPr>
        </p:nvSpPr>
        <p:spPr/>
        <p:txBody>
          <a:bodyPr/>
          <a:lstStyle/>
          <a:p>
            <a:pPr marL="0" marR="0" lvl="0" indent="0" algn="just" defTabSz="914400" rtl="0" eaLnBrk="0" fontAlgn="base" latinLnBrk="0" hangingPunct="0">
              <a:lnSpc>
                <a:spcPct val="90000"/>
              </a:lnSpc>
              <a:spcBef>
                <a:spcPct val="40000"/>
              </a:spcBef>
              <a:spcAft>
                <a:spcPct val="0"/>
              </a:spcAft>
              <a:buClrTx/>
              <a:buSzTx/>
              <a:buFontTx/>
              <a:buNone/>
              <a:tabLst/>
              <a:defRPr/>
            </a:pPr>
            <a:r>
              <a:rPr lang="en-US" altLang="zh-CN" sz="1100" b="1" i="0" kern="1200" dirty="0" err="1">
                <a:solidFill>
                  <a:schemeClr val="tx1"/>
                </a:solidFill>
                <a:effectLst/>
                <a:latin typeface="Arial" panose="020B0604020202020204" pitchFamily="34" charset="0"/>
                <a:ea typeface="+mn-ea"/>
                <a:cs typeface="+mn-cs"/>
              </a:rPr>
              <a:t>SRSmap</a:t>
            </a:r>
            <a:r>
              <a:rPr lang="zh-CN" altLang="en-US" sz="1100" b="1" i="0" kern="1200" dirty="0">
                <a:solidFill>
                  <a:schemeClr val="tx1"/>
                </a:solidFill>
                <a:effectLst/>
                <a:latin typeface="Arial" panose="020B0604020202020204" pitchFamily="34" charset="0"/>
                <a:ea typeface="+mn-ea"/>
                <a:cs typeface="+mn-cs"/>
              </a:rPr>
              <a:t>负责影子寄存器的设置 </a:t>
            </a:r>
            <a:r>
              <a:rPr lang="en-US" altLang="zh-CN" sz="1100" b="1" i="0" kern="1200" dirty="0" err="1">
                <a:solidFill>
                  <a:schemeClr val="tx1"/>
                </a:solidFill>
                <a:effectLst/>
                <a:latin typeface="Arial" panose="020B0604020202020204" pitchFamily="34" charset="0"/>
                <a:ea typeface="+mn-ea"/>
                <a:cs typeface="+mn-cs"/>
              </a:rPr>
              <a:t>SRSCtl</a:t>
            </a:r>
            <a:r>
              <a:rPr lang="zh-CN" altLang="en-US" sz="1100" b="1" i="0" kern="1200" dirty="0">
                <a:solidFill>
                  <a:schemeClr val="tx1"/>
                </a:solidFill>
                <a:effectLst/>
                <a:latin typeface="Arial" panose="020B0604020202020204" pitchFamily="34" charset="0"/>
                <a:ea typeface="+mn-ea"/>
                <a:cs typeface="+mn-cs"/>
              </a:rPr>
              <a:t>和</a:t>
            </a:r>
            <a:r>
              <a:rPr lang="en-US" altLang="zh-CN" sz="1100" b="1" i="0" kern="1200" dirty="0" err="1">
                <a:solidFill>
                  <a:schemeClr val="tx1"/>
                </a:solidFill>
                <a:effectLst/>
                <a:latin typeface="Arial" panose="020B0604020202020204" pitchFamily="34" charset="0"/>
                <a:ea typeface="+mn-ea"/>
                <a:cs typeface="+mn-cs"/>
              </a:rPr>
              <a:t>SRSMap</a:t>
            </a:r>
            <a:r>
              <a:rPr lang="zh-CN" altLang="en-US" sz="1100" b="1" i="0" kern="1200" dirty="0">
                <a:solidFill>
                  <a:schemeClr val="tx1"/>
                </a:solidFill>
                <a:effectLst/>
                <a:latin typeface="Arial" panose="020B0604020202020204" pitchFamily="34" charset="0"/>
                <a:ea typeface="+mn-ea"/>
                <a:cs typeface="+mn-cs"/>
              </a:rPr>
              <a:t>。</a:t>
            </a:r>
            <a:r>
              <a:rPr lang="en-US" altLang="zh-CN" sz="1100" b="0" i="0" kern="1200" dirty="0">
                <a:solidFill>
                  <a:schemeClr val="tx1"/>
                </a:solidFill>
                <a:effectLst/>
                <a:latin typeface="Arial" panose="020B0604020202020204" pitchFamily="34" charset="0"/>
                <a:ea typeface="+mn-ea"/>
                <a:cs typeface="+mn-cs"/>
              </a:rPr>
              <a:t>IPS</a:t>
            </a:r>
            <a:r>
              <a:rPr lang="zh-CN" altLang="en-US" sz="1100" b="0" i="0" kern="1200" dirty="0">
                <a:solidFill>
                  <a:schemeClr val="tx1"/>
                </a:solidFill>
                <a:effectLst/>
                <a:latin typeface="Arial" panose="020B0604020202020204" pitchFamily="34" charset="0"/>
                <a:ea typeface="+mn-ea"/>
                <a:cs typeface="+mn-cs"/>
              </a:rPr>
              <a:t>内核包含影子寄存器组，而</a:t>
            </a:r>
            <a:r>
              <a:rPr lang="en-US" altLang="zh-CN" sz="1100" b="0" i="0" kern="1200" dirty="0">
                <a:solidFill>
                  <a:schemeClr val="tx1"/>
                </a:solidFill>
                <a:effectLst/>
                <a:latin typeface="Arial" panose="020B0604020202020204" pitchFamily="34" charset="0"/>
                <a:ea typeface="+mn-ea"/>
                <a:cs typeface="+mn-cs"/>
              </a:rPr>
              <a:t>ARM</a:t>
            </a:r>
            <a:r>
              <a:rPr lang="zh-CN" altLang="en-US" sz="1100" b="0" i="0" kern="1200" dirty="0">
                <a:solidFill>
                  <a:schemeClr val="tx1"/>
                </a:solidFill>
                <a:effectLst/>
                <a:latin typeface="Arial" panose="020B0604020202020204" pitchFamily="34" charset="0"/>
                <a:ea typeface="+mn-ea"/>
                <a:cs typeface="+mn-cs"/>
              </a:rPr>
              <a:t>内核不包含。使用影子寄存器可以加速中断处理的保存</a:t>
            </a:r>
            <a:r>
              <a:rPr lang="en-US" altLang="zh-CN" sz="1100" b="0" i="0" kern="1200" dirty="0">
                <a:solidFill>
                  <a:schemeClr val="tx1"/>
                </a:solidFill>
                <a:effectLst/>
                <a:latin typeface="Arial" panose="020B0604020202020204" pitchFamily="34" charset="0"/>
                <a:ea typeface="+mn-ea"/>
                <a:cs typeface="+mn-cs"/>
              </a:rPr>
              <a:t>/</a:t>
            </a:r>
            <a:r>
              <a:rPr lang="zh-CN" altLang="en-US" sz="1100" b="0" i="0" kern="1200" dirty="0">
                <a:solidFill>
                  <a:schemeClr val="tx1"/>
                </a:solidFill>
                <a:effectLst/>
                <a:latin typeface="Arial" panose="020B0604020202020204" pitchFamily="34" charset="0"/>
                <a:ea typeface="+mn-ea"/>
                <a:cs typeface="+mn-cs"/>
              </a:rPr>
              <a:t>恢复功能，从而使现场切换和中断延时占用更少的周期。在芯片设计阶段可以对</a:t>
            </a:r>
            <a:r>
              <a:rPr lang="en-US" altLang="zh-CN" sz="1100" b="0" i="0" kern="1200" dirty="0">
                <a:solidFill>
                  <a:schemeClr val="tx1"/>
                </a:solidFill>
                <a:effectLst/>
                <a:latin typeface="Arial" panose="020B0604020202020204" pitchFamily="34" charset="0"/>
                <a:ea typeface="+mn-ea"/>
                <a:cs typeface="+mn-cs"/>
              </a:rPr>
              <a:t>MIPS</a:t>
            </a:r>
            <a:r>
              <a:rPr lang="zh-CN" altLang="en-US" sz="1100" b="0" i="0" kern="1200" dirty="0">
                <a:solidFill>
                  <a:schemeClr val="tx1"/>
                </a:solidFill>
                <a:effectLst/>
                <a:latin typeface="Arial" panose="020B0604020202020204" pitchFamily="34" charset="0"/>
                <a:ea typeface="+mn-ea"/>
                <a:cs typeface="+mn-cs"/>
              </a:rPr>
              <a:t>配置更多的通用寄存器组（每组</a:t>
            </a:r>
            <a:r>
              <a:rPr lang="en-US" altLang="zh-CN" sz="1100" b="0" i="0" kern="1200" dirty="0">
                <a:solidFill>
                  <a:schemeClr val="tx1"/>
                </a:solidFill>
                <a:effectLst/>
                <a:latin typeface="Arial" panose="020B0604020202020204" pitchFamily="34" charset="0"/>
                <a:ea typeface="+mn-ea"/>
                <a:cs typeface="+mn-cs"/>
              </a:rPr>
              <a:t>32</a:t>
            </a:r>
            <a:r>
              <a:rPr lang="zh-CN" altLang="en-US" sz="1100" b="0" i="0" kern="1200">
                <a:solidFill>
                  <a:schemeClr val="tx1"/>
                </a:solidFill>
                <a:effectLst/>
                <a:latin typeface="Arial" panose="020B0604020202020204" pitchFamily="34" charset="0"/>
                <a:ea typeface="+mn-ea"/>
                <a:cs typeface="+mn-cs"/>
              </a:rPr>
              <a:t>个），用作附加数据存储或者分配给专用向量中断控制器逻辑的“影子寄存器”，在传统软硬件方法的基础上可显著减少中断延时和现场切换时间。</a:t>
            </a:r>
            <a:endParaRPr lang="en-US" altLang="zh-CN" sz="1100" b="1" i="0" kern="1200" dirty="0">
              <a:solidFill>
                <a:schemeClr val="tx1"/>
              </a:solidFill>
              <a:effectLst/>
              <a:latin typeface="Arial" panose="020B0604020202020204" pitchFamily="34" charset="0"/>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4F41309-E684-4FFB-9549-4D2B145DD2E1}" type="slidenum">
              <a:rPr lang="en-US" altLang="zh-CN" smtClean="0"/>
              <a:t>17</a:t>
            </a:fld>
            <a:endParaRPr lang="en-US" altLang="zh-CN"/>
          </a:p>
        </p:txBody>
      </p:sp>
    </p:spTree>
    <p:extLst>
      <p:ext uri="{BB962C8B-B14F-4D97-AF65-F5344CB8AC3E}">
        <p14:creationId xmlns:p14="http://schemas.microsoft.com/office/powerpoint/2010/main" val="2376495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4F41309-E684-4FFB-9549-4D2B145DD2E1}" type="slidenum">
              <a:rPr lang="en-US" altLang="zh-CN" smtClean="0"/>
              <a:t>18</a:t>
            </a:fld>
            <a:endParaRPr lang="en-US" altLang="zh-CN"/>
          </a:p>
        </p:txBody>
      </p:sp>
    </p:spTree>
    <p:extLst>
      <p:ext uri="{BB962C8B-B14F-4D97-AF65-F5344CB8AC3E}">
        <p14:creationId xmlns:p14="http://schemas.microsoft.com/office/powerpoint/2010/main" val="20190114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13525" cy="3721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B9671BB-4B84-4AFE-AD6B-E13076ECCE2E}" type="slidenum">
              <a:rPr lang="zh-CN" altLang="en-US" smtClean="0">
                <a:solidFill>
                  <a:prstClr val="black"/>
                </a:solidFill>
              </a:rPr>
              <a:t>24</a:t>
            </a:fld>
            <a:endParaRPr lang="zh-CN" altLang="en-US">
              <a:solidFill>
                <a:prstClr val="black"/>
              </a:solidFill>
            </a:endParaRPr>
          </a:p>
        </p:txBody>
      </p:sp>
    </p:spTree>
    <p:extLst>
      <p:ext uri="{BB962C8B-B14F-4D97-AF65-F5344CB8AC3E}">
        <p14:creationId xmlns:p14="http://schemas.microsoft.com/office/powerpoint/2010/main" val="23304173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13525" cy="3721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B9671BB-4B84-4AFE-AD6B-E13076ECCE2E}" type="slidenum">
              <a:rPr lang="zh-CN" altLang="en-US" smtClean="0">
                <a:solidFill>
                  <a:prstClr val="black"/>
                </a:solidFill>
              </a:rPr>
              <a:t>26</a:t>
            </a:fld>
            <a:endParaRPr lang="zh-CN" altLang="en-US">
              <a:solidFill>
                <a:prstClr val="black"/>
              </a:solidFill>
            </a:endParaRPr>
          </a:p>
        </p:txBody>
      </p:sp>
    </p:spTree>
    <p:extLst>
      <p:ext uri="{BB962C8B-B14F-4D97-AF65-F5344CB8AC3E}">
        <p14:creationId xmlns:p14="http://schemas.microsoft.com/office/powerpoint/2010/main" val="30317437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13525" cy="3721100"/>
          </a:xfrm>
        </p:spPr>
      </p:sp>
      <p:sp>
        <p:nvSpPr>
          <p:cNvPr id="3" name="备注占位符 2"/>
          <p:cNvSpPr>
            <a:spLocks noGrp="1"/>
          </p:cNvSpPr>
          <p:nvPr>
            <p:ph type="body" idx="1"/>
          </p:nvPr>
        </p:nvSpPr>
        <p:spPr/>
        <p:txBody>
          <a:bodyPr>
            <a:normAutofit/>
          </a:bodyPr>
          <a:lstStyle/>
          <a:p>
            <a:r>
              <a:rPr lang="en-US" altLang="zh-CN" dirty="0"/>
              <a:t>MFC0</a:t>
            </a:r>
            <a:r>
              <a:rPr lang="zh-CN" altLang="en-US" dirty="0"/>
              <a:t>：</a:t>
            </a:r>
            <a:r>
              <a:rPr lang="en-US" altLang="zh-CN" dirty="0"/>
              <a:t>move from C0</a:t>
            </a:r>
          </a:p>
          <a:p>
            <a:r>
              <a:rPr lang="en-US" altLang="zh-CN" dirty="0"/>
              <a:t>MTC0:</a:t>
            </a:r>
            <a:r>
              <a:rPr lang="en-US" altLang="zh-CN" baseline="0" dirty="0"/>
              <a:t> Move To C0</a:t>
            </a:r>
            <a:endParaRPr lang="zh-CN" altLang="en-US" dirty="0"/>
          </a:p>
        </p:txBody>
      </p:sp>
      <p:sp>
        <p:nvSpPr>
          <p:cNvPr id="4" name="灯片编号占位符 3"/>
          <p:cNvSpPr>
            <a:spLocks noGrp="1"/>
          </p:cNvSpPr>
          <p:nvPr>
            <p:ph type="sldNum" sz="quarter" idx="10"/>
          </p:nvPr>
        </p:nvSpPr>
        <p:spPr/>
        <p:txBody>
          <a:bodyPr/>
          <a:lstStyle/>
          <a:p>
            <a:fld id="{4B9671BB-4B84-4AFE-AD6B-E13076ECCE2E}" type="slidenum">
              <a:rPr lang="zh-CN" altLang="en-US" smtClean="0">
                <a:solidFill>
                  <a:prstClr val="black"/>
                </a:solidFill>
              </a:rPr>
              <a:t>27</a:t>
            </a:fld>
            <a:endParaRPr lang="zh-CN" altLang="en-US">
              <a:solidFill>
                <a:prstClr val="black"/>
              </a:solidFill>
            </a:endParaRPr>
          </a:p>
        </p:txBody>
      </p:sp>
    </p:spTree>
    <p:extLst>
      <p:ext uri="{BB962C8B-B14F-4D97-AF65-F5344CB8AC3E}">
        <p14:creationId xmlns:p14="http://schemas.microsoft.com/office/powerpoint/2010/main" val="38473531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7051" name="Rectangle 11"/>
          <p:cNvSpPr>
            <a:spLocks noChangeArrowheads="1"/>
          </p:cNvSpPr>
          <p:nvPr userDrawn="1"/>
        </p:nvSpPr>
        <p:spPr bwMode="auto">
          <a:xfrm>
            <a:off x="1" y="1"/>
            <a:ext cx="9935633" cy="549275"/>
          </a:xfrm>
          <a:prstGeom prst="rect">
            <a:avLst/>
          </a:prstGeom>
          <a:solidFill>
            <a:srgbClr val="C30224"/>
          </a:solidFill>
          <a:ln w="9525">
            <a:noFill/>
            <a:miter lim="800000"/>
          </a:ln>
          <a:effectLst/>
        </p:spPr>
        <p:txBody>
          <a:bodyPr wrap="none" anchor="ctr"/>
          <a:lstStyle/>
          <a:p>
            <a:pPr eaLnBrk="1" hangingPunct="1">
              <a:lnSpc>
                <a:spcPct val="100000"/>
              </a:lnSpc>
              <a:spcBef>
                <a:spcPct val="0"/>
              </a:spcBef>
              <a:buClrTx/>
              <a:buSzTx/>
              <a:buFontTx/>
              <a:buNone/>
            </a:pPr>
            <a:endParaRPr lang="zh-CN" altLang="en-US" sz="3200">
              <a:solidFill>
                <a:schemeClr val="tx2"/>
              </a:solidFill>
            </a:endParaRPr>
          </a:p>
        </p:txBody>
      </p:sp>
      <p:grpSp>
        <p:nvGrpSpPr>
          <p:cNvPr id="87054" name="Group 14"/>
          <p:cNvGrpSpPr/>
          <p:nvPr userDrawn="1"/>
        </p:nvGrpSpPr>
        <p:grpSpPr bwMode="auto">
          <a:xfrm>
            <a:off x="10128251" y="188913"/>
            <a:ext cx="1784349" cy="2189162"/>
            <a:chOff x="4704" y="1885"/>
            <a:chExt cx="843" cy="1379"/>
          </a:xfrm>
        </p:grpSpPr>
        <p:sp>
          <p:nvSpPr>
            <p:cNvPr id="87055" name="Oval 15"/>
            <p:cNvSpPr>
              <a:spLocks noChangeArrowheads="1"/>
            </p:cNvSpPr>
            <p:nvPr/>
          </p:nvSpPr>
          <p:spPr bwMode="auto">
            <a:xfrm>
              <a:off x="4704" y="1885"/>
              <a:ext cx="127" cy="127"/>
            </a:xfrm>
            <a:prstGeom prst="ellipse">
              <a:avLst/>
            </a:prstGeom>
            <a:solidFill>
              <a:schemeClr val="tx2"/>
            </a:solidFill>
            <a:ln w="9525">
              <a:noFill/>
              <a:round/>
            </a:ln>
            <a:effectLst/>
          </p:spPr>
          <p:txBody>
            <a:bodyPr wrap="none" anchor="ctr"/>
            <a:lstStyle/>
            <a:p>
              <a:endParaRPr lang="zh-CN" altLang="en-US"/>
            </a:p>
          </p:txBody>
        </p:sp>
        <p:sp>
          <p:nvSpPr>
            <p:cNvPr id="87056" name="Oval 16"/>
            <p:cNvSpPr>
              <a:spLocks noChangeArrowheads="1"/>
            </p:cNvSpPr>
            <p:nvPr/>
          </p:nvSpPr>
          <p:spPr bwMode="auto">
            <a:xfrm>
              <a:off x="4883" y="1885"/>
              <a:ext cx="127" cy="127"/>
            </a:xfrm>
            <a:prstGeom prst="ellipse">
              <a:avLst/>
            </a:prstGeom>
            <a:solidFill>
              <a:schemeClr val="tx2"/>
            </a:solidFill>
            <a:ln w="9525">
              <a:noFill/>
              <a:round/>
            </a:ln>
            <a:effectLst/>
          </p:spPr>
          <p:txBody>
            <a:bodyPr wrap="none" anchor="ctr"/>
            <a:lstStyle/>
            <a:p>
              <a:endParaRPr lang="zh-CN" altLang="en-US"/>
            </a:p>
          </p:txBody>
        </p:sp>
        <p:sp>
          <p:nvSpPr>
            <p:cNvPr id="87057" name="Oval 17"/>
            <p:cNvSpPr>
              <a:spLocks noChangeArrowheads="1"/>
            </p:cNvSpPr>
            <p:nvPr/>
          </p:nvSpPr>
          <p:spPr bwMode="auto">
            <a:xfrm>
              <a:off x="5062" y="1885"/>
              <a:ext cx="127" cy="127"/>
            </a:xfrm>
            <a:prstGeom prst="ellipse">
              <a:avLst/>
            </a:prstGeom>
            <a:solidFill>
              <a:schemeClr val="tx2"/>
            </a:solidFill>
            <a:ln w="9525">
              <a:noFill/>
              <a:round/>
            </a:ln>
            <a:effectLst/>
          </p:spPr>
          <p:txBody>
            <a:bodyPr wrap="none" anchor="ctr"/>
            <a:lstStyle/>
            <a:p>
              <a:endParaRPr lang="zh-CN" altLang="en-US"/>
            </a:p>
          </p:txBody>
        </p:sp>
        <p:sp>
          <p:nvSpPr>
            <p:cNvPr id="87058" name="Oval 18"/>
            <p:cNvSpPr>
              <a:spLocks noChangeArrowheads="1"/>
            </p:cNvSpPr>
            <p:nvPr/>
          </p:nvSpPr>
          <p:spPr bwMode="auto">
            <a:xfrm>
              <a:off x="4704" y="2064"/>
              <a:ext cx="127" cy="127"/>
            </a:xfrm>
            <a:prstGeom prst="ellipse">
              <a:avLst/>
            </a:prstGeom>
            <a:solidFill>
              <a:schemeClr val="tx2"/>
            </a:solidFill>
            <a:ln w="9525">
              <a:noFill/>
              <a:round/>
            </a:ln>
            <a:effectLst/>
          </p:spPr>
          <p:txBody>
            <a:bodyPr wrap="none" anchor="ctr"/>
            <a:lstStyle/>
            <a:p>
              <a:endParaRPr lang="zh-CN" altLang="en-US"/>
            </a:p>
          </p:txBody>
        </p:sp>
        <p:sp>
          <p:nvSpPr>
            <p:cNvPr id="87059" name="Oval 19"/>
            <p:cNvSpPr>
              <a:spLocks noChangeArrowheads="1"/>
            </p:cNvSpPr>
            <p:nvPr/>
          </p:nvSpPr>
          <p:spPr bwMode="auto">
            <a:xfrm>
              <a:off x="4883" y="2064"/>
              <a:ext cx="127" cy="127"/>
            </a:xfrm>
            <a:prstGeom prst="ellipse">
              <a:avLst/>
            </a:prstGeom>
            <a:solidFill>
              <a:schemeClr val="tx2"/>
            </a:solidFill>
            <a:ln w="9525">
              <a:noFill/>
              <a:round/>
            </a:ln>
            <a:effectLst/>
          </p:spPr>
          <p:txBody>
            <a:bodyPr wrap="none" anchor="ctr"/>
            <a:lstStyle/>
            <a:p>
              <a:endParaRPr lang="zh-CN" altLang="en-US"/>
            </a:p>
          </p:txBody>
        </p:sp>
        <p:sp>
          <p:nvSpPr>
            <p:cNvPr id="87060" name="Oval 20"/>
            <p:cNvSpPr>
              <a:spLocks noChangeArrowheads="1"/>
            </p:cNvSpPr>
            <p:nvPr/>
          </p:nvSpPr>
          <p:spPr bwMode="auto">
            <a:xfrm>
              <a:off x="5062" y="2064"/>
              <a:ext cx="127" cy="127"/>
            </a:xfrm>
            <a:prstGeom prst="ellipse">
              <a:avLst/>
            </a:prstGeom>
            <a:solidFill>
              <a:schemeClr val="tx2"/>
            </a:solidFill>
            <a:ln w="9525">
              <a:noFill/>
              <a:round/>
            </a:ln>
            <a:effectLst/>
          </p:spPr>
          <p:txBody>
            <a:bodyPr wrap="none" anchor="ctr"/>
            <a:lstStyle/>
            <a:p>
              <a:endParaRPr lang="zh-CN" altLang="en-US"/>
            </a:p>
          </p:txBody>
        </p:sp>
        <p:sp>
          <p:nvSpPr>
            <p:cNvPr id="87061" name="Oval 21"/>
            <p:cNvSpPr>
              <a:spLocks noChangeArrowheads="1"/>
            </p:cNvSpPr>
            <p:nvPr/>
          </p:nvSpPr>
          <p:spPr bwMode="auto">
            <a:xfrm>
              <a:off x="5241" y="2064"/>
              <a:ext cx="127" cy="127"/>
            </a:xfrm>
            <a:prstGeom prst="ellipse">
              <a:avLst/>
            </a:prstGeom>
            <a:solidFill>
              <a:schemeClr val="accent2"/>
            </a:solidFill>
            <a:ln w="9525">
              <a:noFill/>
              <a:round/>
            </a:ln>
            <a:effectLst/>
          </p:spPr>
          <p:txBody>
            <a:bodyPr wrap="none" anchor="ctr"/>
            <a:lstStyle/>
            <a:p>
              <a:endParaRPr lang="zh-CN" altLang="en-US"/>
            </a:p>
          </p:txBody>
        </p:sp>
        <p:sp>
          <p:nvSpPr>
            <p:cNvPr id="87062" name="Oval 22"/>
            <p:cNvSpPr>
              <a:spLocks noChangeArrowheads="1"/>
            </p:cNvSpPr>
            <p:nvPr/>
          </p:nvSpPr>
          <p:spPr bwMode="auto">
            <a:xfrm>
              <a:off x="4704" y="2243"/>
              <a:ext cx="127" cy="127"/>
            </a:xfrm>
            <a:prstGeom prst="ellipse">
              <a:avLst/>
            </a:prstGeom>
            <a:solidFill>
              <a:schemeClr val="tx2"/>
            </a:solidFill>
            <a:ln w="9525">
              <a:noFill/>
              <a:round/>
            </a:ln>
            <a:effectLst/>
          </p:spPr>
          <p:txBody>
            <a:bodyPr wrap="none" anchor="ctr"/>
            <a:lstStyle/>
            <a:p>
              <a:endParaRPr lang="zh-CN" altLang="en-US"/>
            </a:p>
          </p:txBody>
        </p:sp>
        <p:sp>
          <p:nvSpPr>
            <p:cNvPr id="87063" name="Oval 23"/>
            <p:cNvSpPr>
              <a:spLocks noChangeArrowheads="1"/>
            </p:cNvSpPr>
            <p:nvPr/>
          </p:nvSpPr>
          <p:spPr bwMode="auto">
            <a:xfrm>
              <a:off x="4883" y="2243"/>
              <a:ext cx="127" cy="127"/>
            </a:xfrm>
            <a:prstGeom prst="ellipse">
              <a:avLst/>
            </a:prstGeom>
            <a:solidFill>
              <a:schemeClr val="tx2"/>
            </a:solidFill>
            <a:ln w="9525">
              <a:noFill/>
              <a:round/>
            </a:ln>
            <a:effectLst/>
          </p:spPr>
          <p:txBody>
            <a:bodyPr wrap="none" anchor="ctr"/>
            <a:lstStyle/>
            <a:p>
              <a:endParaRPr lang="zh-CN" altLang="en-US"/>
            </a:p>
          </p:txBody>
        </p:sp>
        <p:sp>
          <p:nvSpPr>
            <p:cNvPr id="87064" name="Oval 24"/>
            <p:cNvSpPr>
              <a:spLocks noChangeArrowheads="1"/>
            </p:cNvSpPr>
            <p:nvPr/>
          </p:nvSpPr>
          <p:spPr bwMode="auto">
            <a:xfrm>
              <a:off x="5062" y="2243"/>
              <a:ext cx="127" cy="127"/>
            </a:xfrm>
            <a:prstGeom prst="ellipse">
              <a:avLst/>
            </a:prstGeom>
            <a:solidFill>
              <a:schemeClr val="accent2"/>
            </a:solidFill>
            <a:ln w="9525">
              <a:noFill/>
              <a:round/>
            </a:ln>
            <a:effectLst/>
          </p:spPr>
          <p:txBody>
            <a:bodyPr wrap="none" anchor="ctr"/>
            <a:lstStyle/>
            <a:p>
              <a:endParaRPr lang="zh-CN" altLang="en-US"/>
            </a:p>
          </p:txBody>
        </p:sp>
        <p:sp>
          <p:nvSpPr>
            <p:cNvPr id="87065" name="Oval 25"/>
            <p:cNvSpPr>
              <a:spLocks noChangeArrowheads="1"/>
            </p:cNvSpPr>
            <p:nvPr/>
          </p:nvSpPr>
          <p:spPr bwMode="auto">
            <a:xfrm>
              <a:off x="5241" y="2243"/>
              <a:ext cx="127" cy="127"/>
            </a:xfrm>
            <a:prstGeom prst="ellipse">
              <a:avLst/>
            </a:prstGeom>
            <a:solidFill>
              <a:schemeClr val="accent2"/>
            </a:solidFill>
            <a:ln w="9525">
              <a:noFill/>
              <a:round/>
            </a:ln>
            <a:effectLst/>
          </p:spPr>
          <p:txBody>
            <a:bodyPr wrap="none" anchor="ctr"/>
            <a:lstStyle/>
            <a:p>
              <a:endParaRPr lang="zh-CN" altLang="en-US"/>
            </a:p>
          </p:txBody>
        </p:sp>
        <p:sp>
          <p:nvSpPr>
            <p:cNvPr id="87066" name="Oval 26"/>
            <p:cNvSpPr>
              <a:spLocks noChangeArrowheads="1"/>
            </p:cNvSpPr>
            <p:nvPr/>
          </p:nvSpPr>
          <p:spPr bwMode="auto">
            <a:xfrm>
              <a:off x="5420" y="2243"/>
              <a:ext cx="127" cy="127"/>
            </a:xfrm>
            <a:prstGeom prst="ellipse">
              <a:avLst/>
            </a:prstGeom>
            <a:solidFill>
              <a:schemeClr val="accent1"/>
            </a:solidFill>
            <a:ln w="9525">
              <a:noFill/>
              <a:round/>
            </a:ln>
            <a:effectLst/>
          </p:spPr>
          <p:txBody>
            <a:bodyPr wrap="none" anchor="ctr"/>
            <a:lstStyle/>
            <a:p>
              <a:endParaRPr lang="zh-CN" altLang="en-US"/>
            </a:p>
          </p:txBody>
        </p:sp>
        <p:sp>
          <p:nvSpPr>
            <p:cNvPr id="87067" name="Oval 27"/>
            <p:cNvSpPr>
              <a:spLocks noChangeArrowheads="1"/>
            </p:cNvSpPr>
            <p:nvPr/>
          </p:nvSpPr>
          <p:spPr bwMode="auto">
            <a:xfrm>
              <a:off x="4704" y="2421"/>
              <a:ext cx="127" cy="128"/>
            </a:xfrm>
            <a:prstGeom prst="ellipse">
              <a:avLst/>
            </a:prstGeom>
            <a:solidFill>
              <a:schemeClr val="tx2"/>
            </a:solidFill>
            <a:ln w="9525">
              <a:noFill/>
              <a:round/>
            </a:ln>
            <a:effectLst/>
          </p:spPr>
          <p:txBody>
            <a:bodyPr wrap="none" anchor="ctr"/>
            <a:lstStyle/>
            <a:p>
              <a:endParaRPr lang="zh-CN" altLang="en-US"/>
            </a:p>
          </p:txBody>
        </p:sp>
        <p:sp>
          <p:nvSpPr>
            <p:cNvPr id="87068" name="Oval 28"/>
            <p:cNvSpPr>
              <a:spLocks noChangeArrowheads="1"/>
            </p:cNvSpPr>
            <p:nvPr/>
          </p:nvSpPr>
          <p:spPr bwMode="auto">
            <a:xfrm>
              <a:off x="4883" y="2421"/>
              <a:ext cx="127" cy="128"/>
            </a:xfrm>
            <a:prstGeom prst="ellipse">
              <a:avLst/>
            </a:prstGeom>
            <a:solidFill>
              <a:schemeClr val="accent2"/>
            </a:solidFill>
            <a:ln w="9525">
              <a:noFill/>
              <a:round/>
            </a:ln>
            <a:effectLst/>
          </p:spPr>
          <p:txBody>
            <a:bodyPr wrap="none" anchor="ctr"/>
            <a:lstStyle/>
            <a:p>
              <a:endParaRPr lang="zh-CN" altLang="en-US"/>
            </a:p>
          </p:txBody>
        </p:sp>
        <p:sp>
          <p:nvSpPr>
            <p:cNvPr id="87069" name="Oval 29"/>
            <p:cNvSpPr>
              <a:spLocks noChangeArrowheads="1"/>
            </p:cNvSpPr>
            <p:nvPr/>
          </p:nvSpPr>
          <p:spPr bwMode="auto">
            <a:xfrm>
              <a:off x="5062" y="2421"/>
              <a:ext cx="127" cy="128"/>
            </a:xfrm>
            <a:prstGeom prst="ellipse">
              <a:avLst/>
            </a:prstGeom>
            <a:solidFill>
              <a:schemeClr val="accent2"/>
            </a:solidFill>
            <a:ln w="9525">
              <a:noFill/>
              <a:round/>
            </a:ln>
            <a:effectLst/>
          </p:spPr>
          <p:txBody>
            <a:bodyPr wrap="none" anchor="ctr"/>
            <a:lstStyle/>
            <a:p>
              <a:endParaRPr lang="zh-CN" altLang="en-US"/>
            </a:p>
          </p:txBody>
        </p:sp>
        <p:sp>
          <p:nvSpPr>
            <p:cNvPr id="87070" name="Oval 30"/>
            <p:cNvSpPr>
              <a:spLocks noChangeArrowheads="1"/>
            </p:cNvSpPr>
            <p:nvPr/>
          </p:nvSpPr>
          <p:spPr bwMode="auto">
            <a:xfrm>
              <a:off x="5241" y="2421"/>
              <a:ext cx="127" cy="128"/>
            </a:xfrm>
            <a:prstGeom prst="ellipse">
              <a:avLst/>
            </a:prstGeom>
            <a:solidFill>
              <a:schemeClr val="accent1"/>
            </a:solidFill>
            <a:ln w="9525">
              <a:noFill/>
              <a:round/>
            </a:ln>
            <a:effectLst/>
          </p:spPr>
          <p:txBody>
            <a:bodyPr wrap="none" anchor="ctr"/>
            <a:lstStyle/>
            <a:p>
              <a:endParaRPr lang="zh-CN" altLang="en-US"/>
            </a:p>
          </p:txBody>
        </p:sp>
        <p:sp>
          <p:nvSpPr>
            <p:cNvPr id="87071" name="Oval 31"/>
            <p:cNvSpPr>
              <a:spLocks noChangeArrowheads="1"/>
            </p:cNvSpPr>
            <p:nvPr/>
          </p:nvSpPr>
          <p:spPr bwMode="auto">
            <a:xfrm>
              <a:off x="4704" y="2600"/>
              <a:ext cx="127" cy="128"/>
            </a:xfrm>
            <a:prstGeom prst="ellipse">
              <a:avLst/>
            </a:prstGeom>
            <a:solidFill>
              <a:schemeClr val="accent2"/>
            </a:solidFill>
            <a:ln w="9525">
              <a:noFill/>
              <a:round/>
            </a:ln>
            <a:effectLst/>
          </p:spPr>
          <p:txBody>
            <a:bodyPr wrap="none" anchor="ctr"/>
            <a:lstStyle/>
            <a:p>
              <a:endParaRPr lang="zh-CN" altLang="en-US"/>
            </a:p>
          </p:txBody>
        </p:sp>
        <p:sp>
          <p:nvSpPr>
            <p:cNvPr id="87072" name="Oval 32"/>
            <p:cNvSpPr>
              <a:spLocks noChangeArrowheads="1"/>
            </p:cNvSpPr>
            <p:nvPr/>
          </p:nvSpPr>
          <p:spPr bwMode="auto">
            <a:xfrm>
              <a:off x="4883" y="2600"/>
              <a:ext cx="127" cy="128"/>
            </a:xfrm>
            <a:prstGeom prst="ellipse">
              <a:avLst/>
            </a:prstGeom>
            <a:solidFill>
              <a:schemeClr val="accent2"/>
            </a:solidFill>
            <a:ln w="9525">
              <a:noFill/>
              <a:round/>
            </a:ln>
            <a:effectLst/>
          </p:spPr>
          <p:txBody>
            <a:bodyPr wrap="none" anchor="ctr"/>
            <a:lstStyle/>
            <a:p>
              <a:endParaRPr lang="zh-CN" altLang="en-US"/>
            </a:p>
          </p:txBody>
        </p:sp>
        <p:sp>
          <p:nvSpPr>
            <p:cNvPr id="87073" name="Oval 33"/>
            <p:cNvSpPr>
              <a:spLocks noChangeArrowheads="1"/>
            </p:cNvSpPr>
            <p:nvPr/>
          </p:nvSpPr>
          <p:spPr bwMode="auto">
            <a:xfrm>
              <a:off x="5062" y="2600"/>
              <a:ext cx="127" cy="128"/>
            </a:xfrm>
            <a:prstGeom prst="ellipse">
              <a:avLst/>
            </a:prstGeom>
            <a:solidFill>
              <a:schemeClr val="accent1"/>
            </a:solidFill>
            <a:ln w="9525">
              <a:noFill/>
              <a:round/>
            </a:ln>
            <a:effectLst/>
          </p:spPr>
          <p:txBody>
            <a:bodyPr wrap="none" anchor="ctr"/>
            <a:lstStyle/>
            <a:p>
              <a:endParaRPr lang="zh-CN" altLang="en-US"/>
            </a:p>
          </p:txBody>
        </p:sp>
        <p:sp>
          <p:nvSpPr>
            <p:cNvPr id="87074" name="Oval 34"/>
            <p:cNvSpPr>
              <a:spLocks noChangeArrowheads="1"/>
            </p:cNvSpPr>
            <p:nvPr/>
          </p:nvSpPr>
          <p:spPr bwMode="auto">
            <a:xfrm>
              <a:off x="5241" y="2600"/>
              <a:ext cx="127" cy="128"/>
            </a:xfrm>
            <a:prstGeom prst="ellipse">
              <a:avLst/>
            </a:prstGeom>
            <a:solidFill>
              <a:schemeClr val="accent1"/>
            </a:solidFill>
            <a:ln w="9525">
              <a:noFill/>
              <a:round/>
            </a:ln>
            <a:effectLst/>
          </p:spPr>
          <p:txBody>
            <a:bodyPr wrap="none" anchor="ctr"/>
            <a:lstStyle/>
            <a:p>
              <a:endParaRPr lang="zh-CN" altLang="en-US"/>
            </a:p>
          </p:txBody>
        </p:sp>
        <p:sp>
          <p:nvSpPr>
            <p:cNvPr id="87075" name="Oval 35"/>
            <p:cNvSpPr>
              <a:spLocks noChangeArrowheads="1"/>
            </p:cNvSpPr>
            <p:nvPr/>
          </p:nvSpPr>
          <p:spPr bwMode="auto">
            <a:xfrm>
              <a:off x="5420" y="2600"/>
              <a:ext cx="127" cy="128"/>
            </a:xfrm>
            <a:prstGeom prst="ellipse">
              <a:avLst/>
            </a:prstGeom>
            <a:solidFill>
              <a:schemeClr val="folHlink"/>
            </a:solidFill>
            <a:ln w="9525">
              <a:noFill/>
              <a:round/>
            </a:ln>
            <a:effectLst/>
          </p:spPr>
          <p:txBody>
            <a:bodyPr wrap="none" anchor="ctr"/>
            <a:lstStyle/>
            <a:p>
              <a:endParaRPr lang="zh-CN" altLang="en-US"/>
            </a:p>
          </p:txBody>
        </p:sp>
        <p:sp>
          <p:nvSpPr>
            <p:cNvPr id="87076" name="Oval 36"/>
            <p:cNvSpPr>
              <a:spLocks noChangeArrowheads="1"/>
            </p:cNvSpPr>
            <p:nvPr/>
          </p:nvSpPr>
          <p:spPr bwMode="auto">
            <a:xfrm>
              <a:off x="4704" y="2779"/>
              <a:ext cx="127" cy="127"/>
            </a:xfrm>
            <a:prstGeom prst="ellipse">
              <a:avLst/>
            </a:prstGeom>
            <a:solidFill>
              <a:schemeClr val="accent2"/>
            </a:solidFill>
            <a:ln w="9525">
              <a:noFill/>
              <a:round/>
            </a:ln>
            <a:effectLst/>
          </p:spPr>
          <p:txBody>
            <a:bodyPr wrap="none" anchor="ctr"/>
            <a:lstStyle/>
            <a:p>
              <a:endParaRPr lang="zh-CN" altLang="en-US"/>
            </a:p>
          </p:txBody>
        </p:sp>
        <p:sp>
          <p:nvSpPr>
            <p:cNvPr id="87077" name="Oval 37"/>
            <p:cNvSpPr>
              <a:spLocks noChangeArrowheads="1"/>
            </p:cNvSpPr>
            <p:nvPr/>
          </p:nvSpPr>
          <p:spPr bwMode="auto">
            <a:xfrm>
              <a:off x="4883" y="2779"/>
              <a:ext cx="127" cy="127"/>
            </a:xfrm>
            <a:prstGeom prst="ellipse">
              <a:avLst/>
            </a:prstGeom>
            <a:solidFill>
              <a:schemeClr val="accent1"/>
            </a:solidFill>
            <a:ln w="9525">
              <a:noFill/>
              <a:round/>
            </a:ln>
            <a:effectLst/>
          </p:spPr>
          <p:txBody>
            <a:bodyPr wrap="none" anchor="ctr"/>
            <a:lstStyle/>
            <a:p>
              <a:endParaRPr lang="zh-CN" altLang="en-US"/>
            </a:p>
          </p:txBody>
        </p:sp>
        <p:sp>
          <p:nvSpPr>
            <p:cNvPr id="87078" name="Oval 38"/>
            <p:cNvSpPr>
              <a:spLocks noChangeArrowheads="1"/>
            </p:cNvSpPr>
            <p:nvPr/>
          </p:nvSpPr>
          <p:spPr bwMode="auto">
            <a:xfrm>
              <a:off x="5062" y="2779"/>
              <a:ext cx="127" cy="127"/>
            </a:xfrm>
            <a:prstGeom prst="ellipse">
              <a:avLst/>
            </a:prstGeom>
            <a:solidFill>
              <a:schemeClr val="accent1"/>
            </a:solidFill>
            <a:ln w="9525">
              <a:noFill/>
              <a:round/>
            </a:ln>
            <a:effectLst/>
          </p:spPr>
          <p:txBody>
            <a:bodyPr wrap="none" anchor="ctr"/>
            <a:lstStyle/>
            <a:p>
              <a:endParaRPr lang="zh-CN" altLang="en-US"/>
            </a:p>
          </p:txBody>
        </p:sp>
        <p:sp>
          <p:nvSpPr>
            <p:cNvPr id="87079" name="Oval 39"/>
            <p:cNvSpPr>
              <a:spLocks noChangeArrowheads="1"/>
            </p:cNvSpPr>
            <p:nvPr/>
          </p:nvSpPr>
          <p:spPr bwMode="auto">
            <a:xfrm>
              <a:off x="5241" y="2779"/>
              <a:ext cx="127" cy="127"/>
            </a:xfrm>
            <a:prstGeom prst="ellipse">
              <a:avLst/>
            </a:prstGeom>
            <a:solidFill>
              <a:schemeClr val="folHlink"/>
            </a:solidFill>
            <a:ln w="9525">
              <a:noFill/>
              <a:round/>
            </a:ln>
            <a:effectLst/>
          </p:spPr>
          <p:txBody>
            <a:bodyPr wrap="none" anchor="ctr"/>
            <a:lstStyle/>
            <a:p>
              <a:endParaRPr lang="zh-CN" altLang="en-US"/>
            </a:p>
          </p:txBody>
        </p:sp>
        <p:sp>
          <p:nvSpPr>
            <p:cNvPr id="87080" name="Oval 40"/>
            <p:cNvSpPr>
              <a:spLocks noChangeArrowheads="1"/>
            </p:cNvSpPr>
            <p:nvPr/>
          </p:nvSpPr>
          <p:spPr bwMode="auto">
            <a:xfrm>
              <a:off x="4704" y="2958"/>
              <a:ext cx="127" cy="127"/>
            </a:xfrm>
            <a:prstGeom prst="ellipse">
              <a:avLst/>
            </a:prstGeom>
            <a:solidFill>
              <a:schemeClr val="accent1"/>
            </a:solidFill>
            <a:ln w="9525">
              <a:noFill/>
              <a:round/>
            </a:ln>
            <a:effectLst/>
          </p:spPr>
          <p:txBody>
            <a:bodyPr wrap="none" anchor="ctr"/>
            <a:lstStyle/>
            <a:p>
              <a:endParaRPr lang="zh-CN" altLang="en-US"/>
            </a:p>
          </p:txBody>
        </p:sp>
        <p:sp>
          <p:nvSpPr>
            <p:cNvPr id="87081" name="Oval 41"/>
            <p:cNvSpPr>
              <a:spLocks noChangeArrowheads="1"/>
            </p:cNvSpPr>
            <p:nvPr/>
          </p:nvSpPr>
          <p:spPr bwMode="auto">
            <a:xfrm>
              <a:off x="4883" y="2958"/>
              <a:ext cx="127" cy="127"/>
            </a:xfrm>
            <a:prstGeom prst="ellipse">
              <a:avLst/>
            </a:prstGeom>
            <a:solidFill>
              <a:schemeClr val="accent1"/>
            </a:solidFill>
            <a:ln w="9525">
              <a:noFill/>
              <a:round/>
            </a:ln>
            <a:effectLst/>
          </p:spPr>
          <p:txBody>
            <a:bodyPr wrap="none" anchor="ctr"/>
            <a:lstStyle/>
            <a:p>
              <a:endParaRPr lang="zh-CN" altLang="en-US"/>
            </a:p>
          </p:txBody>
        </p:sp>
        <p:sp>
          <p:nvSpPr>
            <p:cNvPr id="87082" name="Oval 42"/>
            <p:cNvSpPr>
              <a:spLocks noChangeArrowheads="1"/>
            </p:cNvSpPr>
            <p:nvPr/>
          </p:nvSpPr>
          <p:spPr bwMode="auto">
            <a:xfrm>
              <a:off x="5062" y="2958"/>
              <a:ext cx="127" cy="127"/>
            </a:xfrm>
            <a:prstGeom prst="ellipse">
              <a:avLst/>
            </a:prstGeom>
            <a:solidFill>
              <a:schemeClr val="folHlink"/>
            </a:solidFill>
            <a:ln w="9525">
              <a:noFill/>
              <a:round/>
            </a:ln>
            <a:effectLst/>
          </p:spPr>
          <p:txBody>
            <a:bodyPr wrap="none" anchor="ctr"/>
            <a:lstStyle/>
            <a:p>
              <a:endParaRPr lang="zh-CN" altLang="en-US"/>
            </a:p>
          </p:txBody>
        </p:sp>
        <p:sp>
          <p:nvSpPr>
            <p:cNvPr id="87083" name="Oval 43"/>
            <p:cNvSpPr>
              <a:spLocks noChangeArrowheads="1"/>
            </p:cNvSpPr>
            <p:nvPr/>
          </p:nvSpPr>
          <p:spPr bwMode="auto">
            <a:xfrm>
              <a:off x="5241" y="2958"/>
              <a:ext cx="127" cy="127"/>
            </a:xfrm>
            <a:prstGeom prst="ellipse">
              <a:avLst/>
            </a:prstGeom>
            <a:solidFill>
              <a:schemeClr val="folHlink"/>
            </a:solidFill>
            <a:ln w="9525">
              <a:noFill/>
              <a:round/>
            </a:ln>
            <a:effectLst/>
          </p:spPr>
          <p:txBody>
            <a:bodyPr wrap="none" anchor="ctr"/>
            <a:lstStyle/>
            <a:p>
              <a:endParaRPr lang="zh-CN" altLang="en-US"/>
            </a:p>
          </p:txBody>
        </p:sp>
        <p:sp>
          <p:nvSpPr>
            <p:cNvPr id="87084" name="Oval 44"/>
            <p:cNvSpPr>
              <a:spLocks noChangeArrowheads="1"/>
            </p:cNvSpPr>
            <p:nvPr/>
          </p:nvSpPr>
          <p:spPr bwMode="auto">
            <a:xfrm>
              <a:off x="4883" y="3137"/>
              <a:ext cx="127" cy="127"/>
            </a:xfrm>
            <a:prstGeom prst="ellipse">
              <a:avLst/>
            </a:prstGeom>
            <a:solidFill>
              <a:schemeClr val="folHlink"/>
            </a:solidFill>
            <a:ln w="9525">
              <a:noFill/>
              <a:round/>
            </a:ln>
            <a:effectLst/>
          </p:spPr>
          <p:txBody>
            <a:bodyPr wrap="none" anchor="ctr"/>
            <a:lstStyle/>
            <a:p>
              <a:endParaRPr lang="zh-CN" altLang="en-US"/>
            </a:p>
          </p:txBody>
        </p:sp>
        <p:sp>
          <p:nvSpPr>
            <p:cNvPr id="87085" name="Oval 45"/>
            <p:cNvSpPr>
              <a:spLocks noChangeArrowheads="1"/>
            </p:cNvSpPr>
            <p:nvPr/>
          </p:nvSpPr>
          <p:spPr bwMode="auto">
            <a:xfrm>
              <a:off x="5241" y="3137"/>
              <a:ext cx="127" cy="127"/>
            </a:xfrm>
            <a:prstGeom prst="ellipse">
              <a:avLst/>
            </a:prstGeom>
            <a:solidFill>
              <a:schemeClr val="folHlink"/>
            </a:solidFill>
            <a:ln w="9525">
              <a:noFill/>
              <a:round/>
            </a:ln>
            <a:effectLst/>
          </p:spPr>
          <p:txBody>
            <a:bodyPr wrap="none" anchor="ctr"/>
            <a:lstStyle/>
            <a:p>
              <a:endParaRPr lang="zh-CN" altLang="en-US"/>
            </a:p>
          </p:txBody>
        </p:sp>
      </p:grpSp>
      <p:sp>
        <p:nvSpPr>
          <p:cNvPr id="87086" name="Rectangle 46"/>
          <p:cNvSpPr>
            <a:spLocks noChangeArrowheads="1"/>
          </p:cNvSpPr>
          <p:nvPr userDrawn="1"/>
        </p:nvSpPr>
        <p:spPr bwMode="auto">
          <a:xfrm>
            <a:off x="6351" y="6742114"/>
            <a:ext cx="11465983" cy="71437"/>
          </a:xfrm>
          <a:prstGeom prst="rect">
            <a:avLst/>
          </a:prstGeom>
          <a:solidFill>
            <a:srgbClr val="E88000"/>
          </a:solidFill>
          <a:ln w="9525">
            <a:noFill/>
            <a:miter lim="800000"/>
          </a:ln>
          <a:effectLst/>
        </p:spPr>
        <p:txBody>
          <a:bodyPr wrap="none" anchor="ctr"/>
          <a:lstStyle/>
          <a:p>
            <a:endParaRPr lang="zh-CN" altLang="en-US"/>
          </a:p>
        </p:txBody>
      </p:sp>
      <p:sp>
        <p:nvSpPr>
          <p:cNvPr id="87087" name="Rectangle 47"/>
          <p:cNvSpPr>
            <a:spLocks noChangeArrowheads="1"/>
          </p:cNvSpPr>
          <p:nvPr userDrawn="1"/>
        </p:nvSpPr>
        <p:spPr bwMode="auto">
          <a:xfrm>
            <a:off x="14818" y="6811964"/>
            <a:ext cx="12187767" cy="73025"/>
          </a:xfrm>
          <a:prstGeom prst="rect">
            <a:avLst/>
          </a:prstGeom>
          <a:solidFill>
            <a:srgbClr val="C95616"/>
          </a:solidFill>
          <a:ln w="9525">
            <a:noFill/>
            <a:miter lim="800000"/>
          </a:ln>
          <a:effectLst/>
        </p:spPr>
        <p:txBody>
          <a:bodyPr wrap="none" anchor="ctr"/>
          <a:lstStyle/>
          <a:p>
            <a:endParaRPr lang="zh-CN" altLang="en-US"/>
          </a:p>
        </p:txBody>
      </p:sp>
      <p:sp>
        <p:nvSpPr>
          <p:cNvPr id="87088" name="Rectangle 48"/>
          <p:cNvSpPr>
            <a:spLocks noChangeArrowheads="1"/>
          </p:cNvSpPr>
          <p:nvPr userDrawn="1"/>
        </p:nvSpPr>
        <p:spPr bwMode="auto">
          <a:xfrm>
            <a:off x="2117" y="6577013"/>
            <a:ext cx="11463867" cy="165100"/>
          </a:xfrm>
          <a:prstGeom prst="rect">
            <a:avLst/>
          </a:prstGeom>
          <a:solidFill>
            <a:srgbClr val="FCC24F"/>
          </a:solidFill>
          <a:ln w="9525">
            <a:noFill/>
            <a:miter lim="800000"/>
          </a:ln>
          <a:effectLst/>
        </p:spPr>
        <p:txBody>
          <a:bodyPr wrap="none" anchor="ctr"/>
          <a:lstStyle/>
          <a:p>
            <a:endParaRPr lang="zh-CN" altLang="en-US"/>
          </a:p>
        </p:txBody>
      </p:sp>
      <p:pic>
        <p:nvPicPr>
          <p:cNvPr id="87089" name="Picture 49" descr="buaa_1"/>
          <p:cNvPicPr>
            <a:picLocks noChangeAspect="1" noChangeArrowheads="1"/>
          </p:cNvPicPr>
          <p:nvPr userDrawn="1"/>
        </p:nvPicPr>
        <p:blipFill>
          <a:blip r:embed="rId2" cstate="print"/>
          <a:srcRect/>
          <a:stretch>
            <a:fillRect/>
          </a:stretch>
        </p:blipFill>
        <p:spPr bwMode="auto">
          <a:xfrm>
            <a:off x="1" y="6597650"/>
            <a:ext cx="1775884" cy="287338"/>
          </a:xfrm>
          <a:prstGeom prst="rect">
            <a:avLst/>
          </a:prstGeom>
          <a:noFill/>
          <a:ln w="9525">
            <a:noFill/>
            <a:miter lim="800000"/>
            <a:headEnd/>
            <a:tailEnd/>
          </a:ln>
        </p:spPr>
      </p:pic>
      <p:sp>
        <p:nvSpPr>
          <p:cNvPr id="87090" name="Line 50"/>
          <p:cNvSpPr>
            <a:spLocks noChangeShapeType="1"/>
          </p:cNvSpPr>
          <p:nvPr userDrawn="1"/>
        </p:nvSpPr>
        <p:spPr bwMode="auto">
          <a:xfrm flipV="1">
            <a:off x="624417" y="2852738"/>
            <a:ext cx="10752667" cy="0"/>
          </a:xfrm>
          <a:prstGeom prst="line">
            <a:avLst/>
          </a:prstGeom>
          <a:noFill/>
          <a:ln w="38100">
            <a:solidFill>
              <a:schemeClr val="bg2"/>
            </a:solidFill>
            <a:round/>
          </a:ln>
          <a:effectLst/>
        </p:spPr>
        <p:txBody>
          <a:bodyPr anchor="ctr">
            <a:spAutoFit/>
          </a:bodyPr>
          <a:lstStyle/>
          <a:p>
            <a:endParaRPr lang="zh-CN" altLang="en-US"/>
          </a:p>
        </p:txBody>
      </p:sp>
      <p:sp>
        <p:nvSpPr>
          <p:cNvPr id="87091" name="Line 51"/>
          <p:cNvSpPr>
            <a:spLocks noChangeShapeType="1"/>
          </p:cNvSpPr>
          <p:nvPr userDrawn="1"/>
        </p:nvSpPr>
        <p:spPr bwMode="auto">
          <a:xfrm>
            <a:off x="9935633" y="0"/>
            <a:ext cx="0" cy="5949950"/>
          </a:xfrm>
          <a:prstGeom prst="line">
            <a:avLst/>
          </a:prstGeom>
          <a:noFill/>
          <a:ln w="38100">
            <a:solidFill>
              <a:schemeClr val="bg2"/>
            </a:solidFill>
            <a:round/>
          </a:ln>
          <a:effectLst/>
        </p:spPr>
        <p:txBody>
          <a:bodyPr anchor="ctr">
            <a:spAutoFit/>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047827"/>
            <a:ext cx="10363200" cy="35907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54247"/>
            <a:ext cx="5386917"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54247"/>
            <a:ext cx="5389033"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29190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5437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7840795" y="1125538"/>
            <a:ext cx="3538405" cy="220265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36950" y="404814"/>
            <a:ext cx="2922851"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5" b="0">
              <a:solidFill>
                <a:srgbClr val="FFFFFF"/>
              </a:solidFill>
            </a:endParaRPr>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5" b="0">
              <a:solidFill>
                <a:srgbClr val="FFFFFF"/>
              </a:solidFill>
            </a:endParaRPr>
          </a:p>
        </p:txBody>
      </p:sp>
      <p:sp>
        <p:nvSpPr>
          <p:cNvPr id="44" name="Subtitle 2"/>
          <p:cNvSpPr>
            <a:spLocks noGrp="1"/>
          </p:cNvSpPr>
          <p:nvPr>
            <p:ph type="subTitle" idx="1"/>
          </p:nvPr>
        </p:nvSpPr>
        <p:spPr>
          <a:xfrm>
            <a:off x="1524000" y="3750112"/>
            <a:ext cx="9144000" cy="1004407"/>
          </a:xfrm>
          <a:prstGeom prst="rect">
            <a:avLst/>
          </a:prstGeom>
        </p:spPr>
        <p:txBody>
          <a:bodyPr anchor="ctr">
            <a:normAutofit/>
          </a:bodyPr>
          <a:lstStyle>
            <a:lvl1pPr marL="0" indent="0" algn="ctr">
              <a:buNone/>
              <a:defRPr lang="en-US" sz="2700" b="1" kern="1200" dirty="0">
                <a:solidFill>
                  <a:schemeClr val="tx1"/>
                </a:solidFill>
                <a:latin typeface="微软雅黑" panose="020B0503020204020204" pitchFamily="34" charset="-122"/>
                <a:ea typeface="微软雅黑" panose="020B0503020204020204" pitchFamily="34" charset="-122"/>
                <a:cs typeface="+mj-cs"/>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3432" y="564342"/>
            <a:ext cx="5567281" cy="632410"/>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685800" rtl="0" eaLnBrk="1" latinLnBrk="0" hangingPunct="1">
              <a:lnSpc>
                <a:spcPct val="100000"/>
              </a:lnSpc>
              <a:spcBef>
                <a:spcPct val="0"/>
              </a:spcBef>
              <a:buNone/>
              <a:defRPr lang="en-US" sz="36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3490" name="Picture 2" descr="E:\Work buaa\Other\北航\软件学院图标.jp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320136" y="492333"/>
            <a:ext cx="3312368" cy="6770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Subtitle 2"/>
          <p:cNvSpPr>
            <a:spLocks noGrp="1"/>
          </p:cNvSpPr>
          <p:nvPr>
            <p:ph type="subTitle" idx="1"/>
          </p:nvPr>
        </p:nvSpPr>
        <p:spPr>
          <a:xfrm>
            <a:off x="1524000" y="3750110"/>
            <a:ext cx="9144000" cy="1004407"/>
          </a:xfrm>
          <a:prstGeom prst="rect">
            <a:avLst/>
          </a:prstGeom>
        </p:spPr>
        <p:txBody>
          <a:bodyPr anchor="ctr">
            <a:normAutofit/>
          </a:bodyPr>
          <a:lstStyle>
            <a:lvl1pPr marL="0" indent="0" algn="ctr">
              <a:buNone/>
              <a:defRPr lang="en-US" sz="3600" b="1" kern="1200" dirty="0">
                <a:solidFill>
                  <a:schemeClr val="tx1"/>
                </a:solidFill>
                <a:latin typeface="微软雅黑" panose="020B0503020204020204" pitchFamily="34" charset="-122"/>
                <a:ea typeface="微软雅黑" panose="020B0503020204020204" pitchFamily="34" charset="-122"/>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68878" y="564339"/>
            <a:ext cx="8254245" cy="663787"/>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914400" rtl="0" eaLnBrk="1" latinLnBrk="0" hangingPunct="1">
              <a:lnSpc>
                <a:spcPct val="100000"/>
              </a:lnSpc>
              <a:spcBef>
                <a:spcPct val="0"/>
              </a:spcBef>
              <a:buNone/>
              <a:defRPr lang="en-US" sz="48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188641"/>
            <a:ext cx="7010400" cy="372603"/>
          </a:xfrm>
        </p:spPr>
        <p:txBody>
          <a:bodyPr/>
          <a:lstStyle>
            <a:lvl1pPr>
              <a:defRPr i="0" baseline="0">
                <a:latin typeface="Arial Unicode MS" panose="020B0604020202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914400" y="764705"/>
            <a:ext cx="10464800" cy="1897955"/>
          </a:xfrm>
        </p:spPr>
        <p:txBody>
          <a:bodyPr/>
          <a:lstStyle>
            <a:lvl1pPr>
              <a:lnSpc>
                <a:spcPct val="125000"/>
              </a:lnSpc>
              <a:spcBef>
                <a:spcPts val="0"/>
              </a:spcBef>
              <a:defRPr sz="2200">
                <a:latin typeface="微软雅黑" panose="020B0503020204020204" pitchFamily="34" charset="-122"/>
                <a:ea typeface="微软雅黑" panose="020B0503020204020204" pitchFamily="34" charset="-122"/>
              </a:defRPr>
            </a:lvl1pPr>
            <a:lvl2pPr>
              <a:lnSpc>
                <a:spcPct val="125000"/>
              </a:lnSpc>
              <a:spcBef>
                <a:spcPts val="0"/>
              </a:spcBef>
              <a:defRPr sz="2000">
                <a:latin typeface="微软雅黑" panose="020B0503020204020204" pitchFamily="34" charset="-122"/>
                <a:ea typeface="微软雅黑" panose="020B0503020204020204" pitchFamily="34" charset="-122"/>
              </a:defRPr>
            </a:lvl2pPr>
            <a:lvl3pPr>
              <a:lnSpc>
                <a:spcPct val="125000"/>
              </a:lnSpc>
              <a:spcBef>
                <a:spcPts val="0"/>
              </a:spcBef>
              <a:defRPr>
                <a:latin typeface="微软雅黑" panose="020B0503020204020204" pitchFamily="34" charset="-122"/>
                <a:ea typeface="微软雅黑" panose="020B0503020204020204" pitchFamily="34" charset="-122"/>
              </a:defRPr>
            </a:lvl3pPr>
            <a:lvl4pPr>
              <a:lnSpc>
                <a:spcPct val="125000"/>
              </a:lnSpc>
              <a:spcBef>
                <a:spcPts val="0"/>
              </a:spcBef>
              <a:defRPr sz="1800">
                <a:latin typeface="微软雅黑" panose="020B0503020204020204" pitchFamily="34" charset="-122"/>
                <a:ea typeface="微软雅黑" panose="020B0503020204020204" pitchFamily="34" charset="-122"/>
              </a:defRPr>
            </a:lvl4pPr>
            <a:lvl5pPr>
              <a:lnSpc>
                <a:spcPct val="125000"/>
              </a:lnSpc>
              <a:spcBef>
                <a:spcPts val="0"/>
              </a:spcBef>
              <a:defRPr sz="18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04746"/>
            <a:ext cx="5386917"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04746"/>
            <a:ext cx="5389033"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5584"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15413" y="116633"/>
            <a:ext cx="9144000" cy="372603"/>
          </a:xfrm>
        </p:spPr>
        <p:txBody>
          <a:bodyPr anchor="ctr"/>
          <a:lstStyle>
            <a:lvl1pPr algn="l">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image" Target="../media/image5.png"/><Relationship Id="rId4" Type="http://schemas.openxmlformats.org/officeDocument/2006/relationships/slideLayout" Target="../slideLayouts/slideLayout1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2284" y="404814"/>
            <a:ext cx="7010400" cy="372603"/>
          </a:xfrm>
          <a:prstGeom prst="rect">
            <a:avLst/>
          </a:prstGeom>
          <a:noFill/>
          <a:ln w="12700">
            <a:noFill/>
            <a:miter lim="800000"/>
          </a:ln>
          <a:effectLst/>
        </p:spPr>
        <p:txBody>
          <a:bodyPr vert="horz" wrap="square" lIns="63500" tIns="25400" rIns="63500" bIns="25400" numCol="1" anchor="t" anchorCtr="0" compatLnSpc="1">
            <a:spAutoFit/>
          </a:bodyPr>
          <a:lstStyle/>
          <a:p>
            <a:pPr lvl="0"/>
            <a:r>
              <a:rPr lang="zh-CN" altLang="en-US"/>
              <a:t>标题</a:t>
            </a:r>
          </a:p>
        </p:txBody>
      </p:sp>
      <p:sp>
        <p:nvSpPr>
          <p:cNvPr id="1029" name="Rectangle 5"/>
          <p:cNvSpPr>
            <a:spLocks noGrp="1" noChangeArrowheads="1"/>
          </p:cNvSpPr>
          <p:nvPr>
            <p:ph type="body" idx="1"/>
          </p:nvPr>
        </p:nvSpPr>
        <p:spPr bwMode="auto">
          <a:xfrm>
            <a:off x="914400" y="1125538"/>
            <a:ext cx="10464800" cy="2202654"/>
          </a:xfrm>
          <a:prstGeom prst="rect">
            <a:avLst/>
          </a:prstGeom>
          <a:noFill/>
          <a:ln w="12700">
            <a:noFill/>
            <a:miter lim="800000"/>
          </a:ln>
          <a:effectLst/>
        </p:spPr>
        <p:txBody>
          <a:bodyPr vert="horz" wrap="square" lIns="63500" tIns="25400" rIns="63500" bIns="25400" numCol="1" anchor="t" anchorCtr="0" compatLnSpc="1">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35" name="Rectangle 11"/>
          <p:cNvSpPr>
            <a:spLocks noChangeArrowheads="1"/>
          </p:cNvSpPr>
          <p:nvPr/>
        </p:nvSpPr>
        <p:spPr bwMode="auto">
          <a:xfrm>
            <a:off x="0" y="0"/>
            <a:ext cx="9840384" cy="260350"/>
          </a:xfrm>
          <a:prstGeom prst="rect">
            <a:avLst/>
          </a:prstGeom>
          <a:solidFill>
            <a:srgbClr val="C30224"/>
          </a:solidFill>
          <a:ln w="9525">
            <a:noFill/>
            <a:miter lim="800000"/>
          </a:ln>
          <a:effectLst/>
        </p:spPr>
        <p:txBody>
          <a:bodyPr wrap="none" anchor="ctr"/>
          <a:lstStyle/>
          <a:p>
            <a:pPr eaLnBrk="1" hangingPunct="1">
              <a:lnSpc>
                <a:spcPct val="100000"/>
              </a:lnSpc>
              <a:spcBef>
                <a:spcPct val="0"/>
              </a:spcBef>
              <a:buClrTx/>
              <a:buSzTx/>
              <a:buFontTx/>
              <a:buNone/>
            </a:pPr>
            <a:endParaRPr lang="zh-CN" altLang="en-US" sz="2400" b="0">
              <a:solidFill>
                <a:schemeClr val="tx2"/>
              </a:solidFill>
              <a:latin typeface="Times New Roman" panose="02020603050405020304" pitchFamily="18" charset="0"/>
            </a:endParaRPr>
          </a:p>
        </p:txBody>
      </p:sp>
      <p:sp>
        <p:nvSpPr>
          <p:cNvPr id="1037" name="Line 13"/>
          <p:cNvSpPr>
            <a:spLocks noChangeShapeType="1"/>
          </p:cNvSpPr>
          <p:nvPr/>
        </p:nvSpPr>
        <p:spPr bwMode="auto">
          <a:xfrm flipV="1">
            <a:off x="814917" y="836613"/>
            <a:ext cx="10752667" cy="0"/>
          </a:xfrm>
          <a:prstGeom prst="line">
            <a:avLst/>
          </a:prstGeom>
          <a:noFill/>
          <a:ln w="38100">
            <a:solidFill>
              <a:schemeClr val="bg2"/>
            </a:solidFill>
            <a:round/>
          </a:ln>
          <a:effectLst/>
        </p:spPr>
        <p:txBody>
          <a:bodyPr anchor="ctr">
            <a:spAutoFit/>
          </a:bodyPr>
          <a:lstStyle/>
          <a:p>
            <a:endParaRPr lang="zh-CN" altLang="en-US"/>
          </a:p>
        </p:txBody>
      </p:sp>
      <p:sp>
        <p:nvSpPr>
          <p:cNvPr id="1038" name="Rectangle 14"/>
          <p:cNvSpPr>
            <a:spLocks noChangeArrowheads="1"/>
          </p:cNvSpPr>
          <p:nvPr/>
        </p:nvSpPr>
        <p:spPr bwMode="auto">
          <a:xfrm>
            <a:off x="6351" y="6742114"/>
            <a:ext cx="11465983" cy="71437"/>
          </a:xfrm>
          <a:prstGeom prst="rect">
            <a:avLst/>
          </a:prstGeom>
          <a:solidFill>
            <a:srgbClr val="E88000"/>
          </a:solidFill>
          <a:ln w="9525">
            <a:noFill/>
            <a:miter lim="800000"/>
          </a:ln>
          <a:effectLst/>
        </p:spPr>
        <p:txBody>
          <a:bodyPr wrap="none" anchor="ctr"/>
          <a:lstStyle/>
          <a:p>
            <a:endParaRPr lang="zh-CN" altLang="en-US"/>
          </a:p>
        </p:txBody>
      </p:sp>
      <p:sp>
        <p:nvSpPr>
          <p:cNvPr id="1039" name="Rectangle 15"/>
          <p:cNvSpPr>
            <a:spLocks noChangeArrowheads="1"/>
          </p:cNvSpPr>
          <p:nvPr/>
        </p:nvSpPr>
        <p:spPr bwMode="auto">
          <a:xfrm>
            <a:off x="14818" y="6811964"/>
            <a:ext cx="12187767" cy="73025"/>
          </a:xfrm>
          <a:prstGeom prst="rect">
            <a:avLst/>
          </a:prstGeom>
          <a:solidFill>
            <a:srgbClr val="C95616"/>
          </a:solidFill>
          <a:ln w="9525">
            <a:noFill/>
            <a:miter lim="800000"/>
          </a:ln>
          <a:effectLst/>
        </p:spPr>
        <p:txBody>
          <a:bodyPr wrap="none" anchor="ctr"/>
          <a:lstStyle/>
          <a:p>
            <a:endParaRPr lang="zh-CN" altLang="en-US"/>
          </a:p>
        </p:txBody>
      </p:sp>
      <p:sp>
        <p:nvSpPr>
          <p:cNvPr id="1040" name="Rectangle 16"/>
          <p:cNvSpPr>
            <a:spLocks noChangeArrowheads="1"/>
          </p:cNvSpPr>
          <p:nvPr/>
        </p:nvSpPr>
        <p:spPr bwMode="auto">
          <a:xfrm>
            <a:off x="2117" y="6577013"/>
            <a:ext cx="11463867" cy="165100"/>
          </a:xfrm>
          <a:prstGeom prst="rect">
            <a:avLst/>
          </a:prstGeom>
          <a:solidFill>
            <a:srgbClr val="FCC24F"/>
          </a:solidFill>
          <a:ln w="9525">
            <a:noFill/>
            <a:miter lim="800000"/>
          </a:ln>
          <a:effectLst/>
        </p:spPr>
        <p:txBody>
          <a:bodyPr wrap="none" anchor="ctr"/>
          <a:lstStyle/>
          <a:p>
            <a:endParaRPr lang="zh-CN" altLang="en-US"/>
          </a:p>
        </p:txBody>
      </p:sp>
      <p:sp>
        <p:nvSpPr>
          <p:cNvPr id="1041" name="Text Box 17"/>
          <p:cNvSpPr txBox="1">
            <a:spLocks noChangeArrowheads="1"/>
          </p:cNvSpPr>
          <p:nvPr/>
        </p:nvSpPr>
        <p:spPr bwMode="auto">
          <a:xfrm>
            <a:off x="11377084" y="6524625"/>
            <a:ext cx="768349" cy="304800"/>
          </a:xfrm>
          <a:prstGeom prst="rect">
            <a:avLst/>
          </a:prstGeom>
          <a:noFill/>
          <a:ln w="9525">
            <a:noFill/>
            <a:miter lim="800000"/>
          </a:ln>
          <a:effectLst/>
        </p:spPr>
        <p:txBody>
          <a:bodyPr>
            <a:spAutoFit/>
          </a:bodyPr>
          <a:lstStyle/>
          <a:p>
            <a:pPr algn="ctr">
              <a:lnSpc>
                <a:spcPct val="100000"/>
              </a:lnSpc>
              <a:spcBef>
                <a:spcPct val="50000"/>
              </a:spcBef>
              <a:buClrTx/>
              <a:buSzTx/>
              <a:buFontTx/>
              <a:buNone/>
            </a:pPr>
            <a:fld id="{8E6141A4-B4DF-417A-BE19-BD33A1D78EA3}" type="slidenum">
              <a:rPr lang="zh-CN" altLang="en-US" sz="1400" b="0">
                <a:solidFill>
                  <a:srgbClr val="000099"/>
                </a:solidFill>
              </a:rPr>
              <a:t>‹#›</a:t>
            </a:fld>
            <a:endParaRPr lang="en-US" altLang="zh-CN" sz="1400" b="0">
              <a:solidFill>
                <a:srgbClr val="000099"/>
              </a:solidFill>
            </a:endParaRPr>
          </a:p>
        </p:txBody>
      </p:sp>
      <p:pic>
        <p:nvPicPr>
          <p:cNvPr id="1044" name="Picture 20" descr="buaa_1"/>
          <p:cNvPicPr>
            <a:picLocks noChangeAspect="1" noChangeArrowheads="1"/>
          </p:cNvPicPr>
          <p:nvPr/>
        </p:nvPicPr>
        <p:blipFill>
          <a:blip r:embed="rId16" cstate="print"/>
          <a:srcRect/>
          <a:stretch>
            <a:fillRect/>
          </a:stretch>
        </p:blipFill>
        <p:spPr bwMode="auto">
          <a:xfrm>
            <a:off x="1" y="6597650"/>
            <a:ext cx="1775884" cy="2873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lnSpc>
          <a:spcPct val="87000"/>
        </a:lnSpc>
        <a:spcBef>
          <a:spcPct val="0"/>
        </a:spcBef>
        <a:spcAft>
          <a:spcPct val="0"/>
        </a:spcAft>
        <a:defRPr sz="2400" b="1" i="1">
          <a:solidFill>
            <a:srgbClr val="FF0000"/>
          </a:solidFill>
          <a:latin typeface="+mn-lt"/>
          <a:ea typeface="+mj-ea"/>
          <a:cs typeface="+mj-cs"/>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480" indent="-284480" algn="l" rtl="0" eaLnBrk="0" fontAlgn="base" hangingPunct="0">
        <a:spcBef>
          <a:spcPct val="10000"/>
        </a:spcBef>
        <a:spcAft>
          <a:spcPct val="10000"/>
        </a:spcAft>
        <a:buClr>
          <a:srgbClr val="FF0000"/>
        </a:buClr>
        <a:buSzPct val="100000"/>
        <a:buFont typeface="Wingdings" panose="05000000000000000000" pitchFamily="2" charset="2"/>
        <a:buChar char="v"/>
        <a:defRPr sz="2400" b="1">
          <a:solidFill>
            <a:schemeClr val="tx1"/>
          </a:solidFill>
          <a:latin typeface="+mn-lt"/>
          <a:ea typeface="+mn-ea"/>
          <a:cs typeface="+mn-cs"/>
        </a:defRPr>
      </a:lvl1pPr>
      <a:lvl2pPr marL="668655" indent="-193675" algn="l" rtl="0" eaLnBrk="0" fontAlgn="base" hangingPunct="0">
        <a:spcBef>
          <a:spcPct val="10000"/>
        </a:spcBef>
        <a:spcAft>
          <a:spcPct val="10000"/>
        </a:spcAft>
        <a:buClr>
          <a:srgbClr val="001ADC"/>
        </a:buClr>
        <a:buSzPct val="100000"/>
        <a:buFont typeface="Wingdings" panose="05000000000000000000" pitchFamily="2" charset="2"/>
        <a:buChar char="Ø"/>
        <a:defRPr b="1">
          <a:solidFill>
            <a:schemeClr val="tx1"/>
          </a:solidFill>
          <a:latin typeface="+mn-lt"/>
          <a:ea typeface="+mn-ea"/>
        </a:defRPr>
      </a:lvl2pPr>
      <a:lvl3pPr marL="1050925" indent="-192405" algn="l" rtl="0" eaLnBrk="0" fontAlgn="base" hangingPunct="0">
        <a:spcBef>
          <a:spcPct val="10000"/>
        </a:spcBef>
        <a:spcAft>
          <a:spcPct val="10000"/>
        </a:spcAft>
        <a:buClr>
          <a:srgbClr val="05AD01"/>
        </a:buClr>
        <a:buSzPct val="100000"/>
        <a:buFont typeface="Wingdings" panose="05000000000000000000" pitchFamily="2" charset="2"/>
        <a:buChar char="§"/>
        <a:defRPr b="1">
          <a:solidFill>
            <a:schemeClr val="tx1"/>
          </a:solidFill>
          <a:latin typeface="+mn-lt"/>
          <a:ea typeface="+mn-ea"/>
        </a:defRPr>
      </a:lvl3pPr>
      <a:lvl4pPr marL="1968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5019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9591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34163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873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43307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0">
            <a:extLst>
              <a:ext uri="{28A0092B-C50C-407E-A947-70E740481C1C}">
                <a14:useLocalDpi xmlns:a14="http://schemas.microsoft.com/office/drawing/2010/main" val="0"/>
              </a:ext>
            </a:extLst>
          </a:blip>
          <a:srcRect l="19240"/>
          <a:stretch>
            <a:fillRect/>
          </a:stretch>
        </p:blipFill>
        <p:spPr>
          <a:xfrm>
            <a:off x="0" y="0"/>
            <a:ext cx="12192000" cy="692696"/>
          </a:xfrm>
          <a:prstGeom prst="rect">
            <a:avLst/>
          </a:prstGeom>
        </p:spPr>
      </p:pic>
      <p:sp>
        <p:nvSpPr>
          <p:cNvPr id="36867" name="Rectangle 12"/>
          <p:cNvSpPr>
            <a:spLocks noGrp="1" noChangeArrowheads="1"/>
          </p:cNvSpPr>
          <p:nvPr>
            <p:ph type="title"/>
          </p:nvPr>
        </p:nvSpPr>
        <p:spPr bwMode="auto">
          <a:xfrm>
            <a:off x="912284" y="188641"/>
            <a:ext cx="7010400" cy="372603"/>
          </a:xfrm>
          <a:prstGeom prst="rect">
            <a:avLst/>
          </a:prstGeom>
          <a:noFill/>
          <a:ln w="12700">
            <a:noFill/>
            <a:miter lim="800000"/>
          </a:ln>
        </p:spPr>
        <p:txBody>
          <a:bodyPr vert="horz" wrap="square" lIns="63500" tIns="25400" rIns="63500" bIns="25400" numCol="1" anchor="t" anchorCtr="0" compatLnSpc="1">
            <a:spAutoFit/>
          </a:bodyPr>
          <a:lstStyle/>
          <a:p>
            <a:pPr lvl="0"/>
            <a:r>
              <a:rPr lang="zh-CN" altLang="en-US"/>
              <a:t>标题</a:t>
            </a:r>
          </a:p>
        </p:txBody>
      </p:sp>
      <p:sp>
        <p:nvSpPr>
          <p:cNvPr id="36869" name="Rectangle 14"/>
          <p:cNvSpPr>
            <a:spLocks noGrp="1" noChangeArrowheads="1"/>
          </p:cNvSpPr>
          <p:nvPr>
            <p:ph type="body" idx="1"/>
          </p:nvPr>
        </p:nvSpPr>
        <p:spPr bwMode="auto">
          <a:xfrm>
            <a:off x="914400" y="908720"/>
            <a:ext cx="10464800" cy="2359620"/>
          </a:xfrm>
          <a:prstGeom prst="rect">
            <a:avLst/>
          </a:prstGeom>
          <a:noFill/>
          <a:ln w="12700">
            <a:noFill/>
            <a:miter lim="800000"/>
          </a:ln>
        </p:spPr>
        <p:txBody>
          <a:bodyPr vert="horz" wrap="square" lIns="63500" tIns="25400" rIns="63500" bIns="25400" numCol="1" anchor="t" anchorCtr="0" compatLnSpc="1">
            <a:spAutoFit/>
          </a:bodyPr>
          <a:lstStyle/>
          <a:p>
            <a:pPr lvl="0"/>
            <a:r>
              <a:rPr lang="en-US" altLang="zh-CN" dirty="0"/>
              <a:t>This is our 1st Level Bullet</a:t>
            </a:r>
          </a:p>
          <a:p>
            <a:pPr lvl="1"/>
            <a:r>
              <a:rPr lang="en-US" altLang="zh-CN" dirty="0"/>
              <a:t>This is our 2nd level bullet</a:t>
            </a:r>
          </a:p>
          <a:p>
            <a:pPr lvl="2"/>
            <a:r>
              <a:rPr lang="en-US" altLang="zh-CN" dirty="0"/>
              <a:t>This is our 3rd level bullet</a:t>
            </a:r>
          </a:p>
          <a:p>
            <a:pPr lvl="0"/>
            <a:r>
              <a:rPr lang="en-US" altLang="zh-CN" dirty="0"/>
              <a:t>This is our next 1st Level Bullet</a:t>
            </a:r>
          </a:p>
          <a:p>
            <a:pPr lvl="1"/>
            <a:r>
              <a:rPr lang="en-US" altLang="zh-CN" dirty="0"/>
              <a:t>This is our 2nd level bullet</a:t>
            </a:r>
          </a:p>
          <a:p>
            <a:pPr lvl="2"/>
            <a:r>
              <a:rPr lang="en-US" altLang="zh-CN" dirty="0"/>
              <a:t>This is our 3rd level bullet</a:t>
            </a:r>
          </a:p>
        </p:txBody>
      </p:sp>
      <p:sp>
        <p:nvSpPr>
          <p:cNvPr id="12" name="Text Box 17"/>
          <p:cNvSpPr txBox="1">
            <a:spLocks noChangeArrowheads="1"/>
          </p:cNvSpPr>
          <p:nvPr userDrawn="1"/>
        </p:nvSpPr>
        <p:spPr bwMode="auto">
          <a:xfrm>
            <a:off x="11280577" y="6553201"/>
            <a:ext cx="864096" cy="276999"/>
          </a:xfrm>
          <a:prstGeom prst="rect">
            <a:avLst/>
          </a:prstGeom>
          <a:noFill/>
          <a:ln w="9525">
            <a:noFill/>
            <a:miter lim="800000"/>
          </a:ln>
          <a:effectLst/>
        </p:spPr>
        <p:txBody>
          <a:bodyPr wrap="square">
            <a:spAutoFit/>
          </a:bodyPr>
          <a:lstStyle/>
          <a:p>
            <a:pPr algn="ctr">
              <a:lnSpc>
                <a:spcPct val="100000"/>
              </a:lnSpc>
              <a:spcBef>
                <a:spcPct val="50000"/>
              </a:spcBef>
              <a:buClrTx/>
              <a:buSzTx/>
              <a:buFontTx/>
              <a:buNone/>
            </a:pPr>
            <a:fld id="{8E6141A4-B4DF-417A-BE19-BD33A1D78EA3}" type="slidenum">
              <a:rPr lang="zh-CN" altLang="en-US" sz="1200" b="0">
                <a:solidFill>
                  <a:srgbClr val="000099"/>
                </a:solidFill>
                <a:latin typeface="Arial" panose="020B0604020202020204" pitchFamily="34" charset="0"/>
                <a:ea typeface="Yu Gothic" panose="020B0400000000000000" pitchFamily="34" charset="-128"/>
                <a:cs typeface="Arial" panose="020B0604020202020204" pitchFamily="34" charset="0"/>
              </a:rPr>
              <a:t>‹#›</a:t>
            </a:fld>
            <a:endParaRPr lang="en-US" altLang="zh-CN" sz="1200" b="0" dirty="0">
              <a:solidFill>
                <a:srgbClr val="000099"/>
              </a:solidFill>
              <a:latin typeface="Arial" panose="020B0604020202020204" pitchFamily="34" charset="0"/>
              <a:ea typeface="Yu Gothic" panose="020B0400000000000000"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Lst>
  <p:txStyles>
    <p:titleStyle>
      <a:lvl1pPr algn="l" rtl="0" eaLnBrk="0" fontAlgn="base" hangingPunct="0">
        <a:lnSpc>
          <a:spcPct val="87000"/>
        </a:lnSpc>
        <a:spcBef>
          <a:spcPct val="0"/>
        </a:spcBef>
        <a:spcAft>
          <a:spcPct val="0"/>
        </a:spcAft>
        <a:defRPr sz="2400" b="1" i="0">
          <a:solidFill>
            <a:srgbClr val="FF0000"/>
          </a:solidFill>
          <a:latin typeface="+mj-lt"/>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480" indent="-284480" algn="l" rtl="0" eaLnBrk="0" fontAlgn="base" hangingPunct="0">
        <a:lnSpc>
          <a:spcPct val="125000"/>
        </a:lnSpc>
        <a:spcBef>
          <a:spcPts val="0"/>
        </a:spcBef>
        <a:spcAft>
          <a:spcPct val="0"/>
        </a:spcAft>
        <a:buClr>
          <a:srgbClr val="FF0000"/>
        </a:buClr>
        <a:buSzPct val="100000"/>
        <a:buFont typeface="Wingdings" panose="05000000000000000000" pitchFamily="2" charset="2"/>
        <a:buChar char="v"/>
        <a:defRPr sz="2400" b="1">
          <a:solidFill>
            <a:schemeClr val="tx1"/>
          </a:solidFill>
          <a:latin typeface="+mn-lt"/>
          <a:ea typeface="+mn-ea"/>
          <a:cs typeface="+mn-cs"/>
        </a:defRPr>
      </a:lvl1pPr>
      <a:lvl2pPr marL="668655" indent="-193675" algn="l" rtl="0" eaLnBrk="0" fontAlgn="base" hangingPunct="0">
        <a:lnSpc>
          <a:spcPct val="125000"/>
        </a:lnSpc>
        <a:spcBef>
          <a:spcPts val="0"/>
        </a:spcBef>
        <a:spcAft>
          <a:spcPct val="0"/>
        </a:spcAft>
        <a:buClr>
          <a:srgbClr val="001ADC"/>
        </a:buClr>
        <a:buSzPct val="100000"/>
        <a:buFont typeface="Wingdings" panose="05000000000000000000" pitchFamily="2" charset="2"/>
        <a:buChar char="Ø"/>
        <a:defRPr b="1">
          <a:solidFill>
            <a:schemeClr val="tx1"/>
          </a:solidFill>
          <a:latin typeface="+mn-lt"/>
        </a:defRPr>
      </a:lvl2pPr>
      <a:lvl3pPr marL="1050925" indent="-192405" algn="l" rtl="0" eaLnBrk="0" fontAlgn="base" hangingPunct="0">
        <a:lnSpc>
          <a:spcPct val="125000"/>
        </a:lnSpc>
        <a:spcBef>
          <a:spcPts val="0"/>
        </a:spcBef>
        <a:spcAft>
          <a:spcPct val="0"/>
        </a:spcAft>
        <a:buClr>
          <a:srgbClr val="05AD01"/>
        </a:buClr>
        <a:buSzPct val="100000"/>
        <a:buFont typeface="Wingdings" panose="05000000000000000000"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6.xml"/><Relationship Id="rId1" Type="http://schemas.openxmlformats.org/officeDocument/2006/relationships/tags" Target="../tags/tag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t>计算机硬件基础（软件专业）</a:t>
            </a:r>
          </a:p>
        </p:txBody>
      </p:sp>
      <p:sp>
        <p:nvSpPr>
          <p:cNvPr id="6" name="Subtitle 5"/>
          <p:cNvSpPr>
            <a:spLocks noGrp="1" noChangeArrowheads="1"/>
          </p:cNvSpPr>
          <p:nvPr>
            <p:ph type="subTitle" idx="4294967295"/>
          </p:nvPr>
        </p:nvSpPr>
        <p:spPr bwMode="auto">
          <a:xfrm>
            <a:off x="2927648" y="3861048"/>
            <a:ext cx="6336704" cy="1429498"/>
          </a:xfrm>
          <a:prstGeom prst="rect">
            <a:avLst/>
          </a:prstGeom>
          <a:noFill/>
          <a:ln>
            <a:miter lim="800000"/>
            <a:headEnd/>
            <a:tailEnd/>
          </a:ln>
        </p:spPr>
        <p:txBody>
          <a:bodyPr vert="horz" wrap="square" lIns="47625" tIns="72900" rIns="47625" bIns="72900" numCol="1" anchor="t" anchorCtr="0" compatLnSpc="1">
            <a:prstTxWarp prst="textNoShape">
              <a:avLst/>
            </a:prstTxWarp>
            <a:spAutoFit/>
          </a:bodyPr>
          <a:lstStyle/>
          <a:p>
            <a:pPr marL="0" indent="0" algn="ctr">
              <a:lnSpc>
                <a:spcPct val="150000"/>
              </a:lnSpc>
              <a:spcAft>
                <a:spcPts val="0"/>
              </a:spcAft>
              <a:buNone/>
            </a:pPr>
            <a:r>
              <a:rPr lang="zh-CN" altLang="en-US" sz="3600" baseline="30000" dirty="0">
                <a:solidFill>
                  <a:srgbClr val="000066"/>
                </a:solidFill>
                <a:latin typeface="华文楷体" pitchFamily="2" charset="-122"/>
                <a:ea typeface="华文楷体" pitchFamily="2" charset="-122"/>
                <a:cs typeface="Times New Roman" pitchFamily="18" charset="0"/>
              </a:rPr>
              <a:t>牛建伟  刘子鹏</a:t>
            </a:r>
            <a:endParaRPr lang="en-US" altLang="zh-CN" sz="3600" baseline="30000" dirty="0">
              <a:solidFill>
                <a:srgbClr val="000066"/>
              </a:solidFill>
              <a:latin typeface="华文楷体" pitchFamily="2" charset="-122"/>
              <a:ea typeface="华文楷体" pitchFamily="2" charset="-122"/>
              <a:cs typeface="Times New Roman" pitchFamily="18" charset="0"/>
            </a:endParaRPr>
          </a:p>
          <a:p>
            <a:pPr marL="0" indent="0" algn="ctr">
              <a:lnSpc>
                <a:spcPct val="150000"/>
              </a:lnSpc>
              <a:spcAft>
                <a:spcPts val="0"/>
              </a:spcAft>
              <a:buNone/>
            </a:pPr>
            <a:r>
              <a:rPr lang="en-US" altLang="zh-CN" sz="3600" b="0" baseline="30000" dirty="0">
                <a:solidFill>
                  <a:srgbClr val="000066"/>
                </a:solidFill>
                <a:latin typeface="华文楷体" pitchFamily="2" charset="-122"/>
                <a:ea typeface="华文楷体" pitchFamily="2" charset="-122"/>
                <a:cs typeface="Times New Roman" pitchFamily="18" charset="0"/>
              </a:rPr>
              <a:t>2025</a:t>
            </a:r>
            <a:r>
              <a:rPr lang="zh-CN" altLang="en-US" sz="3600" b="0" baseline="30000" dirty="0">
                <a:solidFill>
                  <a:srgbClr val="000066"/>
                </a:solidFill>
                <a:latin typeface="华文楷体" pitchFamily="2" charset="-122"/>
                <a:ea typeface="华文楷体" pitchFamily="2" charset="-122"/>
                <a:cs typeface="Times New Roman" pitchFamily="18" charset="0"/>
              </a:rPr>
              <a:t>秋季</a:t>
            </a:r>
            <a:endParaRPr lang="en-US" altLang="zh-CN" b="0" dirty="0">
              <a:solidFill>
                <a:srgbClr val="000066"/>
              </a:solidFill>
              <a:ea typeface="华文楷体" pitchFamily="2" charset="-122"/>
              <a:cs typeface="Times New Roman" panose="02020603050405020304" pitchFamily="18" charset="0"/>
            </a:endParaRPr>
          </a:p>
        </p:txBody>
      </p:sp>
    </p:spTree>
    <p:extLst>
      <p:ext uri="{BB962C8B-B14F-4D97-AF65-F5344CB8AC3E}">
        <p14:creationId xmlns:p14="http://schemas.microsoft.com/office/powerpoint/2010/main" val="213002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423556" y="1124744"/>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第五讲：</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308985" y="1931670"/>
            <a:ext cx="5932170" cy="4433570"/>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ct val="65000"/>
              </a:spcBef>
              <a:buClr>
                <a:srgbClr val="FF0000"/>
              </a:buClr>
              <a:buFont typeface="+mj-ea"/>
              <a:buAutoNum type="ea1JpnChsDbPeriod"/>
            </a:pPr>
            <a:r>
              <a:rPr lang="zh-CN" altLang="en-US" sz="2400" dirty="0"/>
              <a:t>处理器设计概述</a:t>
            </a:r>
          </a:p>
          <a:p>
            <a:pPr marL="609600" indent="-609600">
              <a:lnSpc>
                <a:spcPct val="75000"/>
              </a:lnSpc>
              <a:spcBef>
                <a:spcPct val="65000"/>
              </a:spcBef>
              <a:buClr>
                <a:srgbClr val="FF0000"/>
              </a:buClr>
              <a:buFont typeface="+mj-ea"/>
              <a:buAutoNum type="ea1JpnChsDbPeriod"/>
            </a:pPr>
            <a:r>
              <a:rPr lang="en-US" altLang="zh-CN" sz="2400" dirty="0"/>
              <a:t>MIPS</a:t>
            </a:r>
            <a:r>
              <a:rPr lang="zh-CN" altLang="en-US" sz="2400" dirty="0"/>
              <a:t>模型机</a:t>
            </a:r>
          </a:p>
          <a:p>
            <a:pPr marL="609600" indent="-609600">
              <a:lnSpc>
                <a:spcPct val="75000"/>
              </a:lnSpc>
              <a:spcBef>
                <a:spcPct val="65000"/>
              </a:spcBef>
              <a:buClr>
                <a:srgbClr val="FF0000"/>
              </a:buClr>
              <a:buFont typeface="+mj-ea"/>
              <a:buAutoNum type="ea1JpnChsDbPeriod"/>
            </a:pPr>
            <a:r>
              <a:rPr lang="en-US" altLang="zh-CN" sz="2400" dirty="0"/>
              <a:t>MIPS</a:t>
            </a:r>
            <a:r>
              <a:rPr lang="zh-CN" altLang="en-US" sz="2400" dirty="0"/>
              <a:t>单周期处理器设计</a:t>
            </a:r>
          </a:p>
          <a:p>
            <a:pPr marL="609600" indent="-609600">
              <a:lnSpc>
                <a:spcPct val="75000"/>
              </a:lnSpc>
              <a:spcBef>
                <a:spcPct val="65000"/>
              </a:spcBef>
              <a:buClr>
                <a:srgbClr val="FF0000"/>
              </a:buClr>
              <a:buFont typeface="+mj-ea"/>
              <a:buAutoNum type="ea1JpnChsDbPeriod"/>
            </a:pPr>
            <a:r>
              <a:rPr lang="zh-CN" altLang="en-US" sz="2400" dirty="0"/>
              <a:t>流水线及其冒险</a:t>
            </a:r>
          </a:p>
          <a:p>
            <a:pPr marL="609600" indent="-609600">
              <a:lnSpc>
                <a:spcPct val="75000"/>
              </a:lnSpc>
              <a:spcBef>
                <a:spcPct val="65000"/>
              </a:spcBef>
              <a:buClr>
                <a:srgbClr val="FF0000"/>
              </a:buClr>
              <a:buFont typeface="+mj-ea"/>
              <a:buAutoNum type="ea1JpnChsDbPeriod"/>
            </a:pPr>
            <a:r>
              <a:rPr lang="zh-CN" altLang="en-US" sz="2400" dirty="0">
                <a:solidFill>
                  <a:schemeClr val="tx2">
                    <a:lumMod val="75000"/>
                    <a:lumOff val="25000"/>
                  </a:schemeClr>
                </a:solidFill>
                <a:sym typeface="+mn-ea"/>
              </a:rPr>
              <a:t>MIPS异常/中断处理</a:t>
            </a:r>
            <a:endParaRPr lang="zh-CN" altLang="en-US" sz="2400" dirty="0">
              <a:sym typeface="+mn-ea"/>
            </a:endParaRPr>
          </a:p>
          <a:p>
            <a:pPr marL="1066800" lvl="1" indent="-609600">
              <a:lnSpc>
                <a:spcPct val="75000"/>
              </a:lnSpc>
              <a:spcBef>
                <a:spcPct val="65000"/>
              </a:spcBef>
              <a:buClr>
                <a:srgbClr val="FF0000"/>
              </a:buClr>
              <a:buFont typeface="+mj-lt"/>
              <a:buAutoNum type="arabicPeriod"/>
            </a:pPr>
            <a:r>
              <a:rPr lang="zh-CN" altLang="en-US" sz="2000" dirty="0">
                <a:solidFill>
                  <a:schemeClr val="tx2">
                    <a:lumMod val="75000"/>
                    <a:lumOff val="25000"/>
                  </a:schemeClr>
                </a:solidFill>
                <a:sym typeface="+mn-ea"/>
              </a:rPr>
              <a:t>MIPS中断/异常</a:t>
            </a:r>
            <a:endParaRPr lang="zh-CN" altLang="en-US" sz="2000" dirty="0">
              <a:solidFill>
                <a:schemeClr val="tx2">
                  <a:lumMod val="75000"/>
                  <a:lumOff val="25000"/>
                </a:schemeClr>
              </a:solidFill>
            </a:endParaRPr>
          </a:p>
          <a:p>
            <a:pPr marL="1066800" lvl="1" indent="-609600">
              <a:lnSpc>
                <a:spcPct val="75000"/>
              </a:lnSpc>
              <a:spcBef>
                <a:spcPct val="65000"/>
              </a:spcBef>
              <a:buClr>
                <a:srgbClr val="FF0000"/>
              </a:buClr>
              <a:buFont typeface="+mj-lt"/>
              <a:buAutoNum type="arabicPeriod"/>
            </a:pPr>
            <a:r>
              <a:rPr lang="zh-CN" altLang="en-US" sz="2000" dirty="0">
                <a:solidFill>
                  <a:schemeClr val="tx2">
                    <a:lumMod val="75000"/>
                    <a:lumOff val="25000"/>
                  </a:schemeClr>
                </a:solidFill>
                <a:sym typeface="+mn-ea"/>
              </a:rPr>
              <a:t>支持中断/异常的数据通路</a:t>
            </a:r>
            <a:endParaRPr lang="zh-CN" altLang="en-US" sz="2000" dirty="0">
              <a:solidFill>
                <a:schemeClr val="tx2">
                  <a:lumMod val="75000"/>
                  <a:lumOff val="25000"/>
                </a:schemeClr>
              </a:solidFill>
            </a:endParaRPr>
          </a:p>
          <a:p>
            <a:pPr marL="1066800" lvl="1" indent="-609600">
              <a:lnSpc>
                <a:spcPct val="75000"/>
              </a:lnSpc>
              <a:spcBef>
                <a:spcPct val="65000"/>
              </a:spcBef>
              <a:buClr>
                <a:srgbClr val="FF0000"/>
              </a:buClr>
              <a:buFont typeface="+mj-lt"/>
              <a:buAutoNum type="arabicPeriod"/>
            </a:pPr>
            <a:r>
              <a:rPr lang="zh-CN" altLang="en-US" sz="2000" dirty="0">
                <a:solidFill>
                  <a:schemeClr val="tx2">
                    <a:lumMod val="75000"/>
                    <a:lumOff val="25000"/>
                  </a:schemeClr>
                </a:solidFill>
                <a:sym typeface="+mn-ea"/>
              </a:rPr>
              <a:t>软硬件配合的中断响应机制</a:t>
            </a:r>
            <a:endParaRPr lang="zh-CN" altLang="en-US" sz="2000" dirty="0">
              <a:solidFill>
                <a:schemeClr val="tx2">
                  <a:lumMod val="75000"/>
                  <a:lumOff val="25000"/>
                </a:schemeClr>
              </a:solidFill>
            </a:endParaRPr>
          </a:p>
          <a:p>
            <a:pPr marL="1066800" lvl="1" indent="-609600">
              <a:lnSpc>
                <a:spcPct val="75000"/>
              </a:lnSpc>
              <a:spcBef>
                <a:spcPct val="65000"/>
              </a:spcBef>
              <a:buClr>
                <a:srgbClr val="FF0000"/>
              </a:buClr>
              <a:buFont typeface="+mj-lt"/>
              <a:buAutoNum type="arabicPeriod"/>
            </a:pPr>
            <a:r>
              <a:rPr lang="zh-CN" altLang="en-US" sz="2000" dirty="0">
                <a:solidFill>
                  <a:schemeClr val="tx2">
                    <a:lumMod val="75000"/>
                    <a:lumOff val="25000"/>
                  </a:schemeClr>
                </a:solidFill>
                <a:sym typeface="+mn-ea"/>
              </a:rPr>
              <a:t>CP0设计</a:t>
            </a:r>
            <a:endParaRPr lang="zh-CN" altLang="en-US" sz="2000" dirty="0">
              <a:solidFill>
                <a:schemeClr val="tx2">
                  <a:lumMod val="75000"/>
                  <a:lumOff val="2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a:xfrm>
            <a:off x="-211" y="300401"/>
            <a:ext cx="7010400" cy="371475"/>
          </a:xfrm>
        </p:spPr>
        <p:txBody>
          <a:bodyPr/>
          <a:lstStyle/>
          <a:p>
            <a:r>
              <a:rPr lang="en-US" dirty="0">
                <a:solidFill>
                  <a:schemeClr val="accent1"/>
                </a:solidFill>
              </a:rPr>
              <a:t>5.1 </a:t>
            </a:r>
            <a:r>
              <a:rPr lang="en-US" altLang="zh-CN" dirty="0">
                <a:sym typeface="+mn-ea"/>
              </a:rPr>
              <a:t>MIPS中断/异常--</a:t>
            </a:r>
            <a:r>
              <a:rPr lang="en-US" dirty="0">
                <a:solidFill>
                  <a:schemeClr val="accent1"/>
                </a:solidFill>
              </a:rPr>
              <a:t>Exceptions and Interrupts</a:t>
            </a:r>
            <a:endParaRPr lang="en-AU" dirty="0">
              <a:solidFill>
                <a:schemeClr val="accent1"/>
              </a:solidFill>
            </a:endParaRPr>
          </a:p>
        </p:txBody>
      </p:sp>
      <p:sp>
        <p:nvSpPr>
          <p:cNvPr id="452611" name="Rectangle 3"/>
          <p:cNvSpPr>
            <a:spLocks noGrp="1" noChangeArrowheads="1"/>
          </p:cNvSpPr>
          <p:nvPr>
            <p:ph idx="1"/>
          </p:nvPr>
        </p:nvSpPr>
        <p:spPr>
          <a:xfrm>
            <a:off x="263352" y="908720"/>
            <a:ext cx="11665296" cy="4937760"/>
          </a:xfrm>
        </p:spPr>
        <p:txBody>
          <a:bodyPr>
            <a:normAutofit fontScale="92500" lnSpcReduction="20000"/>
          </a:bodyPr>
          <a:lstStyle/>
          <a:p>
            <a:r>
              <a:rPr lang="zh-CN" altLang="en-US" sz="2800" dirty="0"/>
              <a:t>异常和中断的概念</a:t>
            </a:r>
            <a:endParaRPr lang="en-US" altLang="zh-CN" sz="2800" dirty="0"/>
          </a:p>
          <a:p>
            <a:pPr lvl="1"/>
            <a:r>
              <a:rPr lang="zh-CN" altLang="en-US" sz="2400" dirty="0"/>
              <a:t>在</a:t>
            </a:r>
            <a:r>
              <a:rPr lang="en-US" altLang="zh-CN" sz="2400" dirty="0"/>
              <a:t>MIPS ISA</a:t>
            </a:r>
            <a:r>
              <a:rPr lang="zh-CN" altLang="en-US" sz="2400" dirty="0"/>
              <a:t>中，</a:t>
            </a:r>
            <a:r>
              <a:rPr lang="en-US" altLang="zh-CN" sz="2400" dirty="0"/>
              <a:t>CPU</a:t>
            </a:r>
            <a:r>
              <a:rPr lang="zh-CN" altLang="en-US" sz="2400" dirty="0"/>
              <a:t>内部的或者外部的非期望事件统称为“异常”</a:t>
            </a:r>
            <a:endParaRPr lang="en-US" altLang="zh-CN" sz="2400" dirty="0"/>
          </a:p>
          <a:p>
            <a:pPr lvl="1"/>
            <a:r>
              <a:rPr lang="zh-CN" altLang="en-US" sz="2400" dirty="0"/>
              <a:t>在</a:t>
            </a:r>
            <a:r>
              <a:rPr lang="en-US" altLang="zh-CN" sz="2400" dirty="0"/>
              <a:t>X86 ISA</a:t>
            </a:r>
            <a:r>
              <a:rPr lang="zh-CN" altLang="en-US" sz="2400" dirty="0"/>
              <a:t>中，由于</a:t>
            </a:r>
            <a:r>
              <a:rPr lang="en-US" altLang="zh-CN" sz="2400" dirty="0"/>
              <a:t>CPU</a:t>
            </a:r>
            <a:r>
              <a:rPr lang="zh-CN" altLang="en-US" sz="2400" dirty="0"/>
              <a:t>执行某些指令带来的非期望事件称之为“异常”</a:t>
            </a:r>
            <a:r>
              <a:rPr lang="en-US" altLang="zh-CN" sz="2400" dirty="0"/>
              <a:t>(</a:t>
            </a:r>
            <a:r>
              <a:rPr lang="zh-CN" altLang="en-US" sz="2400" dirty="0"/>
              <a:t>狭义概念的异常</a:t>
            </a:r>
            <a:r>
              <a:rPr lang="en-US" altLang="zh-CN" sz="2400" dirty="0"/>
              <a:t>)</a:t>
            </a:r>
            <a:r>
              <a:rPr lang="zh-CN" altLang="en-US" sz="2400" dirty="0"/>
              <a:t>，由外部</a:t>
            </a:r>
            <a:r>
              <a:rPr lang="en-US" altLang="zh-CN" sz="2400" dirty="0"/>
              <a:t>I/O</a:t>
            </a:r>
            <a:r>
              <a:rPr lang="zh-CN" altLang="en-US" sz="2400" dirty="0"/>
              <a:t>设备产生的非期望事件称之为“中断”</a:t>
            </a:r>
            <a:endParaRPr lang="en-US" altLang="zh-CN" sz="2400" dirty="0"/>
          </a:p>
          <a:p>
            <a:pPr lvl="1"/>
            <a:r>
              <a:rPr lang="zh-CN" altLang="en-US" sz="2400" dirty="0"/>
              <a:t>本课程采用</a:t>
            </a:r>
            <a:r>
              <a:rPr lang="en-US" altLang="zh-CN" sz="2400" dirty="0"/>
              <a:t>MIPS </a:t>
            </a:r>
            <a:r>
              <a:rPr lang="zh-CN" altLang="en-US" sz="2400" dirty="0"/>
              <a:t>体系的说法，即“异常”和“中断”统称为异常</a:t>
            </a:r>
            <a:endParaRPr lang="en-US" sz="2400" dirty="0"/>
          </a:p>
          <a:p>
            <a:r>
              <a:rPr lang="zh-CN" altLang="en-US" sz="2800" dirty="0"/>
              <a:t>狭义意义上的异常来源于</a:t>
            </a:r>
            <a:r>
              <a:rPr lang="en-US" sz="2800" dirty="0"/>
              <a:t>CPU</a:t>
            </a:r>
            <a:r>
              <a:rPr lang="zh-CN" altLang="en-US" sz="2800" dirty="0"/>
              <a:t>内部</a:t>
            </a:r>
            <a:r>
              <a:rPr lang="en-US" sz="2800" dirty="0"/>
              <a:t> </a:t>
            </a:r>
          </a:p>
          <a:p>
            <a:pPr lvl="1"/>
            <a:r>
              <a:rPr lang="zh-CN" altLang="en-US" sz="2400" dirty="0"/>
              <a:t>例如，</a:t>
            </a:r>
            <a:r>
              <a:rPr lang="en-US" sz="2400" dirty="0"/>
              <a:t>undefined opcode, overflow, </a:t>
            </a:r>
            <a:r>
              <a:rPr lang="en-US" sz="2400" dirty="0" err="1"/>
              <a:t>syscall</a:t>
            </a:r>
            <a:r>
              <a:rPr lang="en-US" sz="2400" dirty="0"/>
              <a:t>, TLB Miss</a:t>
            </a:r>
            <a:r>
              <a:rPr lang="zh-CN" altLang="en-US" sz="2400" dirty="0"/>
              <a:t>，</a:t>
            </a:r>
            <a:r>
              <a:rPr lang="en-US" altLang="zh-CN" sz="2400" dirty="0"/>
              <a:t>page fault</a:t>
            </a:r>
            <a:r>
              <a:rPr lang="zh-CN" altLang="en-US" sz="2400" dirty="0"/>
              <a:t>，</a:t>
            </a:r>
            <a:r>
              <a:rPr lang="en-US" altLang="zh-CN" sz="2400" dirty="0" err="1"/>
              <a:t>Segfault</a:t>
            </a:r>
            <a:r>
              <a:rPr lang="zh-CN" altLang="en-US" sz="2400" dirty="0"/>
              <a:t>等</a:t>
            </a:r>
            <a:endParaRPr lang="en-US" sz="2400" dirty="0"/>
          </a:p>
          <a:p>
            <a:r>
              <a:rPr lang="zh-CN" altLang="en-US" sz="2800" dirty="0"/>
              <a:t>中断</a:t>
            </a:r>
            <a:endParaRPr lang="en-US" sz="2800" dirty="0"/>
          </a:p>
          <a:p>
            <a:pPr lvl="1"/>
            <a:r>
              <a:rPr lang="zh-CN" altLang="en-US" sz="2400" dirty="0"/>
              <a:t>产生于外部</a:t>
            </a:r>
            <a:r>
              <a:rPr lang="en-US" sz="2400" dirty="0"/>
              <a:t>I/O</a:t>
            </a:r>
            <a:r>
              <a:rPr lang="zh-CN" altLang="en-US" sz="2400" dirty="0"/>
              <a:t>控制器</a:t>
            </a:r>
            <a:endParaRPr lang="en-US" sz="2400" dirty="0"/>
          </a:p>
          <a:p>
            <a:r>
              <a:rPr lang="zh-CN" altLang="en-US" sz="2800" dirty="0"/>
              <a:t>高效处理异常是一件困难的事情</a:t>
            </a:r>
            <a:r>
              <a:rPr lang="en-US" sz="2800" dirty="0"/>
              <a:t>!</a:t>
            </a:r>
          </a:p>
          <a:p>
            <a:pPr lvl="1"/>
            <a:r>
              <a:rPr lang="zh-CN" altLang="en-US" sz="2600" dirty="0"/>
              <a:t>出现异常的情况复杂：同步异常，异步异常</a:t>
            </a:r>
            <a:endParaRPr lang="en-US" altLang="zh-CN" sz="2600" dirty="0"/>
          </a:p>
          <a:p>
            <a:pPr lvl="1"/>
            <a:r>
              <a:rPr lang="zh-CN" altLang="en-US" sz="2600" dirty="0"/>
              <a:t>在流水线中执行指令的条数多</a:t>
            </a:r>
            <a:endParaRPr lang="en-AU"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9" name="Rectangle 3"/>
          <p:cNvSpPr>
            <a:spLocks noGrp="1" noChangeArrowheads="1"/>
          </p:cNvSpPr>
          <p:nvPr>
            <p:ph idx="1"/>
          </p:nvPr>
        </p:nvSpPr>
        <p:spPr>
          <a:xfrm>
            <a:off x="479376" y="819149"/>
            <a:ext cx="11377264" cy="4937760"/>
          </a:xfrm>
        </p:spPr>
        <p:txBody>
          <a:bodyPr>
            <a:normAutofit/>
          </a:bodyPr>
          <a:lstStyle/>
          <a:p>
            <a:r>
              <a:rPr lang="zh-CN" altLang="en-US" dirty="0"/>
              <a:t>在</a:t>
            </a:r>
            <a:r>
              <a:rPr lang="en-US" dirty="0"/>
              <a:t>MIPS</a:t>
            </a:r>
            <a:r>
              <a:rPr lang="zh-CN" altLang="en-US" dirty="0"/>
              <a:t>中</a:t>
            </a:r>
            <a:r>
              <a:rPr lang="en-US" dirty="0"/>
              <a:t>, </a:t>
            </a:r>
            <a:r>
              <a:rPr lang="zh-CN" altLang="en-US" dirty="0"/>
              <a:t>异常是由协处理器（</a:t>
            </a:r>
            <a:r>
              <a:rPr lang="en-US" dirty="0"/>
              <a:t>Coprocessor</a:t>
            </a:r>
            <a:r>
              <a:rPr lang="zh-CN" altLang="en-US" dirty="0"/>
              <a:t>）</a:t>
            </a:r>
            <a:r>
              <a:rPr lang="en-US" dirty="0"/>
              <a:t> CP0</a:t>
            </a:r>
            <a:r>
              <a:rPr lang="zh-CN" altLang="en-US" dirty="0"/>
              <a:t>来管理的</a:t>
            </a:r>
            <a:endParaRPr lang="en-US" dirty="0"/>
          </a:p>
          <a:p>
            <a:r>
              <a:rPr lang="zh-CN" altLang="en-US" dirty="0"/>
              <a:t>当异常发生时，产生异常（或被中断）的指令地址保存在</a:t>
            </a:r>
            <a:r>
              <a:rPr lang="en-US" altLang="zh-CN" dirty="0"/>
              <a:t>CP0</a:t>
            </a:r>
            <a:r>
              <a:rPr lang="zh-CN" altLang="en-US" dirty="0"/>
              <a:t>的</a:t>
            </a:r>
            <a:r>
              <a:rPr lang="en-US" altLang="zh-CN" dirty="0"/>
              <a:t>EPC</a:t>
            </a:r>
            <a:r>
              <a:rPr lang="zh-CN" altLang="en-US" dirty="0"/>
              <a:t>寄存器中</a:t>
            </a:r>
            <a:endParaRPr lang="en-US" dirty="0"/>
          </a:p>
          <a:p>
            <a:pPr lvl="1"/>
            <a:r>
              <a:rPr lang="en-US" dirty="0">
                <a:solidFill>
                  <a:srgbClr val="FF0000"/>
                </a:solidFill>
              </a:rPr>
              <a:t>Exception Program Counter (EPC)</a:t>
            </a:r>
          </a:p>
          <a:p>
            <a:r>
              <a:rPr lang="zh-CN" altLang="en-US" dirty="0"/>
              <a:t>保存产出异常的原因</a:t>
            </a:r>
            <a:endParaRPr lang="en-US" dirty="0"/>
          </a:p>
          <a:p>
            <a:pPr lvl="1"/>
            <a:r>
              <a:rPr lang="zh-CN" altLang="en-US" dirty="0"/>
              <a:t>在</a:t>
            </a:r>
            <a:r>
              <a:rPr lang="en-US" dirty="0"/>
              <a:t>MIPS</a:t>
            </a:r>
            <a:r>
              <a:rPr lang="zh-CN" altLang="en-US" dirty="0"/>
              <a:t>中</a:t>
            </a:r>
            <a:r>
              <a:rPr lang="en-US" dirty="0"/>
              <a:t>: </a:t>
            </a:r>
            <a:r>
              <a:rPr lang="zh-CN" altLang="en-US" dirty="0"/>
              <a:t>该原因保存在</a:t>
            </a:r>
            <a:r>
              <a:rPr lang="en-US" altLang="zh-CN" dirty="0"/>
              <a:t>CP0</a:t>
            </a:r>
            <a:r>
              <a:rPr lang="zh-CN" altLang="en-US" dirty="0"/>
              <a:t>的</a:t>
            </a:r>
            <a:r>
              <a:rPr lang="en-US" dirty="0">
                <a:solidFill>
                  <a:srgbClr val="FF0000"/>
                </a:solidFill>
              </a:rPr>
              <a:t>Cause </a:t>
            </a:r>
            <a:r>
              <a:rPr lang="zh-CN" altLang="en-US" dirty="0"/>
              <a:t>寄存器中</a:t>
            </a:r>
            <a:endParaRPr lang="en-US" dirty="0"/>
          </a:p>
          <a:p>
            <a:pPr lvl="1"/>
            <a:r>
              <a:rPr lang="zh-CN" altLang="en-US" dirty="0"/>
              <a:t>在一些简单的实现中</a:t>
            </a:r>
            <a:r>
              <a:rPr lang="en-US" dirty="0"/>
              <a:t>, </a:t>
            </a:r>
            <a:r>
              <a:rPr lang="zh-CN" altLang="en-US" dirty="0"/>
              <a:t>只使用</a:t>
            </a:r>
            <a:r>
              <a:rPr lang="en-US" dirty="0"/>
              <a:t>1-bit </a:t>
            </a:r>
            <a:r>
              <a:rPr lang="zh-CN" altLang="en-US" dirty="0"/>
              <a:t>信息表示异常来源</a:t>
            </a:r>
            <a:r>
              <a:rPr lang="en-US" dirty="0"/>
              <a:t> </a:t>
            </a:r>
            <a:br>
              <a:rPr lang="en-US" dirty="0"/>
            </a:br>
            <a:r>
              <a:rPr lang="zh-CN" altLang="en-US" dirty="0"/>
              <a:t>例如，</a:t>
            </a:r>
            <a:r>
              <a:rPr lang="en-US" dirty="0"/>
              <a:t>0 for undefined opcode, 1 for overflow</a:t>
            </a:r>
          </a:p>
          <a:p>
            <a:r>
              <a:rPr lang="zh-CN" altLang="en-US" dirty="0"/>
              <a:t>异常产生后，</a:t>
            </a:r>
            <a:r>
              <a:rPr lang="en-US" altLang="zh-CN" dirty="0"/>
              <a:t>CPU</a:t>
            </a:r>
            <a:r>
              <a:rPr lang="zh-CN" altLang="en-US" dirty="0"/>
              <a:t>控制转移到异常处理程序（</a:t>
            </a:r>
            <a:r>
              <a:rPr lang="en-US" altLang="zh-CN" i="1" dirty="0">
                <a:solidFill>
                  <a:srgbClr val="FF0000"/>
                </a:solidFill>
              </a:rPr>
              <a:t> </a:t>
            </a:r>
            <a:r>
              <a:rPr lang="en-US" altLang="zh-CN" dirty="0">
                <a:solidFill>
                  <a:srgbClr val="FF0000"/>
                </a:solidFill>
              </a:rPr>
              <a:t>exception handler </a:t>
            </a:r>
            <a:r>
              <a:rPr lang="zh-CN" altLang="en-US" dirty="0"/>
              <a:t>）的首地址</a:t>
            </a:r>
            <a:endParaRPr lang="en-US" altLang="zh-CN" dirty="0"/>
          </a:p>
          <a:p>
            <a:pPr lvl="1"/>
            <a:r>
              <a:rPr lang="en-US" dirty="0"/>
              <a:t>0x8000 0180(</a:t>
            </a:r>
            <a:r>
              <a:rPr lang="en-US" altLang="zh-CN" dirty="0"/>
              <a:t>cached </a:t>
            </a:r>
            <a:r>
              <a:rPr lang="zh-CN" altLang="en-US" dirty="0"/>
              <a:t>模式，有</a:t>
            </a:r>
            <a:r>
              <a:rPr lang="en-US" altLang="zh-CN" dirty="0"/>
              <a:t>OS</a:t>
            </a:r>
            <a:r>
              <a:rPr lang="zh-CN" altLang="en-US" dirty="0"/>
              <a:t>），或者</a:t>
            </a:r>
            <a:r>
              <a:rPr lang="en-US" altLang="zh-CN" dirty="0"/>
              <a:t>0xBFC00 0400</a:t>
            </a:r>
            <a:r>
              <a:rPr lang="zh-CN" altLang="en-US" dirty="0"/>
              <a:t>（</a:t>
            </a:r>
            <a:r>
              <a:rPr lang="en-US" altLang="zh-CN" dirty="0" err="1"/>
              <a:t>uncached</a:t>
            </a:r>
            <a:r>
              <a:rPr lang="zh-CN" altLang="en-US" dirty="0"/>
              <a:t>模式，无</a:t>
            </a:r>
            <a:r>
              <a:rPr lang="en-US" altLang="zh-CN" dirty="0"/>
              <a:t>OS)</a:t>
            </a:r>
            <a:endParaRPr lang="en-US" baseline="-25000" dirty="0"/>
          </a:p>
        </p:txBody>
      </p:sp>
      <p:sp>
        <p:nvSpPr>
          <p:cNvPr id="2" name="TextBox 1"/>
          <p:cNvSpPr txBox="1"/>
          <p:nvPr/>
        </p:nvSpPr>
        <p:spPr>
          <a:xfrm>
            <a:off x="1775397" y="4509120"/>
            <a:ext cx="8857230" cy="1791260"/>
          </a:xfrm>
          <a:prstGeom prst="rect">
            <a:avLst/>
          </a:prstGeom>
          <a:solidFill>
            <a:schemeClr val="accent1"/>
          </a:solidFill>
        </p:spPr>
        <p:txBody>
          <a:bodyPr wrap="square" rtlCol="0">
            <a:spAutoFit/>
          </a:bodyPr>
          <a:lstStyle/>
          <a:p>
            <a:pPr algn="l">
              <a:buNone/>
            </a:pPr>
            <a:r>
              <a:rPr lang="en-US" altLang="zh-CN" sz="2400" dirty="0"/>
              <a:t>Reset, NMI</a:t>
            </a:r>
            <a:r>
              <a:rPr lang="zh-CN" altLang="en-US" sz="2400" dirty="0"/>
              <a:t>： </a:t>
            </a:r>
            <a:r>
              <a:rPr lang="en-US" altLang="zh-CN" sz="2400" dirty="0"/>
              <a:t>0x8000 0000</a:t>
            </a:r>
          </a:p>
          <a:p>
            <a:pPr algn="l">
              <a:buNone/>
            </a:pPr>
            <a:r>
              <a:rPr lang="en-US" altLang="zh-CN" sz="2400" dirty="0"/>
              <a:t>TLB Refill</a:t>
            </a:r>
            <a:r>
              <a:rPr lang="zh-CN" altLang="en-US" sz="2400" dirty="0"/>
              <a:t>： </a:t>
            </a:r>
            <a:r>
              <a:rPr lang="en-US" altLang="zh-CN" sz="2400" dirty="0"/>
              <a:t>0x8000 0000</a:t>
            </a:r>
          </a:p>
          <a:p>
            <a:pPr algn="l">
              <a:buNone/>
            </a:pPr>
            <a:r>
              <a:rPr lang="en-US" altLang="zh-CN" sz="2400" dirty="0"/>
              <a:t>Cache Error: 0xA000 00100</a:t>
            </a:r>
          </a:p>
          <a:p>
            <a:pPr algn="l">
              <a:buNone/>
            </a:pPr>
            <a:r>
              <a:rPr lang="zh-CN" altLang="en-US" sz="2400" dirty="0"/>
              <a:t>其他的异常都指向：</a:t>
            </a:r>
            <a:r>
              <a:rPr lang="en-US" altLang="zh-CN" sz="2400" dirty="0"/>
              <a:t>0x8000 0180</a:t>
            </a:r>
            <a:endParaRPr lang="zh-CN" altLang="en-US" sz="2400" dirty="0"/>
          </a:p>
        </p:txBody>
      </p:sp>
      <p:sp>
        <p:nvSpPr>
          <p:cNvPr id="452610" name="Rectangle 2"/>
          <p:cNvSpPr>
            <a:spLocks noGrp="1" noChangeArrowheads="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a:sym typeface="+mn-ea"/>
              </a:rPr>
              <a:t>MIPS中断/异常--</a:t>
            </a:r>
            <a:r>
              <a:rPr lang="en-US" dirty="0">
                <a:solidFill>
                  <a:schemeClr val="accent1"/>
                </a:solidFill>
                <a:sym typeface="+mn-ea"/>
              </a:rPr>
              <a:t>Handling Exceptions (1/2)</a:t>
            </a:r>
            <a:endParaRPr lang="en-AU" dirty="0">
              <a:solidFill>
                <a:schemeClr val="accent1"/>
              </a:solidFill>
            </a:endParaRPr>
          </a:p>
        </p:txBody>
      </p:sp>
      <p:sp>
        <p:nvSpPr>
          <p:cNvPr id="3" name="矩形 2"/>
          <p:cNvSpPr/>
          <p:nvPr/>
        </p:nvSpPr>
        <p:spPr>
          <a:xfrm>
            <a:off x="2135560" y="6422840"/>
            <a:ext cx="7471917" cy="406265"/>
          </a:xfrm>
          <a:prstGeom prst="rect">
            <a:avLst/>
          </a:prstGeom>
        </p:spPr>
        <p:txBody>
          <a:bodyPr wrap="none">
            <a:spAutoFit/>
          </a:bodyPr>
          <a:lstStyle/>
          <a:p>
            <a:pPr>
              <a:buNone/>
            </a:pPr>
            <a:r>
              <a:rPr lang="zh-CN" altLang="en-US" sz="2400" dirty="0">
                <a:latin typeface="黑体" panose="02010609060101010101" pitchFamily="49" charset="-122"/>
                <a:ea typeface="黑体" panose="02010609060101010101" pitchFamily="49" charset="-122"/>
              </a:rPr>
              <a:t>详细信息参加：</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See MIPS Run Linux</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一书的</a:t>
            </a:r>
            <a:r>
              <a:rPr lang="en-US" altLang="zh-CN" sz="2400" dirty="0">
                <a:latin typeface="黑体" panose="02010609060101010101" pitchFamily="49" charset="-122"/>
                <a:ea typeface="黑体" panose="02010609060101010101" pitchFamily="49" charset="-122"/>
              </a:rPr>
              <a:t>5.3</a:t>
            </a:r>
            <a:r>
              <a:rPr lang="zh-CN" altLang="en-US" sz="2400" dirty="0">
                <a:latin typeface="黑体" panose="02010609060101010101" pitchFamily="49" charset="-122"/>
                <a:ea typeface="黑体" panose="02010609060101010101" pitchFamily="49" charset="-122"/>
              </a:rPr>
              <a:t>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376" y="908720"/>
            <a:ext cx="11089232" cy="2728952"/>
          </a:xfrm>
        </p:spPr>
        <p:txBody>
          <a:bodyPr/>
          <a:lstStyle/>
          <a:p>
            <a:pPr>
              <a:lnSpc>
                <a:spcPct val="150000"/>
              </a:lnSpc>
            </a:pPr>
            <a:r>
              <a:rPr lang="zh-CN" altLang="en-US" sz="2400" dirty="0"/>
              <a:t>对于有些异常需要操作系统来处理</a:t>
            </a:r>
            <a:endParaRPr lang="en-US" altLang="zh-CN" sz="2400" dirty="0"/>
          </a:p>
          <a:p>
            <a:pPr lvl="1">
              <a:lnSpc>
                <a:spcPct val="150000"/>
              </a:lnSpc>
            </a:pPr>
            <a:r>
              <a:rPr lang="en-US" altLang="zh-CN" sz="2400" dirty="0"/>
              <a:t>OS</a:t>
            </a:r>
            <a:r>
              <a:rPr lang="zh-CN" altLang="en-US" sz="2400" dirty="0"/>
              <a:t>可能会杀死该程序</a:t>
            </a:r>
            <a:r>
              <a:rPr lang="en-US" sz="2400" dirty="0"/>
              <a:t>(e.g. </a:t>
            </a:r>
            <a:r>
              <a:rPr lang="en-US" sz="2400" dirty="0" err="1"/>
              <a:t>segfault</a:t>
            </a:r>
            <a:r>
              <a:rPr lang="zh-CN" altLang="en-US" sz="2400" dirty="0"/>
              <a:t>（非法内存读写），溢出</a:t>
            </a:r>
            <a:r>
              <a:rPr lang="en-US" sz="2400" dirty="0"/>
              <a:t>)</a:t>
            </a:r>
          </a:p>
          <a:p>
            <a:pPr lvl="1">
              <a:lnSpc>
                <a:spcPct val="150000"/>
              </a:lnSpc>
            </a:pPr>
            <a:r>
              <a:rPr lang="zh-CN" altLang="en-US" sz="2400" dirty="0"/>
              <a:t>对于</a:t>
            </a:r>
            <a:r>
              <a:rPr lang="en-US" sz="2400" dirty="0"/>
              <a:t>I/O </a:t>
            </a:r>
            <a:r>
              <a:rPr lang="zh-CN" altLang="en-US" sz="2400" dirty="0"/>
              <a:t>设备请求或者系统调用（</a:t>
            </a:r>
            <a:r>
              <a:rPr lang="en-US" sz="2400" dirty="0" err="1"/>
              <a:t>syscall</a:t>
            </a:r>
            <a:r>
              <a:rPr lang="zh-CN" altLang="en-US" sz="2400" dirty="0"/>
              <a:t>）</a:t>
            </a:r>
            <a:r>
              <a:rPr lang="en-US" sz="2400" dirty="0"/>
              <a:t>,</a:t>
            </a:r>
            <a:r>
              <a:rPr lang="zh-CN" altLang="en-US" sz="2400" dirty="0"/>
              <a:t>一般</a:t>
            </a:r>
            <a:r>
              <a:rPr lang="en-US" altLang="zh-CN" sz="2400" dirty="0"/>
              <a:t>CPU</a:t>
            </a:r>
            <a:r>
              <a:rPr lang="zh-CN" altLang="en-US" sz="2400" dirty="0"/>
              <a:t>控制会转移到另外一个进程</a:t>
            </a:r>
            <a:endParaRPr lang="en-US" sz="2400" dirty="0"/>
          </a:p>
          <a:p>
            <a:pPr lvl="2">
              <a:lnSpc>
                <a:spcPct val="150000"/>
              </a:lnSpc>
            </a:pPr>
            <a:r>
              <a:rPr lang="zh-CN" altLang="en-US" sz="2000" dirty="0"/>
              <a:t>例如，</a:t>
            </a:r>
            <a:r>
              <a:rPr lang="en-US" sz="2000" dirty="0"/>
              <a:t>TLB misses and page faults</a:t>
            </a:r>
          </a:p>
        </p:txBody>
      </p:sp>
      <p:sp>
        <p:nvSpPr>
          <p:cNvPr id="452610" name="Rectangle 2"/>
          <p:cNvSpPr>
            <a:spLocks noGrp="1" noChangeArrowheads="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a:sym typeface="+mn-ea"/>
              </a:rPr>
              <a:t>MIPS中断/异常</a:t>
            </a:r>
            <a:r>
              <a:rPr lang="en-US" dirty="0">
                <a:solidFill>
                  <a:schemeClr val="accent1"/>
                </a:solidFill>
                <a:sym typeface="+mn-ea"/>
              </a:rPr>
              <a:t>--Handling Exceptions (2/2)</a:t>
            </a:r>
            <a:endParaRPr lang="en-AU" dirty="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7" name="Rectangle 3"/>
          <p:cNvSpPr>
            <a:spLocks noGrp="1" noChangeArrowheads="1"/>
          </p:cNvSpPr>
          <p:nvPr>
            <p:ph idx="1"/>
          </p:nvPr>
        </p:nvSpPr>
        <p:spPr>
          <a:xfrm>
            <a:off x="479376" y="836712"/>
            <a:ext cx="11881320" cy="4244239"/>
          </a:xfrm>
        </p:spPr>
        <p:txBody>
          <a:bodyPr/>
          <a:lstStyle/>
          <a:p>
            <a:pPr>
              <a:lnSpc>
                <a:spcPct val="150000"/>
              </a:lnSpc>
            </a:pPr>
            <a:r>
              <a:rPr lang="zh-CN" altLang="en-US" sz="2400" dirty="0"/>
              <a:t>可重启异常</a:t>
            </a:r>
            <a:endParaRPr lang="en-US" sz="2400" dirty="0"/>
          </a:p>
          <a:p>
            <a:pPr lvl="1">
              <a:lnSpc>
                <a:spcPct val="150000"/>
              </a:lnSpc>
            </a:pPr>
            <a:r>
              <a:rPr lang="zh-CN" altLang="en-US" sz="2400" dirty="0"/>
              <a:t>流水线控制器清除该指令</a:t>
            </a:r>
            <a:endParaRPr lang="en-US" sz="2400" dirty="0"/>
          </a:p>
          <a:p>
            <a:pPr lvl="1">
              <a:lnSpc>
                <a:spcPct val="150000"/>
              </a:lnSpc>
            </a:pPr>
            <a:r>
              <a:rPr lang="zh-CN" altLang="en-US" sz="2400" dirty="0"/>
              <a:t>异常处理程序（</a:t>
            </a:r>
            <a:r>
              <a:rPr lang="en-US" sz="2400" dirty="0"/>
              <a:t>Handler</a:t>
            </a:r>
            <a:r>
              <a:rPr lang="zh-CN" altLang="en-US" sz="2400" dirty="0"/>
              <a:t>）执行完成后</a:t>
            </a:r>
            <a:r>
              <a:rPr lang="en-US" sz="2400" dirty="0"/>
              <a:t>, </a:t>
            </a:r>
            <a:r>
              <a:rPr lang="zh-CN" altLang="en-US" sz="2400" dirty="0"/>
              <a:t>再重新返回到该指令执行</a:t>
            </a:r>
            <a:endParaRPr lang="en-US" sz="2400" dirty="0"/>
          </a:p>
          <a:p>
            <a:pPr lvl="2">
              <a:lnSpc>
                <a:spcPct val="150000"/>
              </a:lnSpc>
            </a:pPr>
            <a:r>
              <a:rPr lang="zh-CN" altLang="en-US" sz="2000" dirty="0"/>
              <a:t>例如，数据装载，</a:t>
            </a:r>
            <a:r>
              <a:rPr lang="en-US" sz="2000" dirty="0"/>
              <a:t>Re-fetched and executed from scratch</a:t>
            </a:r>
          </a:p>
          <a:p>
            <a:pPr>
              <a:lnSpc>
                <a:spcPct val="150000"/>
              </a:lnSpc>
            </a:pPr>
            <a:r>
              <a:rPr lang="en-US" sz="2400" dirty="0">
                <a:solidFill>
                  <a:srgbClr val="FF0000"/>
                </a:solidFill>
              </a:rPr>
              <a:t>PC+4 </a:t>
            </a:r>
            <a:r>
              <a:rPr lang="zh-CN" altLang="en-US" sz="2400" dirty="0">
                <a:solidFill>
                  <a:srgbClr val="FF0000"/>
                </a:solidFill>
              </a:rPr>
              <a:t>保存在</a:t>
            </a:r>
            <a:r>
              <a:rPr lang="en-US" sz="2400" dirty="0">
                <a:solidFill>
                  <a:srgbClr val="FF0000"/>
                </a:solidFill>
              </a:rPr>
              <a:t> EPC </a:t>
            </a:r>
            <a:r>
              <a:rPr lang="zh-CN" altLang="en-US" sz="2400" dirty="0">
                <a:solidFill>
                  <a:srgbClr val="FF0000"/>
                </a:solidFill>
              </a:rPr>
              <a:t>寄存器</a:t>
            </a:r>
            <a:endParaRPr lang="en-US" sz="2400" dirty="0">
              <a:solidFill>
                <a:srgbClr val="FF0000"/>
              </a:solidFill>
            </a:endParaRPr>
          </a:p>
          <a:p>
            <a:pPr lvl="1">
              <a:lnSpc>
                <a:spcPct val="150000"/>
              </a:lnSpc>
            </a:pPr>
            <a:r>
              <a:rPr lang="zh-CN" altLang="en-US" sz="2400" dirty="0"/>
              <a:t>指名了产生异常的指令</a:t>
            </a:r>
            <a:endParaRPr lang="en-US" altLang="zh-CN" sz="2400" dirty="0"/>
          </a:p>
          <a:p>
            <a:pPr lvl="1">
              <a:lnSpc>
                <a:spcPct val="150000"/>
              </a:lnSpc>
            </a:pPr>
            <a:r>
              <a:rPr lang="en-US" altLang="zh-CN" sz="2400" dirty="0"/>
              <a:t>PC+4</a:t>
            </a:r>
            <a:r>
              <a:rPr lang="zh-CN" altLang="en-US" sz="2400" dirty="0"/>
              <a:t>是在异常产生时流水线上唯一可以获取的数据</a:t>
            </a:r>
            <a:endParaRPr lang="en-US" sz="2400" dirty="0"/>
          </a:p>
          <a:p>
            <a:pPr lvl="2">
              <a:lnSpc>
                <a:spcPct val="150000"/>
              </a:lnSpc>
            </a:pPr>
            <a:r>
              <a:rPr lang="zh-CN" altLang="en-US" sz="2000" dirty="0"/>
              <a:t>异常处理程序必须计算正确的异常返回地址</a:t>
            </a:r>
            <a:endParaRPr lang="en-AU" sz="2000" dirty="0"/>
          </a:p>
        </p:txBody>
      </p:sp>
      <p:sp>
        <p:nvSpPr>
          <p:cNvPr id="452610" name="Rectangle 2"/>
          <p:cNvSpPr>
            <a:spLocks noGrp="1" noChangeArrowheads="1"/>
          </p:cNvSpPr>
          <p:nvPr/>
        </p:nvSpPr>
        <p:spPr>
          <a:xfrm>
            <a:off x="-211" y="300401"/>
            <a:ext cx="7010400"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a:sym typeface="+mn-ea"/>
              </a:rPr>
              <a:t>MIPS中断/异常--</a:t>
            </a:r>
            <a:r>
              <a:rPr lang="en-US" dirty="0">
                <a:solidFill>
                  <a:schemeClr val="accent1"/>
                </a:solidFill>
                <a:sym typeface="+mn-ea"/>
              </a:rPr>
              <a:t>Exception Properties</a:t>
            </a:r>
            <a:endParaRPr lang="en-US" dirty="0">
              <a:solidFill>
                <a:schemeClr val="accent1"/>
              </a:solidFill>
            </a:endParaRPr>
          </a:p>
          <a:p>
            <a:pPr indent="0">
              <a:buNone/>
            </a:pPr>
            <a:endParaRPr lang="en-AU" dirty="0">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5" name="Rectangle 3"/>
          <p:cNvSpPr>
            <a:spLocks noGrp="1" noChangeArrowheads="1"/>
          </p:cNvSpPr>
          <p:nvPr>
            <p:ph idx="1"/>
          </p:nvPr>
        </p:nvSpPr>
        <p:spPr>
          <a:xfrm>
            <a:off x="479376" y="908720"/>
            <a:ext cx="10585176" cy="4760278"/>
          </a:xfrm>
        </p:spPr>
        <p:txBody>
          <a:bodyPr/>
          <a:lstStyle/>
          <a:p>
            <a:pPr>
              <a:lnSpc>
                <a:spcPct val="150000"/>
              </a:lnSpc>
            </a:pPr>
            <a:r>
              <a:rPr lang="zh-CN" altLang="en-US" dirty="0"/>
              <a:t>读</a:t>
            </a:r>
            <a:r>
              <a:rPr lang="en-US" altLang="zh-CN" dirty="0"/>
              <a:t>Cause</a:t>
            </a:r>
            <a:r>
              <a:rPr lang="zh-CN" altLang="en-US" dirty="0"/>
              <a:t>寄存器，转移到对应的异常处理程序</a:t>
            </a:r>
            <a:endParaRPr lang="en-US" dirty="0"/>
          </a:p>
          <a:p>
            <a:pPr>
              <a:lnSpc>
                <a:spcPct val="150000"/>
              </a:lnSpc>
            </a:pPr>
            <a:r>
              <a:rPr lang="zh-CN" altLang="en-US" dirty="0"/>
              <a:t>对于来源于</a:t>
            </a:r>
            <a:r>
              <a:rPr lang="en-US" altLang="zh-CN" dirty="0"/>
              <a:t>CPU</a:t>
            </a:r>
            <a:r>
              <a:rPr lang="zh-CN" altLang="en-US" dirty="0"/>
              <a:t>内部的“异常”，操作系统决定处理的过程</a:t>
            </a:r>
            <a:endParaRPr lang="en-US" dirty="0"/>
          </a:p>
          <a:p>
            <a:pPr lvl="1">
              <a:lnSpc>
                <a:spcPct val="150000"/>
              </a:lnSpc>
            </a:pPr>
            <a:r>
              <a:rPr lang="zh-CN" altLang="en-US" dirty="0"/>
              <a:t>系统调用</a:t>
            </a:r>
            <a:r>
              <a:rPr lang="en-US" altLang="zh-CN" dirty="0" err="1"/>
              <a:t>Syscall</a:t>
            </a:r>
            <a:r>
              <a:rPr lang="zh-CN" altLang="en-US" dirty="0"/>
              <a:t>，执行相应的功能后返回用户程序</a:t>
            </a:r>
            <a:endParaRPr lang="en-US" altLang="zh-CN" dirty="0"/>
          </a:p>
          <a:p>
            <a:pPr lvl="1">
              <a:lnSpc>
                <a:spcPct val="150000"/>
              </a:lnSpc>
            </a:pPr>
            <a:r>
              <a:rPr lang="zh-CN" altLang="en-US" dirty="0"/>
              <a:t>如果是可重启的异常，在</a:t>
            </a:r>
            <a:r>
              <a:rPr lang="en-US" altLang="zh-CN" dirty="0"/>
              <a:t>Handler</a:t>
            </a:r>
            <a:r>
              <a:rPr lang="zh-CN" altLang="en-US" dirty="0"/>
              <a:t>中处理错误，然后再返回到引起异常的指令从头执行</a:t>
            </a:r>
            <a:endParaRPr lang="en-US" altLang="zh-CN" dirty="0"/>
          </a:p>
          <a:p>
            <a:pPr lvl="2">
              <a:lnSpc>
                <a:spcPct val="150000"/>
              </a:lnSpc>
            </a:pPr>
            <a:r>
              <a:rPr lang="zh-CN" altLang="en-US" sz="2000" dirty="0"/>
              <a:t>读取数据 </a:t>
            </a:r>
            <a:r>
              <a:rPr lang="en-US" altLang="zh-CN" sz="2000" dirty="0" err="1"/>
              <a:t>lw</a:t>
            </a:r>
            <a:r>
              <a:rPr lang="zh-CN" altLang="en-US" sz="2000" dirty="0"/>
              <a:t>，程序溢出</a:t>
            </a:r>
            <a:endParaRPr lang="en-US" sz="2000" dirty="0"/>
          </a:p>
          <a:p>
            <a:pPr lvl="1">
              <a:lnSpc>
                <a:spcPct val="150000"/>
              </a:lnSpc>
            </a:pPr>
            <a:r>
              <a:rPr lang="zh-CN" altLang="en-US" dirty="0"/>
              <a:t>有些时候，</a:t>
            </a:r>
            <a:r>
              <a:rPr lang="en-US" altLang="zh-CN" dirty="0"/>
              <a:t>OS</a:t>
            </a:r>
            <a:r>
              <a:rPr lang="zh-CN" altLang="en-US" dirty="0"/>
              <a:t>会结束该程序，同时使用</a:t>
            </a:r>
            <a:r>
              <a:rPr lang="en-US" altLang="zh-CN" dirty="0"/>
              <a:t>EPC</a:t>
            </a:r>
            <a:r>
              <a:rPr lang="zh-CN" altLang="en-US" dirty="0"/>
              <a:t>，</a:t>
            </a:r>
            <a:r>
              <a:rPr lang="en-US" altLang="zh-CN" dirty="0"/>
              <a:t>Cause</a:t>
            </a:r>
            <a:r>
              <a:rPr lang="zh-CN" altLang="en-US" dirty="0"/>
              <a:t>等寄存器报告出错原因</a:t>
            </a:r>
            <a:endParaRPr lang="en-US" altLang="zh-CN" dirty="0"/>
          </a:p>
          <a:p>
            <a:pPr lvl="2">
              <a:lnSpc>
                <a:spcPct val="150000"/>
              </a:lnSpc>
            </a:pPr>
            <a:r>
              <a:rPr lang="zh-CN" altLang="en-US" sz="2000" dirty="0"/>
              <a:t>例如，</a:t>
            </a:r>
            <a:r>
              <a:rPr lang="en-US" sz="2000" dirty="0" err="1"/>
              <a:t>segfault</a:t>
            </a:r>
            <a:endParaRPr lang="en-US" sz="2000" dirty="0"/>
          </a:p>
          <a:p>
            <a:pPr>
              <a:lnSpc>
                <a:spcPct val="150000"/>
              </a:lnSpc>
            </a:pPr>
            <a:r>
              <a:rPr lang="zh-CN" altLang="en-US" dirty="0"/>
              <a:t>对于外部中断</a:t>
            </a:r>
            <a:endParaRPr lang="en-US" altLang="zh-CN" dirty="0"/>
          </a:p>
          <a:p>
            <a:pPr lvl="1">
              <a:lnSpc>
                <a:spcPct val="150000"/>
              </a:lnSpc>
            </a:pPr>
            <a:r>
              <a:rPr lang="zh-CN" altLang="en-US" dirty="0"/>
              <a:t>转移到相应的中断向量完成</a:t>
            </a:r>
            <a:r>
              <a:rPr lang="en-US" altLang="zh-CN" dirty="0"/>
              <a:t>I/O</a:t>
            </a:r>
            <a:r>
              <a:rPr lang="zh-CN" altLang="en-US" dirty="0"/>
              <a:t>处理任务</a:t>
            </a:r>
            <a:endParaRPr lang="en-US" dirty="0"/>
          </a:p>
          <a:p>
            <a:pPr marL="474980" lvl="1" indent="0">
              <a:lnSpc>
                <a:spcPct val="150000"/>
              </a:lnSpc>
              <a:buNone/>
            </a:pPr>
            <a:endParaRPr lang="en-AU" dirty="0"/>
          </a:p>
        </p:txBody>
      </p:sp>
      <p:sp>
        <p:nvSpPr>
          <p:cNvPr id="452610" name="Rectangle 2"/>
          <p:cNvSpPr>
            <a:spLocks noGrp="1" noChangeArrowheads="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a:sym typeface="+mn-ea"/>
              </a:rPr>
              <a:t>MIPS中断/</a:t>
            </a:r>
            <a:r>
              <a:rPr lang="en-US" altLang="zh-CN" dirty="0" err="1">
                <a:sym typeface="+mn-ea"/>
              </a:rPr>
              <a:t>异常</a:t>
            </a:r>
            <a:r>
              <a:rPr lang="en-US" altLang="zh-CN" dirty="0">
                <a:sym typeface="+mn-ea"/>
              </a:rPr>
              <a:t>—</a:t>
            </a:r>
            <a:r>
              <a:rPr lang="zh-CN" altLang="en-US" dirty="0">
                <a:sym typeface="+mn-ea"/>
              </a:rPr>
              <a:t>异常处理程序</a:t>
            </a:r>
            <a:r>
              <a:rPr lang="en-US" dirty="0">
                <a:solidFill>
                  <a:schemeClr val="accent1"/>
                </a:solidFill>
                <a:sym typeface="+mn-ea"/>
              </a:rPr>
              <a:t>Handler</a:t>
            </a:r>
            <a:endParaRPr lang="en-AU" dirty="0">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0243" name="Rectangle 3"/>
          <p:cNvSpPr>
            <a:spLocks noGrp="1" noChangeArrowheads="1"/>
          </p:cNvSpPr>
          <p:nvPr>
            <p:ph idx="1"/>
          </p:nvPr>
        </p:nvSpPr>
        <p:spPr>
          <a:xfrm>
            <a:off x="407368" y="875028"/>
            <a:ext cx="11089232" cy="5257801"/>
          </a:xfrm>
        </p:spPr>
        <p:txBody>
          <a:bodyPr>
            <a:normAutofit/>
          </a:bodyPr>
          <a:lstStyle/>
          <a:p>
            <a:pPr algn="just">
              <a:lnSpc>
                <a:spcPct val="150000"/>
              </a:lnSpc>
            </a:pPr>
            <a:r>
              <a:rPr lang="en-US" dirty="0"/>
              <a:t>I/O </a:t>
            </a:r>
            <a:r>
              <a:rPr lang="zh-CN" altLang="en-US" dirty="0"/>
              <a:t>中断很类似异常，除了：</a:t>
            </a:r>
            <a:endParaRPr lang="en-US" dirty="0"/>
          </a:p>
          <a:p>
            <a:pPr lvl="1" algn="just">
              <a:lnSpc>
                <a:spcPct val="150000"/>
              </a:lnSpc>
            </a:pPr>
            <a:r>
              <a:rPr lang="en-US" dirty="0"/>
              <a:t>I/O </a:t>
            </a:r>
            <a:r>
              <a:rPr lang="zh-CN" altLang="en-US" dirty="0"/>
              <a:t>中断是异步的</a:t>
            </a:r>
            <a:r>
              <a:rPr lang="en-US" dirty="0"/>
              <a:t>“asynchronous”</a:t>
            </a:r>
          </a:p>
          <a:p>
            <a:pPr lvl="1" algn="just">
              <a:lnSpc>
                <a:spcPct val="150000"/>
              </a:lnSpc>
            </a:pPr>
            <a:r>
              <a:rPr lang="zh-CN" altLang="en-US" dirty="0"/>
              <a:t>而异常是同步的</a:t>
            </a:r>
            <a:endParaRPr lang="en-US" dirty="0"/>
          </a:p>
          <a:p>
            <a:pPr algn="just">
              <a:lnSpc>
                <a:spcPct val="150000"/>
              </a:lnSpc>
            </a:pPr>
            <a:r>
              <a:rPr lang="en-US" dirty="0"/>
              <a:t>“Asynchronous</a:t>
            </a:r>
            <a:r>
              <a:rPr lang="zh-CN" altLang="en-US" dirty="0"/>
              <a:t>”是指不与某一条指令相关联</a:t>
            </a:r>
            <a:r>
              <a:rPr lang="en-US" dirty="0"/>
              <a:t>:</a:t>
            </a:r>
          </a:p>
          <a:p>
            <a:pPr lvl="1" algn="just">
              <a:lnSpc>
                <a:spcPct val="150000"/>
              </a:lnSpc>
            </a:pPr>
            <a:r>
              <a:rPr lang="en-US" dirty="0"/>
              <a:t>I/O </a:t>
            </a:r>
            <a:r>
              <a:rPr lang="zh-CN" altLang="en-US" dirty="0"/>
              <a:t>中断不与任何一条指令相关联，它可以发生在任何一条指令的执行过程中</a:t>
            </a:r>
            <a:endParaRPr lang="en-US" dirty="0"/>
          </a:p>
          <a:p>
            <a:pPr lvl="1" algn="just">
              <a:lnSpc>
                <a:spcPct val="150000"/>
              </a:lnSpc>
            </a:pPr>
            <a:r>
              <a:rPr lang="en-US" dirty="0"/>
              <a:t>I/O </a:t>
            </a:r>
            <a:r>
              <a:rPr lang="zh-CN" altLang="en-US" dirty="0"/>
              <a:t>中断并不会中断当前指令的执行完成</a:t>
            </a:r>
            <a:endParaRPr lang="en-US" dirty="0"/>
          </a:p>
          <a:p>
            <a:pPr algn="just">
              <a:lnSpc>
                <a:spcPct val="150000"/>
              </a:lnSpc>
            </a:pPr>
            <a:r>
              <a:rPr lang="zh-CN" altLang="en-US" dirty="0"/>
              <a:t>在中断时需要更多的信息</a:t>
            </a:r>
            <a:endParaRPr lang="en-US" altLang="zh-CN" dirty="0"/>
          </a:p>
          <a:p>
            <a:pPr lvl="1" algn="just">
              <a:lnSpc>
                <a:spcPct val="150000"/>
              </a:lnSpc>
            </a:pPr>
            <a:r>
              <a:rPr lang="zh-CN" altLang="en-US" dirty="0"/>
              <a:t>中断控制器必须让</a:t>
            </a:r>
            <a:r>
              <a:rPr lang="en-US" altLang="zh-CN" dirty="0"/>
              <a:t>OS</a:t>
            </a:r>
            <a:r>
              <a:rPr lang="zh-CN" altLang="en-US" dirty="0"/>
              <a:t>知道哪个</a:t>
            </a:r>
            <a:r>
              <a:rPr lang="en-US" altLang="zh-CN" dirty="0"/>
              <a:t>I/O</a:t>
            </a:r>
            <a:r>
              <a:rPr lang="zh-CN" altLang="en-US" dirty="0"/>
              <a:t>设备产生的中断，</a:t>
            </a:r>
            <a:endParaRPr lang="en-US" altLang="zh-CN" dirty="0"/>
          </a:p>
          <a:p>
            <a:pPr lvl="1" algn="just">
              <a:lnSpc>
                <a:spcPct val="150000"/>
              </a:lnSpc>
            </a:pPr>
            <a:r>
              <a:rPr lang="zh-CN" altLang="en-US" dirty="0"/>
              <a:t>中断控制器需要具有优先级处理功能</a:t>
            </a:r>
            <a:endParaRPr lang="en-US" i="1" dirty="0"/>
          </a:p>
        </p:txBody>
      </p:sp>
      <p:sp>
        <p:nvSpPr>
          <p:cNvPr id="452610" name="Rectangle 2"/>
          <p:cNvSpPr>
            <a:spLocks noGrp="1" noChangeArrowheads="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a:sym typeface="+mn-ea"/>
              </a:rPr>
              <a:t>MIPS中断/异常</a:t>
            </a:r>
            <a:r>
              <a:rPr lang="en-US" dirty="0">
                <a:solidFill>
                  <a:schemeClr val="accent1"/>
                </a:solidFill>
                <a:sym typeface="+mn-ea"/>
              </a:rPr>
              <a:t>--I/O Interrupt</a:t>
            </a:r>
            <a:endParaRPr lang="en-AU" dirty="0">
              <a:solidFill>
                <a:schemeClr val="accent1"/>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bwMode="auto">
          <a:xfrm>
            <a:off x="3619500" y="1803402"/>
            <a:ext cx="2006600" cy="784226"/>
            <a:chOff x="1320" y="1136"/>
            <a:chExt cx="1264" cy="494"/>
          </a:xfrm>
        </p:grpSpPr>
        <p:sp>
          <p:nvSpPr>
            <p:cNvPr id="3214340" name="Line 4"/>
            <p:cNvSpPr>
              <a:spLocks noChangeShapeType="1"/>
            </p:cNvSpPr>
            <p:nvPr/>
          </p:nvSpPr>
          <p:spPr bwMode="auto">
            <a:xfrm>
              <a:off x="1976" y="1584"/>
              <a:ext cx="608" cy="0"/>
            </a:xfrm>
            <a:prstGeom prst="line">
              <a:avLst/>
            </a:prstGeom>
            <a:noFill/>
            <a:ln w="38100">
              <a:solidFill>
                <a:schemeClr val="accent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41" name="Rectangle 5"/>
            <p:cNvSpPr>
              <a:spLocks noChangeArrowheads="1"/>
            </p:cNvSpPr>
            <p:nvPr/>
          </p:nvSpPr>
          <p:spPr bwMode="auto">
            <a:xfrm>
              <a:off x="1320" y="1136"/>
              <a:ext cx="1099" cy="494"/>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(1) I/O</a:t>
              </a:r>
            </a:p>
            <a:p>
              <a:pPr algn="l" defTabSz="457200" fontAlgn="auto">
                <a:lnSpc>
                  <a:spcPct val="85000"/>
                </a:lnSpc>
                <a:spcBef>
                  <a:spcPts val="0"/>
                </a:spcBef>
                <a:spcAft>
                  <a:spcPts val="0"/>
                </a:spcAft>
                <a:buNone/>
              </a:pPr>
              <a:r>
                <a:rPr lang="en-US" sz="2800" b="0">
                  <a:solidFill>
                    <a:prstClr val="black"/>
                  </a:solidFill>
                  <a:latin typeface="18 VAG Rounded Light   02390"/>
                  <a:ea typeface="+mn-ea"/>
                </a:rPr>
                <a:t>interrupt</a:t>
              </a:r>
            </a:p>
          </p:txBody>
        </p:sp>
      </p:grpSp>
      <p:grpSp>
        <p:nvGrpSpPr>
          <p:cNvPr id="3" name="Group 6"/>
          <p:cNvGrpSpPr/>
          <p:nvPr/>
        </p:nvGrpSpPr>
        <p:grpSpPr bwMode="auto">
          <a:xfrm>
            <a:off x="3009900" y="2527302"/>
            <a:ext cx="2628900" cy="836613"/>
            <a:chOff x="936" y="1592"/>
            <a:chExt cx="1656" cy="527"/>
          </a:xfrm>
        </p:grpSpPr>
        <p:sp>
          <p:nvSpPr>
            <p:cNvPr id="3214343" name="Line 7"/>
            <p:cNvSpPr>
              <a:spLocks noChangeShapeType="1"/>
            </p:cNvSpPr>
            <p:nvPr/>
          </p:nvSpPr>
          <p:spPr bwMode="auto">
            <a:xfrm flipH="1">
              <a:off x="1816" y="1592"/>
              <a:ext cx="776" cy="264"/>
            </a:xfrm>
            <a:prstGeom prst="line">
              <a:avLst/>
            </a:prstGeom>
            <a:noFill/>
            <a:ln w="38100">
              <a:solidFill>
                <a:schemeClr val="accent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44" name="Rectangle 8"/>
            <p:cNvSpPr>
              <a:spLocks noChangeArrowheads="1"/>
            </p:cNvSpPr>
            <p:nvPr/>
          </p:nvSpPr>
          <p:spPr bwMode="auto">
            <a:xfrm>
              <a:off x="936" y="1856"/>
              <a:ext cx="1325" cy="263"/>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dirty="0">
                  <a:ln>
                    <a:solidFill>
                      <a:srgbClr val="FF0000"/>
                    </a:solidFill>
                  </a:ln>
                  <a:solidFill>
                    <a:prstClr val="black"/>
                  </a:solidFill>
                  <a:latin typeface="18 VAG Rounded Light   02390"/>
                  <a:ea typeface="+mn-ea"/>
                </a:rPr>
                <a:t>(2) save PC</a:t>
              </a:r>
            </a:p>
          </p:txBody>
        </p:sp>
      </p:grpSp>
      <p:sp>
        <p:nvSpPr>
          <p:cNvPr id="3214345" name="Rectangle 9"/>
          <p:cNvSpPr>
            <a:spLocks noChangeArrowheads="1"/>
          </p:cNvSpPr>
          <p:nvPr/>
        </p:nvSpPr>
        <p:spPr bwMode="auto">
          <a:xfrm>
            <a:off x="5562600" y="1143000"/>
            <a:ext cx="1215076" cy="417550"/>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dirty="0">
                <a:solidFill>
                  <a:prstClr val="black"/>
                </a:solidFill>
                <a:latin typeface="18 VAG Rounded Light   02390"/>
                <a:ea typeface="+mn-ea"/>
              </a:rPr>
              <a:t>Memory</a:t>
            </a:r>
          </a:p>
        </p:txBody>
      </p:sp>
      <p:grpSp>
        <p:nvGrpSpPr>
          <p:cNvPr id="4" name="Group 10"/>
          <p:cNvGrpSpPr/>
          <p:nvPr/>
        </p:nvGrpSpPr>
        <p:grpSpPr bwMode="auto">
          <a:xfrm>
            <a:off x="5403850" y="2819400"/>
            <a:ext cx="215900" cy="234950"/>
            <a:chOff x="2444" y="1776"/>
            <a:chExt cx="136" cy="148"/>
          </a:xfrm>
        </p:grpSpPr>
        <p:sp>
          <p:nvSpPr>
            <p:cNvPr id="3214347" name="Line 11"/>
            <p:cNvSpPr>
              <a:spLocks noChangeShapeType="1"/>
            </p:cNvSpPr>
            <p:nvPr/>
          </p:nvSpPr>
          <p:spPr bwMode="auto">
            <a:xfrm flipH="1">
              <a:off x="2448" y="1776"/>
              <a:ext cx="128" cy="64"/>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48" name="Line 12"/>
            <p:cNvSpPr>
              <a:spLocks noChangeShapeType="1"/>
            </p:cNvSpPr>
            <p:nvPr/>
          </p:nvSpPr>
          <p:spPr bwMode="auto">
            <a:xfrm>
              <a:off x="2444" y="1868"/>
              <a:ext cx="136" cy="56"/>
            </a:xfrm>
            <a:prstGeom prst="line">
              <a:avLst/>
            </a:prstGeom>
            <a:noFill/>
            <a:ln w="38100">
              <a:solidFill>
                <a:schemeClr val="tx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grpSp>
      <p:grpSp>
        <p:nvGrpSpPr>
          <p:cNvPr id="5" name="Group 13"/>
          <p:cNvGrpSpPr/>
          <p:nvPr/>
        </p:nvGrpSpPr>
        <p:grpSpPr bwMode="auto">
          <a:xfrm>
            <a:off x="5334000" y="1695450"/>
            <a:ext cx="3802063" cy="4781550"/>
            <a:chOff x="2400" y="1068"/>
            <a:chExt cx="2395" cy="3012"/>
          </a:xfrm>
        </p:grpSpPr>
        <p:grpSp>
          <p:nvGrpSpPr>
            <p:cNvPr id="6" name="Group 14"/>
            <p:cNvGrpSpPr/>
            <p:nvPr/>
          </p:nvGrpSpPr>
          <p:grpSpPr bwMode="auto">
            <a:xfrm>
              <a:off x="2400" y="1068"/>
              <a:ext cx="2000" cy="3012"/>
              <a:chOff x="2400" y="1068"/>
              <a:chExt cx="2000" cy="3012"/>
            </a:xfrm>
          </p:grpSpPr>
          <p:sp>
            <p:nvSpPr>
              <p:cNvPr id="3214351" name="Line 15"/>
              <p:cNvSpPr>
                <a:spLocks noChangeShapeType="1"/>
              </p:cNvSpPr>
              <p:nvPr/>
            </p:nvSpPr>
            <p:spPr bwMode="auto">
              <a:xfrm>
                <a:off x="2584" y="1080"/>
                <a:ext cx="0" cy="300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2" name="Line 16"/>
              <p:cNvSpPr>
                <a:spLocks noChangeShapeType="1"/>
              </p:cNvSpPr>
              <p:nvPr/>
            </p:nvSpPr>
            <p:spPr bwMode="auto">
              <a:xfrm>
                <a:off x="3360" y="1088"/>
                <a:ext cx="0" cy="2944"/>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3" name="Line 17"/>
              <p:cNvSpPr>
                <a:spLocks noChangeShapeType="1"/>
              </p:cNvSpPr>
              <p:nvPr/>
            </p:nvSpPr>
            <p:spPr bwMode="auto">
              <a:xfrm>
                <a:off x="2428" y="1068"/>
                <a:ext cx="152" cy="120"/>
              </a:xfrm>
              <a:prstGeom prst="line">
                <a:avLst/>
              </a:prstGeom>
              <a:noFill/>
              <a:ln w="38100">
                <a:solidFill>
                  <a:schemeClr val="tx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4" name="Line 18"/>
              <p:cNvSpPr>
                <a:spLocks noChangeShapeType="1"/>
              </p:cNvSpPr>
              <p:nvPr/>
            </p:nvSpPr>
            <p:spPr bwMode="auto">
              <a:xfrm flipH="1">
                <a:off x="2400" y="1296"/>
                <a:ext cx="144" cy="64"/>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5" name="Line 19"/>
              <p:cNvSpPr>
                <a:spLocks noChangeShapeType="1"/>
              </p:cNvSpPr>
              <p:nvPr/>
            </p:nvSpPr>
            <p:spPr bwMode="auto">
              <a:xfrm>
                <a:off x="2404" y="1368"/>
                <a:ext cx="136" cy="48"/>
              </a:xfrm>
              <a:prstGeom prst="line">
                <a:avLst/>
              </a:prstGeom>
              <a:noFill/>
              <a:ln w="38100">
                <a:solidFill>
                  <a:schemeClr val="tx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6" name="Rectangle 20"/>
              <p:cNvSpPr>
                <a:spLocks noChangeArrowheads="1"/>
              </p:cNvSpPr>
              <p:nvPr/>
            </p:nvSpPr>
            <p:spPr bwMode="auto">
              <a:xfrm>
                <a:off x="2736" y="1104"/>
                <a:ext cx="420" cy="955"/>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add</a:t>
                </a:r>
              </a:p>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sub</a:t>
                </a:r>
              </a:p>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and</a:t>
                </a:r>
              </a:p>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or</a:t>
                </a:r>
              </a:p>
            </p:txBody>
          </p:sp>
          <p:sp>
            <p:nvSpPr>
              <p:cNvPr id="3214357" name="Rectangle 21"/>
              <p:cNvSpPr>
                <a:spLocks noChangeArrowheads="1"/>
              </p:cNvSpPr>
              <p:nvPr/>
            </p:nvSpPr>
            <p:spPr bwMode="auto">
              <a:xfrm>
                <a:off x="3528" y="1376"/>
                <a:ext cx="872" cy="494"/>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user</a:t>
                </a:r>
              </a:p>
              <a:p>
                <a:pPr algn="l" defTabSz="457200" fontAlgn="auto">
                  <a:lnSpc>
                    <a:spcPct val="85000"/>
                  </a:lnSpc>
                  <a:spcBef>
                    <a:spcPts val="0"/>
                  </a:spcBef>
                  <a:spcAft>
                    <a:spcPts val="0"/>
                  </a:spcAft>
                  <a:buNone/>
                </a:pPr>
                <a:r>
                  <a:rPr lang="en-US" sz="2800" b="0">
                    <a:solidFill>
                      <a:prstClr val="black"/>
                    </a:solidFill>
                    <a:latin typeface="18 VAG Rounded Light   02390"/>
                    <a:ea typeface="+mn-ea"/>
                  </a:rPr>
                  <a:t>program</a:t>
                </a:r>
              </a:p>
            </p:txBody>
          </p:sp>
          <p:sp>
            <p:nvSpPr>
              <p:cNvPr id="3214358" name="Line 22"/>
              <p:cNvSpPr>
                <a:spLocks noChangeShapeType="1"/>
              </p:cNvSpPr>
              <p:nvPr/>
            </p:nvSpPr>
            <p:spPr bwMode="auto">
              <a:xfrm>
                <a:off x="2592" y="1344"/>
                <a:ext cx="760"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59" name="Line 23"/>
              <p:cNvSpPr>
                <a:spLocks noChangeShapeType="1"/>
              </p:cNvSpPr>
              <p:nvPr/>
            </p:nvSpPr>
            <p:spPr bwMode="auto">
              <a:xfrm>
                <a:off x="2600" y="1120"/>
                <a:ext cx="752"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0" name="Line 24"/>
              <p:cNvSpPr>
                <a:spLocks noChangeShapeType="1"/>
              </p:cNvSpPr>
              <p:nvPr/>
            </p:nvSpPr>
            <p:spPr bwMode="auto">
              <a:xfrm>
                <a:off x="2592" y="1584"/>
                <a:ext cx="760"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1" name="Line 25"/>
              <p:cNvSpPr>
                <a:spLocks noChangeShapeType="1"/>
              </p:cNvSpPr>
              <p:nvPr/>
            </p:nvSpPr>
            <p:spPr bwMode="auto">
              <a:xfrm>
                <a:off x="2592" y="2064"/>
                <a:ext cx="760"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2" name="Line 26"/>
              <p:cNvSpPr>
                <a:spLocks noChangeShapeType="1"/>
              </p:cNvSpPr>
              <p:nvPr/>
            </p:nvSpPr>
            <p:spPr bwMode="auto">
              <a:xfrm>
                <a:off x="2576" y="1848"/>
                <a:ext cx="776"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3" name="Line 27"/>
              <p:cNvSpPr>
                <a:spLocks noChangeShapeType="1"/>
              </p:cNvSpPr>
              <p:nvPr/>
            </p:nvSpPr>
            <p:spPr bwMode="auto">
              <a:xfrm>
                <a:off x="3380" y="1124"/>
                <a:ext cx="144" cy="224"/>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4" name="Line 28"/>
              <p:cNvSpPr>
                <a:spLocks noChangeShapeType="1"/>
              </p:cNvSpPr>
              <p:nvPr/>
            </p:nvSpPr>
            <p:spPr bwMode="auto">
              <a:xfrm flipV="1">
                <a:off x="3384" y="1856"/>
                <a:ext cx="136" cy="20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grpSp>
        <p:sp>
          <p:nvSpPr>
            <p:cNvPr id="3214365" name="Rectangle 29"/>
            <p:cNvSpPr>
              <a:spLocks noChangeArrowheads="1"/>
            </p:cNvSpPr>
            <p:nvPr/>
          </p:nvSpPr>
          <p:spPr bwMode="auto">
            <a:xfrm>
              <a:off x="2664" y="2880"/>
              <a:ext cx="646" cy="955"/>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read</a:t>
              </a:r>
            </a:p>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store</a:t>
              </a:r>
            </a:p>
            <a:p>
              <a:pPr algn="l" defTabSz="457200" fontAlgn="auto">
                <a:lnSpc>
                  <a:spcPct val="85000"/>
                </a:lnSpc>
                <a:spcBef>
                  <a:spcPts val="0"/>
                </a:spcBef>
                <a:spcAft>
                  <a:spcPts val="0"/>
                </a:spcAft>
                <a:buNone/>
              </a:pPr>
              <a:r>
                <a:rPr lang="en-US" sz="2800" b="0" dirty="0">
                  <a:solidFill>
                    <a:prstClr val="black"/>
                  </a:solidFill>
                  <a:latin typeface="18 VAG Rounded Light   02390"/>
                  <a:ea typeface="+mn-ea"/>
                </a:rPr>
                <a:t>...</a:t>
              </a:r>
            </a:p>
            <a:p>
              <a:pPr algn="l" defTabSz="457200" fontAlgn="auto">
                <a:lnSpc>
                  <a:spcPct val="85000"/>
                </a:lnSpc>
                <a:spcBef>
                  <a:spcPts val="0"/>
                </a:spcBef>
                <a:spcAft>
                  <a:spcPts val="0"/>
                </a:spcAft>
                <a:buNone/>
              </a:pPr>
              <a:r>
                <a:rPr lang="en-US" altLang="zh-CN" sz="2800" b="0" dirty="0" err="1">
                  <a:solidFill>
                    <a:srgbClr val="FF0000"/>
                  </a:solidFill>
                  <a:latin typeface="18 VAG Rounded Light   02390"/>
                  <a:ea typeface="+mn-ea"/>
                </a:rPr>
                <a:t>eret</a:t>
              </a:r>
              <a:endParaRPr lang="en-US" sz="2800" b="0" dirty="0">
                <a:solidFill>
                  <a:srgbClr val="FF0000"/>
                </a:solidFill>
                <a:latin typeface="18 VAG Rounded Light   02390"/>
                <a:ea typeface="+mn-ea"/>
              </a:endParaRPr>
            </a:p>
          </p:txBody>
        </p:sp>
        <p:sp>
          <p:nvSpPr>
            <p:cNvPr id="3214366" name="Line 30"/>
            <p:cNvSpPr>
              <a:spLocks noChangeShapeType="1"/>
            </p:cNvSpPr>
            <p:nvPr/>
          </p:nvSpPr>
          <p:spPr bwMode="auto">
            <a:xfrm>
              <a:off x="2592" y="2912"/>
              <a:ext cx="760"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7" name="Line 31"/>
            <p:cNvSpPr>
              <a:spLocks noChangeShapeType="1"/>
            </p:cNvSpPr>
            <p:nvPr/>
          </p:nvSpPr>
          <p:spPr bwMode="auto">
            <a:xfrm>
              <a:off x="2592" y="3584"/>
              <a:ext cx="752"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8" name="Line 32"/>
            <p:cNvSpPr>
              <a:spLocks noChangeShapeType="1"/>
            </p:cNvSpPr>
            <p:nvPr/>
          </p:nvSpPr>
          <p:spPr bwMode="auto">
            <a:xfrm>
              <a:off x="2584" y="3872"/>
              <a:ext cx="752"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69" name="Line 33"/>
            <p:cNvSpPr>
              <a:spLocks noChangeShapeType="1"/>
            </p:cNvSpPr>
            <p:nvPr/>
          </p:nvSpPr>
          <p:spPr bwMode="auto">
            <a:xfrm>
              <a:off x="2600" y="3152"/>
              <a:ext cx="752"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70" name="Line 34"/>
            <p:cNvSpPr>
              <a:spLocks noChangeShapeType="1"/>
            </p:cNvSpPr>
            <p:nvPr/>
          </p:nvSpPr>
          <p:spPr bwMode="auto">
            <a:xfrm>
              <a:off x="2592" y="3392"/>
              <a:ext cx="768" cy="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71" name="Rectangle 35"/>
            <p:cNvSpPr>
              <a:spLocks noChangeArrowheads="1"/>
            </p:cNvSpPr>
            <p:nvPr/>
          </p:nvSpPr>
          <p:spPr bwMode="auto">
            <a:xfrm>
              <a:off x="3696" y="2976"/>
              <a:ext cx="1099" cy="724"/>
            </a:xfrm>
            <a:prstGeom prst="rect">
              <a:avLst/>
            </a:prstGeom>
            <a:noFill/>
            <a:ln w="127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interrupt</a:t>
              </a:r>
            </a:p>
            <a:p>
              <a:pPr algn="l" defTabSz="457200" fontAlgn="auto">
                <a:lnSpc>
                  <a:spcPct val="85000"/>
                </a:lnSpc>
                <a:spcBef>
                  <a:spcPts val="0"/>
                </a:spcBef>
                <a:spcAft>
                  <a:spcPts val="0"/>
                </a:spcAft>
                <a:buNone/>
              </a:pPr>
              <a:r>
                <a:rPr lang="en-US" sz="2800" b="0">
                  <a:solidFill>
                    <a:prstClr val="black"/>
                  </a:solidFill>
                  <a:latin typeface="18 VAG Rounded Light   02390"/>
                  <a:ea typeface="+mn-ea"/>
                </a:rPr>
                <a:t>service</a:t>
              </a:r>
            </a:p>
            <a:p>
              <a:pPr algn="l" defTabSz="457200" fontAlgn="auto">
                <a:lnSpc>
                  <a:spcPct val="85000"/>
                </a:lnSpc>
                <a:spcBef>
                  <a:spcPts val="0"/>
                </a:spcBef>
                <a:spcAft>
                  <a:spcPts val="0"/>
                </a:spcAft>
                <a:buNone/>
              </a:pPr>
              <a:r>
                <a:rPr lang="en-US" sz="2800" b="0">
                  <a:solidFill>
                    <a:prstClr val="black"/>
                  </a:solidFill>
                  <a:latin typeface="18 VAG Rounded Light   02390"/>
                  <a:ea typeface="+mn-ea"/>
                </a:rPr>
                <a:t>routine</a:t>
              </a:r>
            </a:p>
          </p:txBody>
        </p:sp>
        <p:sp>
          <p:nvSpPr>
            <p:cNvPr id="3214372" name="Line 36"/>
            <p:cNvSpPr>
              <a:spLocks noChangeShapeType="1"/>
            </p:cNvSpPr>
            <p:nvPr/>
          </p:nvSpPr>
          <p:spPr bwMode="auto">
            <a:xfrm>
              <a:off x="3384" y="2912"/>
              <a:ext cx="248" cy="88"/>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73" name="Line 37"/>
            <p:cNvSpPr>
              <a:spLocks noChangeShapeType="1"/>
            </p:cNvSpPr>
            <p:nvPr/>
          </p:nvSpPr>
          <p:spPr bwMode="auto">
            <a:xfrm flipV="1">
              <a:off x="3384" y="3680"/>
              <a:ext cx="240" cy="200"/>
            </a:xfrm>
            <a:prstGeom prst="line">
              <a:avLst/>
            </a:prstGeom>
            <a:noFill/>
            <a:ln w="38100">
              <a:solidFill>
                <a:schemeClr val="tx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grpSp>
      <p:grpSp>
        <p:nvGrpSpPr>
          <p:cNvPr id="7" name="Group 38"/>
          <p:cNvGrpSpPr/>
          <p:nvPr/>
        </p:nvGrpSpPr>
        <p:grpSpPr bwMode="auto">
          <a:xfrm>
            <a:off x="2857500" y="3403601"/>
            <a:ext cx="2781300" cy="1819276"/>
            <a:chOff x="840" y="2144"/>
            <a:chExt cx="1752" cy="1146"/>
          </a:xfrm>
        </p:grpSpPr>
        <p:sp>
          <p:nvSpPr>
            <p:cNvPr id="3214375" name="Line 39"/>
            <p:cNvSpPr>
              <a:spLocks noChangeShapeType="1"/>
            </p:cNvSpPr>
            <p:nvPr/>
          </p:nvSpPr>
          <p:spPr bwMode="auto">
            <a:xfrm>
              <a:off x="1606" y="2144"/>
              <a:ext cx="2" cy="256"/>
            </a:xfrm>
            <a:prstGeom prst="line">
              <a:avLst/>
            </a:prstGeom>
            <a:noFill/>
            <a:ln w="38100">
              <a:solidFill>
                <a:schemeClr val="tx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76" name="Rectangle 40"/>
            <p:cNvSpPr>
              <a:spLocks noChangeArrowheads="1"/>
            </p:cNvSpPr>
            <p:nvPr/>
          </p:nvSpPr>
          <p:spPr bwMode="auto">
            <a:xfrm>
              <a:off x="840" y="2336"/>
              <a:ext cx="1656" cy="954"/>
            </a:xfrm>
            <a:prstGeom prst="rect">
              <a:avLst/>
            </a:prstGeom>
            <a:noFill/>
            <a:ln w="12700">
              <a:noFill/>
              <a:miter lim="800000"/>
            </a:ln>
            <a:effectLst/>
          </p:spPr>
          <p:txBody>
            <a:bodyPr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(3) jump to interrupt</a:t>
              </a:r>
            </a:p>
            <a:p>
              <a:pPr algn="l" defTabSz="457200" fontAlgn="auto">
                <a:lnSpc>
                  <a:spcPct val="85000"/>
                </a:lnSpc>
                <a:spcBef>
                  <a:spcPts val="0"/>
                </a:spcBef>
                <a:spcAft>
                  <a:spcPts val="0"/>
                </a:spcAft>
                <a:buNone/>
              </a:pPr>
              <a:r>
                <a:rPr lang="en-US" sz="2800" b="0">
                  <a:solidFill>
                    <a:prstClr val="black"/>
                  </a:solidFill>
                  <a:latin typeface="18 VAG Rounded Light   02390"/>
                  <a:ea typeface="+mn-ea"/>
                </a:rPr>
                <a:t>service routine</a:t>
              </a:r>
            </a:p>
          </p:txBody>
        </p:sp>
        <p:sp>
          <p:nvSpPr>
            <p:cNvPr id="3214377" name="Line 41"/>
            <p:cNvSpPr>
              <a:spLocks noChangeShapeType="1"/>
            </p:cNvSpPr>
            <p:nvPr/>
          </p:nvSpPr>
          <p:spPr bwMode="auto">
            <a:xfrm>
              <a:off x="2016" y="2736"/>
              <a:ext cx="576" cy="160"/>
            </a:xfrm>
            <a:prstGeom prst="line">
              <a:avLst/>
            </a:prstGeom>
            <a:noFill/>
            <a:ln w="38100">
              <a:solidFill>
                <a:schemeClr val="accent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grpSp>
      <p:sp>
        <p:nvSpPr>
          <p:cNvPr id="3214378" name="Rectangle 42"/>
          <p:cNvSpPr>
            <a:spLocks noChangeArrowheads="1"/>
          </p:cNvSpPr>
          <p:nvPr/>
        </p:nvSpPr>
        <p:spPr bwMode="auto">
          <a:xfrm>
            <a:off x="2895600" y="5257800"/>
            <a:ext cx="1981200" cy="1148715"/>
          </a:xfrm>
          <a:prstGeom prst="rect">
            <a:avLst/>
          </a:prstGeom>
          <a:noFill/>
          <a:ln w="38100">
            <a:noFill/>
            <a:miter lim="800000"/>
          </a:ln>
          <a:effectLst/>
        </p:spPr>
        <p:txBody>
          <a:bodyPr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(4) perform transfer</a:t>
            </a:r>
          </a:p>
        </p:txBody>
      </p:sp>
      <p:grpSp>
        <p:nvGrpSpPr>
          <p:cNvPr id="8" name="Group 43"/>
          <p:cNvGrpSpPr/>
          <p:nvPr/>
        </p:nvGrpSpPr>
        <p:grpSpPr bwMode="auto">
          <a:xfrm>
            <a:off x="4495800" y="2590800"/>
            <a:ext cx="1104900" cy="3556000"/>
            <a:chOff x="1872" y="1632"/>
            <a:chExt cx="696" cy="2240"/>
          </a:xfrm>
        </p:grpSpPr>
        <p:grpSp>
          <p:nvGrpSpPr>
            <p:cNvPr id="9" name="Group 44"/>
            <p:cNvGrpSpPr/>
            <p:nvPr/>
          </p:nvGrpSpPr>
          <p:grpSpPr bwMode="auto">
            <a:xfrm>
              <a:off x="2248" y="1632"/>
              <a:ext cx="320" cy="2240"/>
              <a:chOff x="2248" y="1728"/>
              <a:chExt cx="320" cy="2240"/>
            </a:xfrm>
          </p:grpSpPr>
          <p:sp>
            <p:nvSpPr>
              <p:cNvPr id="3214381" name="Line 45"/>
              <p:cNvSpPr>
                <a:spLocks noChangeShapeType="1"/>
              </p:cNvSpPr>
              <p:nvPr/>
            </p:nvSpPr>
            <p:spPr bwMode="auto">
              <a:xfrm flipH="1" flipV="1">
                <a:off x="2256" y="3768"/>
                <a:ext cx="312" cy="200"/>
              </a:xfrm>
              <a:prstGeom prst="line">
                <a:avLst/>
              </a:prstGeom>
              <a:noFill/>
              <a:ln w="38100">
                <a:solidFill>
                  <a:schemeClr val="accent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82" name="Line 46"/>
              <p:cNvSpPr>
                <a:spLocks noChangeShapeType="1"/>
              </p:cNvSpPr>
              <p:nvPr/>
            </p:nvSpPr>
            <p:spPr bwMode="auto">
              <a:xfrm flipV="1">
                <a:off x="2248" y="1944"/>
                <a:ext cx="0" cy="1824"/>
              </a:xfrm>
              <a:prstGeom prst="line">
                <a:avLst/>
              </a:prstGeom>
              <a:noFill/>
              <a:ln w="38100">
                <a:solidFill>
                  <a:schemeClr val="accent1"/>
                </a:solidFill>
                <a:roun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sp>
            <p:nvSpPr>
              <p:cNvPr id="3214383" name="Line 47"/>
              <p:cNvSpPr>
                <a:spLocks noChangeShapeType="1"/>
              </p:cNvSpPr>
              <p:nvPr/>
            </p:nvSpPr>
            <p:spPr bwMode="auto">
              <a:xfrm flipV="1">
                <a:off x="2264" y="1728"/>
                <a:ext cx="288" cy="208"/>
              </a:xfrm>
              <a:prstGeom prst="line">
                <a:avLst/>
              </a:prstGeom>
              <a:noFill/>
              <a:ln w="38100">
                <a:solidFill>
                  <a:schemeClr val="accent1"/>
                </a:solidFill>
                <a:round/>
                <a:tailEnd type="triangle" w="med" len="med"/>
              </a:ln>
              <a:effectLst/>
            </p:spPr>
            <p:txBody>
              <a:bodyPr wrap="none" anchor="ctr"/>
              <a:lstStyle/>
              <a:p>
                <a:pPr algn="l" defTabSz="457200" fontAlgn="auto">
                  <a:spcBef>
                    <a:spcPts val="0"/>
                  </a:spcBef>
                  <a:spcAft>
                    <a:spcPts val="0"/>
                  </a:spcAft>
                  <a:buNone/>
                </a:pPr>
                <a:endParaRPr lang="en-US" sz="1800" b="0">
                  <a:solidFill>
                    <a:prstClr val="black"/>
                  </a:solidFill>
                  <a:latin typeface="18 VAG Rounded Light   02390"/>
                  <a:ea typeface="+mn-ea"/>
                </a:endParaRPr>
              </a:p>
            </p:txBody>
          </p:sp>
        </p:grpSp>
        <p:sp>
          <p:nvSpPr>
            <p:cNvPr id="3214384" name="Rectangle 48"/>
            <p:cNvSpPr>
              <a:spLocks noChangeArrowheads="1"/>
            </p:cNvSpPr>
            <p:nvPr/>
          </p:nvSpPr>
          <p:spPr bwMode="auto">
            <a:xfrm>
              <a:off x="1872" y="2976"/>
              <a:ext cx="420" cy="263"/>
            </a:xfrm>
            <a:prstGeom prst="rect">
              <a:avLst/>
            </a:prstGeom>
            <a:noFill/>
            <a:ln w="38100">
              <a:noFill/>
              <a:miter lim="800000"/>
            </a:ln>
            <a:effectLst/>
          </p:spPr>
          <p:txBody>
            <a:bodyPr wrap="none" lIns="63500" tIns="25400" rIns="63500" bIns="25400">
              <a:spAutoFit/>
            </a:bodyPr>
            <a:lstStyle/>
            <a:p>
              <a:pPr algn="l" defTabSz="457200" fontAlgn="auto">
                <a:lnSpc>
                  <a:spcPct val="85000"/>
                </a:lnSpc>
                <a:spcBef>
                  <a:spcPts val="0"/>
                </a:spcBef>
                <a:spcAft>
                  <a:spcPts val="0"/>
                </a:spcAft>
                <a:buNone/>
              </a:pPr>
              <a:r>
                <a:rPr lang="en-US" sz="2800" b="0">
                  <a:solidFill>
                    <a:prstClr val="black"/>
                  </a:solidFill>
                  <a:latin typeface="18 VAG Rounded Light   02390"/>
                  <a:ea typeface="+mn-ea"/>
                </a:rPr>
                <a:t>(5)</a:t>
              </a:r>
            </a:p>
          </p:txBody>
        </p:sp>
      </p:grpSp>
      <p:sp>
        <p:nvSpPr>
          <p:cNvPr id="452610" name="Rectangle 2"/>
          <p:cNvSpPr>
            <a:spLocks noGrp="1" noChangeArrowheads="1"/>
          </p:cNvSpPr>
          <p:nvPr/>
        </p:nvSpPr>
        <p:spPr>
          <a:xfrm>
            <a:off x="0" y="300355"/>
            <a:ext cx="82169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dirty="0">
                <a:solidFill>
                  <a:schemeClr val="accent1"/>
                </a:solidFill>
              </a:rPr>
              <a:t>5.1 </a:t>
            </a:r>
            <a:r>
              <a:rPr lang="en-US" altLang="zh-CN" dirty="0">
                <a:sym typeface="+mn-ea"/>
              </a:rPr>
              <a:t>MIPS中断/异常--</a:t>
            </a:r>
            <a:r>
              <a:rPr lang="en-US" dirty="0">
                <a:solidFill>
                  <a:schemeClr val="accent1"/>
                </a:solidFill>
                <a:sym typeface="+mn-ea"/>
              </a:rPr>
              <a:t>Interrupt-Driven Data Transfer</a:t>
            </a:r>
            <a:endParaRPr lang="en-AU" dirty="0">
              <a:solidFill>
                <a:schemeClr val="accent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214378"/>
                                        </p:tgtEl>
                                        <p:attrNameLst>
                                          <p:attrName>style.visibility</p:attrName>
                                        </p:attrNameLst>
                                      </p:cBhvr>
                                      <p:to>
                                        <p:strVal val="visible"/>
                                      </p:to>
                                    </p:set>
                                    <p:animEffect transition="in" filter="wipe(up)">
                                      <p:cBhvr>
                                        <p:cTn id="22" dur="500"/>
                                        <p:tgtEl>
                                          <p:spTgt spid="321437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4378" grpId="0" bldLvl="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19336" y="794725"/>
            <a:ext cx="10755808" cy="1243330"/>
          </a:xfrm>
        </p:spPr>
        <p:txBody>
          <a:bodyPr/>
          <a:lstStyle/>
          <a:p>
            <a:r>
              <a:rPr lang="en-US" altLang="zh-CN" dirty="0"/>
              <a:t>EPC</a:t>
            </a:r>
            <a:r>
              <a:rPr lang="zh-CN" altLang="en-US" dirty="0"/>
              <a:t>：保存中断</a:t>
            </a:r>
            <a:r>
              <a:rPr lang="en-US" altLang="zh-CN" dirty="0"/>
              <a:t>/</a:t>
            </a:r>
            <a:r>
              <a:rPr lang="zh-CN" altLang="en-US" dirty="0"/>
              <a:t>异常时的</a:t>
            </a:r>
            <a:r>
              <a:rPr lang="en-US" altLang="zh-CN" dirty="0"/>
              <a:t>PC</a:t>
            </a:r>
          </a:p>
          <a:p>
            <a:pPr lvl="1"/>
            <a:r>
              <a:rPr lang="zh-CN" altLang="en-US" dirty="0"/>
              <a:t>以便从中断</a:t>
            </a:r>
            <a:r>
              <a:rPr lang="en-US" altLang="zh-CN" dirty="0"/>
              <a:t>/</a:t>
            </a:r>
            <a:r>
              <a:rPr lang="zh-CN" altLang="en-US" dirty="0"/>
              <a:t>异常服务程序返回被中断指令</a:t>
            </a:r>
            <a:endParaRPr lang="en-US" altLang="zh-CN" dirty="0"/>
          </a:p>
          <a:p>
            <a:pPr lvl="1"/>
            <a:r>
              <a:rPr lang="zh-CN" altLang="en-US" dirty="0"/>
              <a:t>中断</a:t>
            </a:r>
            <a:r>
              <a:rPr lang="en-US" altLang="zh-CN" dirty="0"/>
              <a:t>/</a:t>
            </a:r>
            <a:r>
              <a:rPr lang="zh-CN" altLang="en-US" dirty="0"/>
              <a:t>异常服务程序返回指令：</a:t>
            </a:r>
            <a:r>
              <a:rPr lang="en-US" altLang="zh-CN" dirty="0"/>
              <a:t>ERET</a:t>
            </a:r>
            <a:endParaRPr lang="zh-CN" altLang="en-US" dirty="0"/>
          </a:p>
        </p:txBody>
      </p:sp>
      <p:sp>
        <p:nvSpPr>
          <p:cNvPr id="3" name="标题 2"/>
          <p:cNvSpPr>
            <a:spLocks noGrp="1"/>
          </p:cNvSpPr>
          <p:nvPr>
            <p:ph type="title"/>
          </p:nvPr>
        </p:nvSpPr>
        <p:spPr>
          <a:xfrm>
            <a:off x="-211" y="300401"/>
            <a:ext cx="7010400" cy="371475"/>
          </a:xfrm>
        </p:spPr>
        <p:txBody>
          <a:bodyPr/>
          <a:lstStyle/>
          <a:p>
            <a:r>
              <a:rPr lang="en-US" altLang="zh-CN" dirty="0"/>
              <a:t>5.2 </a:t>
            </a:r>
            <a:r>
              <a:rPr lang="zh-CN" altLang="en-US" dirty="0">
                <a:sym typeface="+mn-ea"/>
              </a:rPr>
              <a:t>支持中断</a:t>
            </a:r>
            <a:r>
              <a:rPr lang="en-US" altLang="zh-CN" dirty="0">
                <a:sym typeface="+mn-ea"/>
              </a:rPr>
              <a:t>/</a:t>
            </a:r>
            <a:r>
              <a:rPr lang="zh-CN" altLang="en-US" dirty="0">
                <a:sym typeface="+mn-ea"/>
              </a:rPr>
              <a:t>异常的数据通路</a:t>
            </a:r>
            <a:r>
              <a:rPr lang="en-US" altLang="zh-CN" dirty="0">
                <a:sym typeface="+mn-ea"/>
              </a:rPr>
              <a:t>--</a:t>
            </a:r>
            <a:r>
              <a:rPr lang="zh-CN" altLang="en-US" dirty="0"/>
              <a:t>增加</a:t>
            </a:r>
            <a:r>
              <a:rPr lang="en-US" altLang="zh-CN" dirty="0"/>
              <a:t>EPC</a:t>
            </a:r>
            <a:endParaRPr lang="zh-CN" altLang="en-US" dirty="0"/>
          </a:p>
        </p:txBody>
      </p:sp>
      <p:pic>
        <p:nvPicPr>
          <p:cNvPr id="118" name="图片 117"/>
          <p:cNvPicPr>
            <a:picLocks noChangeAspect="1"/>
          </p:cNvPicPr>
          <p:nvPr/>
        </p:nvPicPr>
        <p:blipFill>
          <a:blip r:embed="rId2"/>
          <a:stretch>
            <a:fillRect/>
          </a:stretch>
        </p:blipFill>
        <p:spPr>
          <a:xfrm>
            <a:off x="1655445" y="2160905"/>
            <a:ext cx="8982710" cy="43840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图片 117"/>
          <p:cNvPicPr>
            <a:picLocks noChangeAspect="1"/>
          </p:cNvPicPr>
          <p:nvPr/>
        </p:nvPicPr>
        <p:blipFill>
          <a:blip r:embed="rId3"/>
          <a:stretch>
            <a:fillRect/>
          </a:stretch>
        </p:blipFill>
        <p:spPr>
          <a:xfrm>
            <a:off x="4007768" y="2852936"/>
            <a:ext cx="7959090" cy="3870325"/>
          </a:xfrm>
          <a:prstGeom prst="rect">
            <a:avLst/>
          </a:prstGeom>
        </p:spPr>
      </p:pic>
      <p:sp>
        <p:nvSpPr>
          <p:cNvPr id="2" name="内容占位符 1"/>
          <p:cNvSpPr>
            <a:spLocks noGrp="1"/>
          </p:cNvSpPr>
          <p:nvPr>
            <p:ph idx="1"/>
          </p:nvPr>
        </p:nvSpPr>
        <p:spPr>
          <a:xfrm>
            <a:off x="191344" y="671876"/>
            <a:ext cx="11139439" cy="2667397"/>
          </a:xfrm>
        </p:spPr>
        <p:txBody>
          <a:bodyPr/>
          <a:lstStyle/>
          <a:p>
            <a:r>
              <a:rPr lang="en-US" altLang="zh-CN" sz="2400" dirty="0">
                <a:solidFill>
                  <a:srgbClr val="000000"/>
                </a:solidFill>
              </a:rPr>
              <a:t>NPC</a:t>
            </a:r>
            <a:r>
              <a:rPr lang="zh-CN" altLang="en-US" sz="2400" dirty="0">
                <a:solidFill>
                  <a:srgbClr val="000000"/>
                </a:solidFill>
              </a:rPr>
              <a:t>需要增加</a:t>
            </a:r>
            <a:r>
              <a:rPr lang="en-US" altLang="zh-CN" sz="2400" dirty="0">
                <a:solidFill>
                  <a:srgbClr val="000000"/>
                </a:solidFill>
              </a:rPr>
              <a:t>3</a:t>
            </a:r>
            <a:r>
              <a:rPr lang="zh-CN" altLang="en-US" sz="2400" dirty="0">
                <a:solidFill>
                  <a:srgbClr val="000000"/>
                </a:solidFill>
              </a:rPr>
              <a:t>个输出值：异常</a:t>
            </a:r>
            <a:r>
              <a:rPr lang="en-US" altLang="zh-CN" sz="2400" dirty="0">
                <a:solidFill>
                  <a:srgbClr val="000000"/>
                </a:solidFill>
              </a:rPr>
              <a:t>/</a:t>
            </a:r>
            <a:r>
              <a:rPr lang="zh-CN" altLang="en-US" sz="2400" dirty="0">
                <a:solidFill>
                  <a:srgbClr val="000000"/>
                </a:solidFill>
              </a:rPr>
              <a:t>中断处理程序的首地址（</a:t>
            </a:r>
            <a:r>
              <a:rPr lang="en-US" altLang="zh-CN" sz="2400" dirty="0" err="1">
                <a:solidFill>
                  <a:srgbClr val="000000"/>
                </a:solidFill>
              </a:rPr>
              <a:t>uncached</a:t>
            </a:r>
            <a:r>
              <a:rPr lang="en-US" altLang="zh-CN" sz="2400" dirty="0">
                <a:solidFill>
                  <a:srgbClr val="000000"/>
                </a:solidFill>
              </a:rPr>
              <a:t> </a:t>
            </a:r>
            <a:r>
              <a:rPr lang="zh-CN" altLang="en-US" sz="2400" dirty="0">
                <a:solidFill>
                  <a:srgbClr val="000000"/>
                </a:solidFill>
              </a:rPr>
              <a:t>地址使用</a:t>
            </a:r>
            <a:r>
              <a:rPr lang="en-US" altLang="zh-CN" sz="2400" dirty="0">
                <a:solidFill>
                  <a:srgbClr val="000000"/>
                </a:solidFill>
              </a:rPr>
              <a:t>0xBFC0 0400</a:t>
            </a:r>
            <a:r>
              <a:rPr lang="zh-CN" altLang="en-US" sz="2400" dirty="0">
                <a:solidFill>
                  <a:srgbClr val="000000"/>
                </a:solidFill>
              </a:rPr>
              <a:t>，刚上电的的地址，还没有使用高速缓存；操作系统启动后，地址变为</a:t>
            </a:r>
            <a:r>
              <a:rPr lang="en-US" altLang="zh-CN" sz="2400" dirty="0">
                <a:solidFill>
                  <a:srgbClr val="000000"/>
                </a:solidFill>
              </a:rPr>
              <a:t>cached</a:t>
            </a:r>
            <a:r>
              <a:rPr lang="zh-CN" altLang="en-US" sz="2400" dirty="0">
                <a:solidFill>
                  <a:srgbClr val="000000"/>
                </a:solidFill>
              </a:rPr>
              <a:t>地址</a:t>
            </a:r>
            <a:r>
              <a:rPr lang="en-US" altLang="zh-CN" sz="2400" dirty="0">
                <a:solidFill>
                  <a:srgbClr val="000000"/>
                </a:solidFill>
              </a:rPr>
              <a:t>0x8000 0180</a:t>
            </a:r>
            <a:r>
              <a:rPr lang="zh-CN" altLang="en-US" sz="2400" dirty="0">
                <a:solidFill>
                  <a:srgbClr val="000000"/>
                </a:solidFill>
              </a:rPr>
              <a:t>）</a:t>
            </a:r>
            <a:endParaRPr lang="en-US" altLang="zh-CN" sz="2400" dirty="0">
              <a:solidFill>
                <a:srgbClr val="000000"/>
              </a:solidFill>
            </a:endParaRPr>
          </a:p>
          <a:p>
            <a:pPr lvl="1"/>
            <a:r>
              <a:rPr lang="zh-CN" altLang="en-US" dirty="0">
                <a:solidFill>
                  <a:srgbClr val="000000"/>
                </a:solidFill>
              </a:rPr>
              <a:t>异常时输出：</a:t>
            </a:r>
            <a:r>
              <a:rPr lang="en-US" altLang="zh-CN" dirty="0">
                <a:solidFill>
                  <a:srgbClr val="000000"/>
                </a:solidFill>
              </a:rPr>
              <a:t>0x8000 0180</a:t>
            </a:r>
            <a:endParaRPr lang="en-US" altLang="zh-CN" dirty="0">
              <a:solidFill>
                <a:srgbClr val="FF0000"/>
              </a:solidFill>
            </a:endParaRPr>
          </a:p>
          <a:p>
            <a:pPr lvl="1"/>
            <a:r>
              <a:rPr lang="zh-CN" altLang="en-US" dirty="0">
                <a:solidFill>
                  <a:srgbClr val="000000"/>
                </a:solidFill>
              </a:rPr>
              <a:t>系统复位时输出：</a:t>
            </a:r>
            <a:r>
              <a:rPr lang="en-US" altLang="zh-CN" dirty="0">
                <a:solidFill>
                  <a:srgbClr val="000000"/>
                </a:solidFill>
              </a:rPr>
              <a:t>0xBFC0_0000</a:t>
            </a:r>
          </a:p>
          <a:p>
            <a:pPr lvl="1"/>
            <a:r>
              <a:rPr lang="zh-CN" altLang="en-US" dirty="0">
                <a:solidFill>
                  <a:srgbClr val="000000"/>
                </a:solidFill>
              </a:rPr>
              <a:t>硬件中断时输出：</a:t>
            </a:r>
            <a:r>
              <a:rPr lang="en-US" altLang="zh-CN" dirty="0">
                <a:solidFill>
                  <a:srgbClr val="000000"/>
                </a:solidFill>
              </a:rPr>
              <a:t>0xBFC0_0400</a:t>
            </a:r>
          </a:p>
        </p:txBody>
      </p:sp>
      <p:sp>
        <p:nvSpPr>
          <p:cNvPr id="119" name="标题 2"/>
          <p:cNvSpPr>
            <a:spLocks noGrp="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t>5.2 </a:t>
            </a:r>
            <a:r>
              <a:rPr lang="zh-CN" altLang="en-US" dirty="0">
                <a:sym typeface="+mn-ea"/>
              </a:rPr>
              <a:t>支持中断</a:t>
            </a:r>
            <a:r>
              <a:rPr lang="en-US" altLang="zh-CN" dirty="0">
                <a:sym typeface="+mn-ea"/>
              </a:rPr>
              <a:t>/</a:t>
            </a:r>
            <a:r>
              <a:rPr lang="zh-CN" altLang="en-US" dirty="0">
                <a:sym typeface="+mn-ea"/>
              </a:rPr>
              <a:t>异常的数据通路</a:t>
            </a:r>
            <a:r>
              <a:rPr lang="en-US" altLang="zh-CN" dirty="0">
                <a:sym typeface="+mn-ea"/>
              </a:rPr>
              <a:t>--</a:t>
            </a:r>
            <a:r>
              <a:rPr lang="zh-CN" altLang="en-US" dirty="0">
                <a:sym typeface="+mn-ea"/>
              </a:rPr>
              <a:t>修改</a:t>
            </a:r>
            <a:r>
              <a:rPr lang="en-US" altLang="zh-CN" dirty="0">
                <a:sym typeface="+mn-ea"/>
              </a:rPr>
              <a:t>NPC</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63352" y="851426"/>
            <a:ext cx="11043840" cy="1281430"/>
          </a:xfrm>
        </p:spPr>
        <p:txBody>
          <a:bodyPr/>
          <a:lstStyle/>
          <a:p>
            <a:r>
              <a:rPr lang="zh-CN" altLang="en-US" sz="2400" dirty="0">
                <a:solidFill>
                  <a:srgbClr val="000000"/>
                </a:solidFill>
              </a:rPr>
              <a:t>记录当前哪些硬件中断正在有效</a:t>
            </a:r>
            <a:endParaRPr lang="en-US" altLang="zh-CN" sz="2400" dirty="0">
              <a:solidFill>
                <a:srgbClr val="000000"/>
              </a:solidFill>
            </a:endParaRPr>
          </a:p>
          <a:p>
            <a:pPr lvl="1"/>
            <a:r>
              <a:rPr lang="en-US" altLang="zh-CN" dirty="0">
                <a:solidFill>
                  <a:srgbClr val="000000"/>
                </a:solidFill>
              </a:rPr>
              <a:t>IP[7:2]</a:t>
            </a:r>
            <a:r>
              <a:rPr lang="zh-CN" altLang="en-US" dirty="0">
                <a:solidFill>
                  <a:srgbClr val="000000"/>
                </a:solidFill>
              </a:rPr>
              <a:t>：</a:t>
            </a:r>
            <a:r>
              <a:rPr lang="en-US" altLang="zh-CN" dirty="0">
                <a:solidFill>
                  <a:srgbClr val="000000"/>
                </a:solidFill>
              </a:rPr>
              <a:t>6</a:t>
            </a:r>
            <a:r>
              <a:rPr lang="zh-CN" altLang="en-US" dirty="0">
                <a:solidFill>
                  <a:srgbClr val="000000"/>
                </a:solidFill>
              </a:rPr>
              <a:t>个硬件中断</a:t>
            </a:r>
            <a:endParaRPr lang="en-US" altLang="zh-CN" dirty="0">
              <a:solidFill>
                <a:srgbClr val="000000"/>
              </a:solidFill>
            </a:endParaRPr>
          </a:p>
          <a:p>
            <a:pPr lvl="1"/>
            <a:r>
              <a:rPr lang="en-US" altLang="zh-CN" dirty="0">
                <a:solidFill>
                  <a:srgbClr val="000000"/>
                </a:solidFill>
              </a:rPr>
              <a:t>MIPS</a:t>
            </a:r>
            <a:r>
              <a:rPr lang="zh-CN" altLang="en-US" dirty="0">
                <a:solidFill>
                  <a:srgbClr val="000000"/>
                </a:solidFill>
              </a:rPr>
              <a:t>：支持</a:t>
            </a:r>
            <a:r>
              <a:rPr lang="en-US" altLang="zh-CN" dirty="0">
                <a:solidFill>
                  <a:srgbClr val="000000"/>
                </a:solidFill>
              </a:rPr>
              <a:t>6</a:t>
            </a:r>
            <a:r>
              <a:rPr lang="zh-CN" altLang="en-US" dirty="0">
                <a:solidFill>
                  <a:srgbClr val="000000"/>
                </a:solidFill>
              </a:rPr>
              <a:t>个硬件中断</a:t>
            </a:r>
          </a:p>
        </p:txBody>
      </p:sp>
      <p:pic>
        <p:nvPicPr>
          <p:cNvPr id="101378" name="Picture 2"/>
          <p:cNvPicPr>
            <a:picLocks noChangeAspect="1" noChangeArrowheads="1"/>
          </p:cNvPicPr>
          <p:nvPr/>
        </p:nvPicPr>
        <p:blipFill rotWithShape="1">
          <a:blip r:embed="rId3" cstate="print"/>
          <a:srcRect b="30214"/>
          <a:stretch>
            <a:fillRect/>
          </a:stretch>
        </p:blipFill>
        <p:spPr bwMode="auto">
          <a:xfrm>
            <a:off x="2567510" y="2204830"/>
            <a:ext cx="7239000" cy="576080"/>
          </a:xfrm>
          <a:prstGeom prst="rect">
            <a:avLst/>
          </a:prstGeom>
          <a:noFill/>
          <a:ln w="9525">
            <a:noFill/>
            <a:miter lim="800000"/>
            <a:headEnd/>
            <a:tailEnd/>
          </a:ln>
        </p:spPr>
      </p:pic>
      <p:sp>
        <p:nvSpPr>
          <p:cNvPr id="179" name="圆角矩形 178"/>
          <p:cNvSpPr/>
          <p:nvPr/>
        </p:nvSpPr>
        <p:spPr bwMode="auto">
          <a:xfrm>
            <a:off x="6168010" y="2204830"/>
            <a:ext cx="1368190" cy="576080"/>
          </a:xfrm>
          <a:prstGeom prst="roundRect">
            <a:avLst/>
          </a:prstGeom>
          <a:noFill/>
          <a:ln w="57150"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80" name="矩形 179"/>
          <p:cNvSpPr/>
          <p:nvPr/>
        </p:nvSpPr>
        <p:spPr bwMode="auto">
          <a:xfrm>
            <a:off x="2567510" y="2420860"/>
            <a:ext cx="367251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indent="-342900" algn="ctr">
              <a:spcBef>
                <a:spcPct val="20000"/>
              </a:spcBef>
              <a:buClr>
                <a:srgbClr val="FF9900"/>
              </a:buClr>
            </a:pPr>
            <a:endParaRPr lang="zh-CN" altLang="en-US" sz="2800" b="0">
              <a:solidFill>
                <a:schemeClr val="tx1"/>
              </a:solidFill>
              <a:ea typeface="宋体" panose="02010600030101010101" pitchFamily="2" charset="-122"/>
              <a:sym typeface="Wingdings" panose="05000000000000000000" pitchFamily="2" charset="2"/>
            </a:endParaRPr>
          </a:p>
        </p:txBody>
      </p:sp>
      <p:sp>
        <p:nvSpPr>
          <p:cNvPr id="181" name="矩形 180"/>
          <p:cNvSpPr/>
          <p:nvPr/>
        </p:nvSpPr>
        <p:spPr bwMode="auto">
          <a:xfrm>
            <a:off x="7392180" y="2420860"/>
            <a:ext cx="237633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44" name="标题 2"/>
          <p:cNvSpPr>
            <a:spLocks noGrp="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t>5.2 </a:t>
            </a:r>
            <a:r>
              <a:rPr lang="zh-CN" altLang="en-US" dirty="0">
                <a:sym typeface="+mn-ea"/>
              </a:rPr>
              <a:t>支持中断</a:t>
            </a:r>
            <a:r>
              <a:rPr lang="en-US" altLang="zh-CN" dirty="0">
                <a:sym typeface="+mn-ea"/>
              </a:rPr>
              <a:t>/</a:t>
            </a:r>
            <a:r>
              <a:rPr lang="zh-CN" altLang="en-US" dirty="0">
                <a:sym typeface="+mn-ea"/>
              </a:rPr>
              <a:t>异常的数据通路</a:t>
            </a:r>
            <a:r>
              <a:rPr lang="en-US" altLang="zh-CN" dirty="0">
                <a:sym typeface="+mn-ea"/>
              </a:rPr>
              <a:t>--</a:t>
            </a:r>
            <a:r>
              <a:rPr lang="zh-CN" altLang="en-US" dirty="0">
                <a:sym typeface="+mn-ea"/>
              </a:rPr>
              <a:t>增加</a:t>
            </a:r>
            <a:r>
              <a:rPr lang="en-US" altLang="zh-CN" dirty="0">
                <a:sym typeface="+mn-ea"/>
              </a:rPr>
              <a:t>Cause</a:t>
            </a:r>
            <a:r>
              <a:rPr lang="zh-CN" altLang="en-US" dirty="0">
                <a:sym typeface="+mn-ea"/>
              </a:rPr>
              <a:t>寄存器</a:t>
            </a:r>
            <a:endParaRPr lang="zh-CN" altLang="en-US" dirty="0"/>
          </a:p>
        </p:txBody>
      </p:sp>
      <p:pic>
        <p:nvPicPr>
          <p:cNvPr id="146" name="图片 145"/>
          <p:cNvPicPr>
            <a:picLocks noChangeAspect="1"/>
          </p:cNvPicPr>
          <p:nvPr/>
        </p:nvPicPr>
        <p:blipFill>
          <a:blip r:embed="rId4"/>
          <a:stretch>
            <a:fillRect/>
          </a:stretch>
        </p:blipFill>
        <p:spPr>
          <a:xfrm>
            <a:off x="2005330" y="2917825"/>
            <a:ext cx="8282940" cy="3767455"/>
          </a:xfrm>
          <a:prstGeom prst="rect">
            <a:avLst/>
          </a:prstGeom>
        </p:spPr>
      </p:pic>
    </p:spTree>
    <p:extLst>
      <p:ext uri="{BB962C8B-B14F-4D97-AF65-F5344CB8AC3E}">
        <p14:creationId xmlns:p14="http://schemas.microsoft.com/office/powerpoint/2010/main" val="1014744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63352" y="851426"/>
            <a:ext cx="11043840" cy="1281430"/>
          </a:xfrm>
        </p:spPr>
        <p:txBody>
          <a:bodyPr/>
          <a:lstStyle/>
          <a:p>
            <a:r>
              <a:rPr lang="zh-CN" altLang="en-US" sz="2400" dirty="0">
                <a:solidFill>
                  <a:srgbClr val="000000"/>
                </a:solidFill>
              </a:rPr>
              <a:t>记录当前哪些硬件中断正在有效</a:t>
            </a:r>
            <a:endParaRPr lang="en-US" altLang="zh-CN" sz="2400" dirty="0">
              <a:solidFill>
                <a:srgbClr val="000000"/>
              </a:solidFill>
            </a:endParaRPr>
          </a:p>
          <a:p>
            <a:pPr lvl="1"/>
            <a:r>
              <a:rPr lang="en-US" altLang="zh-CN" dirty="0">
                <a:solidFill>
                  <a:srgbClr val="000000"/>
                </a:solidFill>
              </a:rPr>
              <a:t>IP[7:2]</a:t>
            </a:r>
            <a:r>
              <a:rPr lang="zh-CN" altLang="en-US" dirty="0">
                <a:solidFill>
                  <a:srgbClr val="000000"/>
                </a:solidFill>
              </a:rPr>
              <a:t>：</a:t>
            </a:r>
            <a:r>
              <a:rPr lang="en-US" altLang="zh-CN" dirty="0">
                <a:solidFill>
                  <a:srgbClr val="000000"/>
                </a:solidFill>
              </a:rPr>
              <a:t>6</a:t>
            </a:r>
            <a:r>
              <a:rPr lang="zh-CN" altLang="en-US" dirty="0">
                <a:solidFill>
                  <a:srgbClr val="000000"/>
                </a:solidFill>
              </a:rPr>
              <a:t>个硬件中断</a:t>
            </a:r>
            <a:endParaRPr lang="en-US" altLang="zh-CN" dirty="0">
              <a:solidFill>
                <a:srgbClr val="000000"/>
              </a:solidFill>
            </a:endParaRPr>
          </a:p>
          <a:p>
            <a:pPr lvl="1"/>
            <a:r>
              <a:rPr lang="en-US" altLang="zh-CN" dirty="0">
                <a:solidFill>
                  <a:srgbClr val="000000"/>
                </a:solidFill>
              </a:rPr>
              <a:t>MIPS</a:t>
            </a:r>
            <a:r>
              <a:rPr lang="zh-CN" altLang="en-US" dirty="0">
                <a:solidFill>
                  <a:srgbClr val="000000"/>
                </a:solidFill>
              </a:rPr>
              <a:t>：支持</a:t>
            </a:r>
            <a:r>
              <a:rPr lang="en-US" altLang="zh-CN" dirty="0">
                <a:solidFill>
                  <a:srgbClr val="000000"/>
                </a:solidFill>
              </a:rPr>
              <a:t>6</a:t>
            </a:r>
            <a:r>
              <a:rPr lang="zh-CN" altLang="en-US" dirty="0">
                <a:solidFill>
                  <a:srgbClr val="000000"/>
                </a:solidFill>
              </a:rPr>
              <a:t>个硬件中断</a:t>
            </a:r>
          </a:p>
        </p:txBody>
      </p:sp>
      <p:pic>
        <p:nvPicPr>
          <p:cNvPr id="101378" name="Picture 2"/>
          <p:cNvPicPr>
            <a:picLocks noChangeAspect="1" noChangeArrowheads="1"/>
          </p:cNvPicPr>
          <p:nvPr/>
        </p:nvPicPr>
        <p:blipFill rotWithShape="1">
          <a:blip r:embed="rId3" cstate="print"/>
          <a:srcRect b="30214"/>
          <a:stretch>
            <a:fillRect/>
          </a:stretch>
        </p:blipFill>
        <p:spPr bwMode="auto">
          <a:xfrm>
            <a:off x="2567510" y="2204830"/>
            <a:ext cx="7239000" cy="576080"/>
          </a:xfrm>
          <a:prstGeom prst="rect">
            <a:avLst/>
          </a:prstGeom>
          <a:noFill/>
          <a:ln w="9525">
            <a:noFill/>
            <a:miter lim="800000"/>
            <a:headEnd/>
            <a:tailEnd/>
          </a:ln>
        </p:spPr>
      </p:pic>
      <p:sp>
        <p:nvSpPr>
          <p:cNvPr id="179" name="圆角矩形 178"/>
          <p:cNvSpPr/>
          <p:nvPr/>
        </p:nvSpPr>
        <p:spPr bwMode="auto">
          <a:xfrm>
            <a:off x="6168010" y="2204830"/>
            <a:ext cx="1368190" cy="576080"/>
          </a:xfrm>
          <a:prstGeom prst="roundRect">
            <a:avLst/>
          </a:prstGeom>
          <a:noFill/>
          <a:ln w="57150"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80" name="矩形 179"/>
          <p:cNvSpPr/>
          <p:nvPr/>
        </p:nvSpPr>
        <p:spPr bwMode="auto">
          <a:xfrm>
            <a:off x="2567510" y="2420860"/>
            <a:ext cx="367251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indent="-342900" algn="ctr">
              <a:spcBef>
                <a:spcPct val="20000"/>
              </a:spcBef>
              <a:buClr>
                <a:srgbClr val="FF9900"/>
              </a:buClr>
            </a:pPr>
            <a:endParaRPr lang="zh-CN" altLang="en-US" sz="2800" b="0">
              <a:solidFill>
                <a:schemeClr val="tx1"/>
              </a:solidFill>
              <a:ea typeface="宋体" panose="02010600030101010101" pitchFamily="2" charset="-122"/>
              <a:sym typeface="Wingdings" panose="05000000000000000000" pitchFamily="2" charset="2"/>
            </a:endParaRPr>
          </a:p>
        </p:txBody>
      </p:sp>
      <p:sp>
        <p:nvSpPr>
          <p:cNvPr id="181" name="矩形 180"/>
          <p:cNvSpPr/>
          <p:nvPr/>
        </p:nvSpPr>
        <p:spPr bwMode="auto">
          <a:xfrm>
            <a:off x="7392180" y="2420860"/>
            <a:ext cx="237633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44" name="标题 2"/>
          <p:cNvSpPr>
            <a:spLocks noGrp="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t>5.2 </a:t>
            </a:r>
            <a:r>
              <a:rPr lang="zh-CN" altLang="en-US" dirty="0">
                <a:sym typeface="+mn-ea"/>
              </a:rPr>
              <a:t>支持中断</a:t>
            </a:r>
            <a:r>
              <a:rPr lang="en-US" altLang="zh-CN" dirty="0">
                <a:sym typeface="+mn-ea"/>
              </a:rPr>
              <a:t>/</a:t>
            </a:r>
            <a:r>
              <a:rPr lang="zh-CN" altLang="en-US" dirty="0">
                <a:sym typeface="+mn-ea"/>
              </a:rPr>
              <a:t>异常的数据通路</a:t>
            </a:r>
            <a:r>
              <a:rPr lang="en-US" altLang="zh-CN" dirty="0">
                <a:sym typeface="+mn-ea"/>
              </a:rPr>
              <a:t>--</a:t>
            </a:r>
            <a:r>
              <a:rPr lang="zh-CN" altLang="en-US" dirty="0">
                <a:sym typeface="+mn-ea"/>
              </a:rPr>
              <a:t>增加</a:t>
            </a:r>
            <a:r>
              <a:rPr lang="en-US" altLang="zh-CN" dirty="0">
                <a:sym typeface="+mn-ea"/>
              </a:rPr>
              <a:t>Cause</a:t>
            </a:r>
            <a:r>
              <a:rPr lang="zh-CN" altLang="en-US" dirty="0">
                <a:sym typeface="+mn-ea"/>
              </a:rPr>
              <a:t>寄存器</a:t>
            </a:r>
            <a:endParaRPr lang="zh-CN" altLang="en-US" dirty="0"/>
          </a:p>
        </p:txBody>
      </p:sp>
      <p:pic>
        <p:nvPicPr>
          <p:cNvPr id="3" name="图片 2"/>
          <p:cNvPicPr>
            <a:picLocks noChangeAspect="1"/>
          </p:cNvPicPr>
          <p:nvPr/>
        </p:nvPicPr>
        <p:blipFill>
          <a:blip r:embed="rId4"/>
          <a:stretch>
            <a:fillRect/>
          </a:stretch>
        </p:blipFill>
        <p:spPr>
          <a:xfrm>
            <a:off x="119336" y="671876"/>
            <a:ext cx="12072664" cy="59974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450" y="1772770"/>
            <a:ext cx="7277100"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内容占位符 1"/>
          <p:cNvSpPr>
            <a:spLocks noGrp="1"/>
          </p:cNvSpPr>
          <p:nvPr>
            <p:ph idx="1"/>
          </p:nvPr>
        </p:nvSpPr>
        <p:spPr>
          <a:xfrm>
            <a:off x="407368" y="764705"/>
            <a:ext cx="10971832" cy="896620"/>
          </a:xfrm>
        </p:spPr>
        <p:txBody>
          <a:bodyPr/>
          <a:lstStyle/>
          <a:p>
            <a:r>
              <a:rPr lang="en-US" altLang="zh-CN" sz="2400" dirty="0">
                <a:solidFill>
                  <a:srgbClr val="000000"/>
                </a:solidFill>
              </a:rPr>
              <a:t>IM[7:2]</a:t>
            </a:r>
            <a:r>
              <a:rPr lang="zh-CN" altLang="en-US" sz="2400" dirty="0">
                <a:solidFill>
                  <a:srgbClr val="000000"/>
                </a:solidFill>
              </a:rPr>
              <a:t>：中断屏蔽，对应</a:t>
            </a:r>
            <a:r>
              <a:rPr lang="en-US" altLang="zh-CN" sz="2400" dirty="0">
                <a:solidFill>
                  <a:srgbClr val="000000"/>
                </a:solidFill>
              </a:rPr>
              <a:t>6</a:t>
            </a:r>
            <a:r>
              <a:rPr lang="zh-CN" altLang="en-US" sz="2400" dirty="0">
                <a:solidFill>
                  <a:srgbClr val="000000"/>
                </a:solidFill>
              </a:rPr>
              <a:t>个硬件中断</a:t>
            </a:r>
            <a:endParaRPr lang="en-US" altLang="zh-CN" sz="2400" dirty="0">
              <a:solidFill>
                <a:srgbClr val="000000"/>
              </a:solidFill>
            </a:endParaRPr>
          </a:p>
          <a:p>
            <a:pPr lvl="1"/>
            <a:r>
              <a:rPr lang="en-US" altLang="zh-CN" dirty="0">
                <a:solidFill>
                  <a:srgbClr val="000000"/>
                </a:solidFill>
              </a:rPr>
              <a:t>1</a:t>
            </a:r>
            <a:r>
              <a:rPr lang="zh-CN" altLang="en-US" dirty="0">
                <a:solidFill>
                  <a:srgbClr val="000000"/>
                </a:solidFill>
              </a:rPr>
              <a:t>：使能，</a:t>
            </a:r>
            <a:r>
              <a:rPr lang="en-US" altLang="zh-CN" dirty="0">
                <a:solidFill>
                  <a:srgbClr val="000000"/>
                </a:solidFill>
              </a:rPr>
              <a:t>0</a:t>
            </a:r>
            <a:r>
              <a:rPr lang="zh-CN" altLang="en-US" dirty="0">
                <a:solidFill>
                  <a:srgbClr val="000000"/>
                </a:solidFill>
              </a:rPr>
              <a:t>：禁止</a:t>
            </a:r>
          </a:p>
        </p:txBody>
      </p:sp>
      <p:sp>
        <p:nvSpPr>
          <p:cNvPr id="179" name="圆角矩形 178"/>
          <p:cNvSpPr/>
          <p:nvPr/>
        </p:nvSpPr>
        <p:spPr bwMode="auto">
          <a:xfrm>
            <a:off x="6168010" y="1700760"/>
            <a:ext cx="864120" cy="864120"/>
          </a:xfrm>
          <a:prstGeom prst="roundRect">
            <a:avLst/>
          </a:prstGeom>
          <a:noFill/>
          <a:ln w="57150"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80" name="矩形 179"/>
          <p:cNvSpPr/>
          <p:nvPr/>
        </p:nvSpPr>
        <p:spPr bwMode="auto">
          <a:xfrm>
            <a:off x="2567510" y="1916790"/>
            <a:ext cx="3672510"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indent="-342900" algn="ctr">
              <a:spcBef>
                <a:spcPct val="20000"/>
              </a:spcBef>
              <a:buClr>
                <a:srgbClr val="FF9900"/>
              </a:buClr>
            </a:pPr>
            <a:endParaRPr lang="zh-CN" altLang="en-US" sz="2800" b="0">
              <a:solidFill>
                <a:schemeClr val="tx1"/>
              </a:solidFill>
              <a:ea typeface="宋体" panose="02010600030101010101" pitchFamily="2" charset="-122"/>
              <a:sym typeface="Wingdings" panose="05000000000000000000" pitchFamily="2" charset="2"/>
            </a:endParaRPr>
          </a:p>
        </p:txBody>
      </p:sp>
      <p:sp>
        <p:nvSpPr>
          <p:cNvPr id="181" name="矩形 180"/>
          <p:cNvSpPr/>
          <p:nvPr/>
        </p:nvSpPr>
        <p:spPr bwMode="auto">
          <a:xfrm>
            <a:off x="7032130" y="1916790"/>
            <a:ext cx="2122827" cy="360050"/>
          </a:xfrm>
          <a:prstGeom prst="rect">
            <a:avLst/>
          </a:prstGeom>
          <a:solidFill>
            <a:srgbClr val="FFFF00">
              <a:alpha val="63000"/>
            </a:srgbClr>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43" name="标题 2"/>
          <p:cNvSpPr>
            <a:spLocks noGrp="1"/>
          </p:cNvSpPr>
          <p:nvPr/>
        </p:nvSpPr>
        <p:spPr>
          <a:xfrm>
            <a:off x="-211" y="300401"/>
            <a:ext cx="7010400"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t>5.2 </a:t>
            </a:r>
            <a:r>
              <a:rPr lang="zh-CN" altLang="en-US" dirty="0">
                <a:sym typeface="+mn-ea"/>
              </a:rPr>
              <a:t>支持中断</a:t>
            </a:r>
            <a:r>
              <a:rPr lang="en-US" altLang="zh-CN" dirty="0">
                <a:sym typeface="+mn-ea"/>
              </a:rPr>
              <a:t>/</a:t>
            </a:r>
            <a:r>
              <a:rPr lang="zh-CN" altLang="en-US" dirty="0">
                <a:sym typeface="+mn-ea"/>
              </a:rPr>
              <a:t>异常的数据通路</a:t>
            </a:r>
            <a:r>
              <a:rPr lang="en-US" altLang="zh-CN" dirty="0">
                <a:sym typeface="+mn-ea"/>
              </a:rPr>
              <a:t>--</a:t>
            </a:r>
            <a:r>
              <a:rPr lang="zh-CN" altLang="en-US" dirty="0">
                <a:sym typeface="+mn-ea"/>
              </a:rPr>
              <a:t>增加</a:t>
            </a:r>
            <a:r>
              <a:rPr lang="en-US" altLang="zh-CN" dirty="0">
                <a:sym typeface="+mn-ea"/>
              </a:rPr>
              <a:t>SR</a:t>
            </a:r>
            <a:r>
              <a:rPr lang="zh-CN" altLang="en-US" dirty="0">
                <a:sym typeface="+mn-ea"/>
              </a:rPr>
              <a:t>寄存器</a:t>
            </a:r>
            <a:r>
              <a:rPr lang="en-US" altLang="zh-CN" dirty="0">
                <a:sym typeface="+mn-ea"/>
              </a:rPr>
              <a:t>(1)</a:t>
            </a:r>
            <a:endParaRPr lang="zh-CN" altLang="en-US" dirty="0"/>
          </a:p>
        </p:txBody>
      </p:sp>
      <p:pic>
        <p:nvPicPr>
          <p:cNvPr id="145" name="图片 144"/>
          <p:cNvPicPr>
            <a:picLocks noChangeAspect="1"/>
          </p:cNvPicPr>
          <p:nvPr/>
        </p:nvPicPr>
        <p:blipFill>
          <a:blip r:embed="rId4"/>
          <a:stretch>
            <a:fillRect/>
          </a:stretch>
        </p:blipFill>
        <p:spPr>
          <a:xfrm>
            <a:off x="2264410" y="2666365"/>
            <a:ext cx="7718425" cy="4058285"/>
          </a:xfrm>
          <a:prstGeom prst="rect">
            <a:avLst/>
          </a:prstGeom>
        </p:spPr>
      </p:pic>
      <p:sp>
        <p:nvSpPr>
          <p:cNvPr id="3" name="文本框 2"/>
          <p:cNvSpPr txBox="1"/>
          <p:nvPr/>
        </p:nvSpPr>
        <p:spPr>
          <a:xfrm>
            <a:off x="7089421" y="772737"/>
            <a:ext cx="4131072" cy="406265"/>
          </a:xfrm>
          <a:prstGeom prst="rect">
            <a:avLst/>
          </a:prstGeom>
          <a:noFill/>
        </p:spPr>
        <p:txBody>
          <a:bodyPr wrap="square" rtlCol="0">
            <a:spAutoFit/>
          </a:bodyPr>
          <a:lstStyle/>
          <a:p>
            <a:pPr>
              <a:buNone/>
            </a:pPr>
            <a:r>
              <a:rPr lang="en-US" altLang="zh-CN" sz="2400" dirty="0">
                <a:latin typeface="Calibri" panose="020F0502020204030204" pitchFamily="34" charset="0"/>
              </a:rPr>
              <a:t>IM</a:t>
            </a:r>
            <a:r>
              <a:rPr lang="zh-CN" altLang="en-US" sz="2400" dirty="0">
                <a:latin typeface="Calibri" panose="020F0502020204030204" pitchFamily="34" charset="0"/>
              </a:rPr>
              <a:t>：</a:t>
            </a:r>
            <a:r>
              <a:rPr lang="en-US" altLang="zh-CN" sz="2400" dirty="0">
                <a:latin typeface="Calibri" panose="020F0502020204030204" pitchFamily="34" charset="0"/>
              </a:rPr>
              <a:t>Interrupt Mask</a:t>
            </a:r>
            <a:endParaRPr lang="zh-CN" altLang="en-US" sz="2400" dirty="0">
              <a:latin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7450" y="1772770"/>
            <a:ext cx="7277100"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内容占位符 1"/>
          <p:cNvSpPr>
            <a:spLocks noGrp="1"/>
          </p:cNvSpPr>
          <p:nvPr>
            <p:ph idx="1"/>
          </p:nvPr>
        </p:nvSpPr>
        <p:spPr>
          <a:xfrm>
            <a:off x="551384" y="764705"/>
            <a:ext cx="10827816" cy="896620"/>
          </a:xfrm>
        </p:spPr>
        <p:txBody>
          <a:bodyPr/>
          <a:lstStyle/>
          <a:p>
            <a:pPr marL="342900" lvl="1" indent="-342900">
              <a:buClr>
                <a:srgbClr val="0000FF"/>
              </a:buClr>
              <a:buSzTx/>
              <a:buFont typeface="Wingdings" panose="05000000000000000000" pitchFamily="2" charset="2"/>
              <a:buChar char="§"/>
            </a:pPr>
            <a:r>
              <a:rPr lang="en-US" altLang="zh-CN" sz="2400" dirty="0">
                <a:solidFill>
                  <a:srgbClr val="000000"/>
                </a:solidFill>
              </a:rPr>
              <a:t>IE</a:t>
            </a:r>
            <a:r>
              <a:rPr lang="zh-CN" altLang="en-US" sz="1800" dirty="0">
                <a:solidFill>
                  <a:srgbClr val="000000"/>
                </a:solidFill>
              </a:rPr>
              <a:t>：</a:t>
            </a:r>
            <a:r>
              <a:rPr lang="zh-CN" altLang="en-US" sz="2400" dirty="0">
                <a:solidFill>
                  <a:srgbClr val="000000"/>
                </a:solidFill>
              </a:rPr>
              <a:t>全局中断使能</a:t>
            </a:r>
            <a:endParaRPr lang="en-US" altLang="zh-CN" sz="2400" dirty="0">
              <a:solidFill>
                <a:srgbClr val="000000"/>
              </a:solidFill>
            </a:endParaRPr>
          </a:p>
          <a:p>
            <a:pPr lvl="1"/>
            <a:r>
              <a:rPr lang="en-US" altLang="zh-CN" dirty="0">
                <a:solidFill>
                  <a:srgbClr val="000000"/>
                </a:solidFill>
              </a:rPr>
              <a:t>1</a:t>
            </a:r>
            <a:r>
              <a:rPr lang="zh-CN" altLang="en-US" dirty="0">
                <a:solidFill>
                  <a:srgbClr val="000000"/>
                </a:solidFill>
              </a:rPr>
              <a:t>：允许中断；</a:t>
            </a:r>
            <a:r>
              <a:rPr lang="en-US" altLang="zh-CN" dirty="0">
                <a:solidFill>
                  <a:srgbClr val="000000"/>
                </a:solidFill>
              </a:rPr>
              <a:t>0</a:t>
            </a:r>
            <a:r>
              <a:rPr lang="zh-CN" altLang="en-US" dirty="0">
                <a:solidFill>
                  <a:srgbClr val="000000"/>
                </a:solidFill>
              </a:rPr>
              <a:t>：禁止中断</a:t>
            </a:r>
          </a:p>
        </p:txBody>
      </p:sp>
      <p:sp>
        <p:nvSpPr>
          <p:cNvPr id="175" name="圆角矩形 174"/>
          <p:cNvSpPr/>
          <p:nvPr/>
        </p:nvSpPr>
        <p:spPr bwMode="auto">
          <a:xfrm>
            <a:off x="9480470" y="1700760"/>
            <a:ext cx="360050" cy="648090"/>
          </a:xfrm>
          <a:prstGeom prst="roundRect">
            <a:avLst/>
          </a:prstGeom>
          <a:noFill/>
          <a:ln w="57150"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6" name="标题 2"/>
          <p:cNvSpPr>
            <a:spLocks noGrp="1"/>
          </p:cNvSpPr>
          <p:nvPr/>
        </p:nvSpPr>
        <p:spPr>
          <a:xfrm>
            <a:off x="-211" y="300401"/>
            <a:ext cx="7010400"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t>5.2 </a:t>
            </a:r>
            <a:r>
              <a:rPr lang="zh-CN" altLang="en-US" dirty="0">
                <a:sym typeface="+mn-ea"/>
              </a:rPr>
              <a:t>支持中断</a:t>
            </a:r>
            <a:r>
              <a:rPr lang="en-US" altLang="zh-CN" dirty="0">
                <a:sym typeface="+mn-ea"/>
              </a:rPr>
              <a:t>/</a:t>
            </a:r>
            <a:r>
              <a:rPr lang="zh-CN" altLang="en-US" dirty="0">
                <a:sym typeface="+mn-ea"/>
              </a:rPr>
              <a:t>异常的数据通路</a:t>
            </a:r>
            <a:r>
              <a:rPr lang="en-US" altLang="zh-CN" dirty="0">
                <a:sym typeface="+mn-ea"/>
              </a:rPr>
              <a:t>--</a:t>
            </a:r>
            <a:r>
              <a:rPr lang="zh-CN" altLang="en-US" dirty="0">
                <a:sym typeface="+mn-ea"/>
              </a:rPr>
              <a:t>增加</a:t>
            </a:r>
            <a:r>
              <a:rPr lang="en-US" altLang="zh-CN" dirty="0">
                <a:sym typeface="+mn-ea"/>
              </a:rPr>
              <a:t>SR</a:t>
            </a:r>
            <a:r>
              <a:rPr lang="zh-CN" altLang="en-US" dirty="0">
                <a:sym typeface="+mn-ea"/>
              </a:rPr>
              <a:t>寄存器</a:t>
            </a:r>
            <a:r>
              <a:rPr lang="en-US" altLang="zh-CN" dirty="0">
                <a:sym typeface="+mn-ea"/>
              </a:rPr>
              <a:t>(2)</a:t>
            </a:r>
            <a:endParaRPr lang="zh-CN" altLang="en-US" dirty="0"/>
          </a:p>
          <a:p>
            <a:pPr indent="0">
              <a:buNone/>
            </a:pPr>
            <a:endParaRPr lang="zh-CN" altLang="en-US" dirty="0"/>
          </a:p>
        </p:txBody>
      </p:sp>
      <p:pic>
        <p:nvPicPr>
          <p:cNvPr id="49" name="图片 48"/>
          <p:cNvPicPr>
            <a:picLocks noChangeAspect="1"/>
          </p:cNvPicPr>
          <p:nvPr/>
        </p:nvPicPr>
        <p:blipFill>
          <a:blip r:embed="rId3"/>
          <a:stretch>
            <a:fillRect/>
          </a:stretch>
        </p:blipFill>
        <p:spPr>
          <a:xfrm>
            <a:off x="2290445" y="2465070"/>
            <a:ext cx="7713345" cy="4216400"/>
          </a:xfrm>
          <a:prstGeom prst="rect">
            <a:avLst/>
          </a:prstGeom>
        </p:spPr>
      </p:pic>
      <p:sp>
        <p:nvSpPr>
          <p:cNvPr id="10" name="文本框 9"/>
          <p:cNvSpPr txBox="1"/>
          <p:nvPr/>
        </p:nvSpPr>
        <p:spPr>
          <a:xfrm>
            <a:off x="7089421" y="772737"/>
            <a:ext cx="4131072" cy="406265"/>
          </a:xfrm>
          <a:prstGeom prst="rect">
            <a:avLst/>
          </a:prstGeom>
          <a:noFill/>
        </p:spPr>
        <p:txBody>
          <a:bodyPr wrap="square" rtlCol="0">
            <a:spAutoFit/>
          </a:bodyPr>
          <a:lstStyle/>
          <a:p>
            <a:pPr>
              <a:buNone/>
            </a:pPr>
            <a:r>
              <a:rPr lang="en-US" altLang="zh-CN" sz="2400" dirty="0">
                <a:latin typeface="Calibri" panose="020F0502020204030204" pitchFamily="34" charset="0"/>
              </a:rPr>
              <a:t>IE</a:t>
            </a:r>
            <a:r>
              <a:rPr lang="zh-CN" altLang="en-US" sz="2400" dirty="0">
                <a:latin typeface="Calibri" panose="020F0502020204030204" pitchFamily="34" charset="0"/>
              </a:rPr>
              <a:t>：</a:t>
            </a:r>
            <a:r>
              <a:rPr lang="en-US" altLang="zh-CN" sz="2400" dirty="0">
                <a:latin typeface="Calibri" panose="020F0502020204030204" pitchFamily="34" charset="0"/>
              </a:rPr>
              <a:t>global Interrupt Enable</a:t>
            </a:r>
            <a:endParaRPr lang="zh-CN" altLang="en-US" sz="2400" dirty="0">
              <a:latin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41312" y="854719"/>
            <a:ext cx="10464800" cy="781685"/>
          </a:xfrm>
        </p:spPr>
        <p:txBody>
          <a:bodyPr/>
          <a:lstStyle/>
          <a:p>
            <a:pPr marL="342900" lvl="1" indent="-342900">
              <a:buClr>
                <a:srgbClr val="0000FF"/>
              </a:buClr>
              <a:buSzTx/>
              <a:buFont typeface="Wingdings" panose="05000000000000000000" pitchFamily="2" charset="2"/>
              <a:buChar char="§"/>
            </a:pPr>
            <a:r>
              <a:rPr lang="en-US" altLang="zh-CN" sz="1800" dirty="0">
                <a:solidFill>
                  <a:srgbClr val="000000"/>
                </a:solidFill>
              </a:rPr>
              <a:t>EXL</a:t>
            </a:r>
            <a:r>
              <a:rPr lang="zh-CN" altLang="en-US" sz="1800" dirty="0">
                <a:solidFill>
                  <a:srgbClr val="000000"/>
                </a:solidFill>
              </a:rPr>
              <a:t>：进入中断后，必须置位</a:t>
            </a:r>
            <a:r>
              <a:rPr lang="en-US" altLang="zh-CN" sz="1800" dirty="0">
                <a:solidFill>
                  <a:schemeClr val="accent1"/>
                </a:solidFill>
              </a:rPr>
              <a:t>1(</a:t>
            </a:r>
            <a:r>
              <a:rPr lang="zh-CN" altLang="en-US" sz="1800" dirty="0">
                <a:solidFill>
                  <a:schemeClr val="accent1"/>
                </a:solidFill>
              </a:rPr>
              <a:t>禁止中断</a:t>
            </a:r>
            <a:r>
              <a:rPr lang="en-US" altLang="zh-CN" sz="1800" dirty="0">
                <a:solidFill>
                  <a:schemeClr val="accent1"/>
                </a:solidFill>
              </a:rPr>
              <a:t>)</a:t>
            </a:r>
            <a:r>
              <a:rPr lang="zh-CN" altLang="en-US" sz="1800" dirty="0">
                <a:solidFill>
                  <a:srgbClr val="000000"/>
                </a:solidFill>
              </a:rPr>
              <a:t>，防止再次进入中断</a:t>
            </a:r>
            <a:endParaRPr lang="en-US" altLang="zh-CN" sz="1800" dirty="0">
              <a:solidFill>
                <a:srgbClr val="000000"/>
              </a:solidFill>
            </a:endParaRPr>
          </a:p>
          <a:p>
            <a:pPr lvl="1"/>
            <a:r>
              <a:rPr lang="zh-CN" altLang="en-US" dirty="0">
                <a:solidFill>
                  <a:srgbClr val="000000"/>
                </a:solidFill>
              </a:rPr>
              <a:t>在执行中断处理程序过程中是否允许再次产生中断</a:t>
            </a:r>
          </a:p>
        </p:txBody>
      </p:sp>
      <p:sp>
        <p:nvSpPr>
          <p:cNvPr id="46" name="标题 2"/>
          <p:cNvSpPr>
            <a:spLocks noGrp="1"/>
          </p:cNvSpPr>
          <p:nvPr/>
        </p:nvSpPr>
        <p:spPr>
          <a:xfrm>
            <a:off x="-211" y="300401"/>
            <a:ext cx="7010400"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t>5.2 </a:t>
            </a:r>
            <a:r>
              <a:rPr lang="zh-CN" altLang="en-US" dirty="0">
                <a:sym typeface="+mn-ea"/>
              </a:rPr>
              <a:t>支持中断</a:t>
            </a:r>
            <a:r>
              <a:rPr lang="en-US" altLang="zh-CN" dirty="0">
                <a:sym typeface="+mn-ea"/>
              </a:rPr>
              <a:t>/</a:t>
            </a:r>
            <a:r>
              <a:rPr lang="zh-CN" altLang="en-US" dirty="0">
                <a:sym typeface="+mn-ea"/>
              </a:rPr>
              <a:t>异常的数据通路</a:t>
            </a:r>
            <a:r>
              <a:rPr lang="en-US" altLang="zh-CN" dirty="0">
                <a:sym typeface="+mn-ea"/>
              </a:rPr>
              <a:t>--</a:t>
            </a:r>
            <a:r>
              <a:rPr lang="zh-CN" altLang="en-US" dirty="0">
                <a:sym typeface="+mn-ea"/>
              </a:rPr>
              <a:t>增加</a:t>
            </a:r>
            <a:r>
              <a:rPr lang="en-US" altLang="zh-CN" dirty="0">
                <a:sym typeface="+mn-ea"/>
              </a:rPr>
              <a:t>SR</a:t>
            </a:r>
            <a:r>
              <a:rPr lang="zh-CN" altLang="en-US" dirty="0">
                <a:sym typeface="+mn-ea"/>
              </a:rPr>
              <a:t>寄存器</a:t>
            </a:r>
            <a:r>
              <a:rPr lang="en-US" altLang="zh-CN" dirty="0">
                <a:sym typeface="+mn-ea"/>
              </a:rPr>
              <a:t>(3)</a:t>
            </a:r>
            <a:endParaRPr lang="zh-CN" altLang="en-US" dirty="0"/>
          </a:p>
          <a:p>
            <a:pPr indent="0">
              <a:buNone/>
            </a:pPr>
            <a:endParaRPr lang="zh-CN" altLang="en-US" dirty="0"/>
          </a:p>
        </p:txBody>
      </p:sp>
      <p:pic>
        <p:nvPicPr>
          <p:cNvPr id="52" name="图片 51"/>
          <p:cNvPicPr>
            <a:picLocks noChangeAspect="1"/>
          </p:cNvPicPr>
          <p:nvPr/>
        </p:nvPicPr>
        <p:blipFill>
          <a:blip r:embed="rId3"/>
          <a:stretch>
            <a:fillRect/>
          </a:stretch>
        </p:blipFill>
        <p:spPr>
          <a:xfrm>
            <a:off x="1419225" y="2387600"/>
            <a:ext cx="8308975" cy="4276090"/>
          </a:xfrm>
          <a:prstGeom prst="rect">
            <a:avLst/>
          </a:prstGeom>
        </p:spPr>
      </p:pic>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7450" y="1772770"/>
            <a:ext cx="7277100"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5" name="圆角矩形 174"/>
          <p:cNvSpPr/>
          <p:nvPr/>
        </p:nvSpPr>
        <p:spPr bwMode="auto">
          <a:xfrm>
            <a:off x="9120336" y="1772816"/>
            <a:ext cx="432060" cy="648090"/>
          </a:xfrm>
          <a:prstGeom prst="roundRect">
            <a:avLst/>
          </a:prstGeom>
          <a:noFill/>
          <a:ln w="57150"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0" name="文本框 9"/>
          <p:cNvSpPr txBox="1"/>
          <p:nvPr/>
        </p:nvSpPr>
        <p:spPr>
          <a:xfrm>
            <a:off x="7089421" y="772737"/>
            <a:ext cx="4131072" cy="406265"/>
          </a:xfrm>
          <a:prstGeom prst="rect">
            <a:avLst/>
          </a:prstGeom>
          <a:noFill/>
        </p:spPr>
        <p:txBody>
          <a:bodyPr wrap="square" rtlCol="0">
            <a:spAutoFit/>
          </a:bodyPr>
          <a:lstStyle/>
          <a:p>
            <a:pPr>
              <a:buNone/>
            </a:pPr>
            <a:r>
              <a:rPr lang="en-US" altLang="zh-CN" sz="2400" dirty="0">
                <a:latin typeface="Calibri" panose="020F0502020204030204" pitchFamily="34" charset="0"/>
              </a:rPr>
              <a:t>EXL</a:t>
            </a:r>
            <a:r>
              <a:rPr lang="zh-CN" altLang="en-US" sz="2400" dirty="0">
                <a:latin typeface="Calibri" panose="020F0502020204030204" pitchFamily="34" charset="0"/>
              </a:rPr>
              <a:t>：</a:t>
            </a:r>
            <a:r>
              <a:rPr lang="en-US" altLang="zh-CN" sz="2400" dirty="0" err="1">
                <a:latin typeface="Calibri" panose="020F0502020204030204" pitchFamily="34" charset="0"/>
              </a:rPr>
              <a:t>EXcLusive</a:t>
            </a:r>
            <a:endParaRPr lang="zh-CN" altLang="en-US" sz="2400" dirty="0">
              <a:latin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标题 2"/>
          <p:cNvSpPr>
            <a:spLocks noGrp="1"/>
          </p:cNvSpPr>
          <p:nvPr/>
        </p:nvSpPr>
        <p:spPr>
          <a:xfrm>
            <a:off x="-211" y="300401"/>
            <a:ext cx="7010400"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t>5.2 MIPS</a:t>
            </a:r>
            <a:r>
              <a:rPr lang="zh-CN" altLang="en-US" dirty="0"/>
              <a:t>的中断产生和控制</a:t>
            </a:r>
          </a:p>
          <a:p>
            <a:pPr indent="0">
              <a:buNone/>
            </a:pPr>
            <a:endParaRPr lang="zh-CN" altLang="en-US" dirty="0"/>
          </a:p>
        </p:txBody>
      </p:sp>
      <p:pic>
        <p:nvPicPr>
          <p:cNvPr id="1026" name="Picture 2" descr="interrupt_vec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472" y="933870"/>
            <a:ext cx="8928992" cy="5735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3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9376" y="836930"/>
            <a:ext cx="7442924" cy="3052118"/>
          </a:xfrm>
        </p:spPr>
        <p:txBody>
          <a:bodyPr/>
          <a:lstStyle/>
          <a:p>
            <a:r>
              <a:rPr lang="zh-CN" altLang="en-US" sz="2400" dirty="0">
                <a:solidFill>
                  <a:srgbClr val="FF0000"/>
                </a:solidFill>
              </a:rPr>
              <a:t>中断检测</a:t>
            </a:r>
            <a:r>
              <a:rPr lang="zh-CN" altLang="en-US" sz="2400" dirty="0">
                <a:solidFill>
                  <a:srgbClr val="000000"/>
                </a:solidFill>
              </a:rPr>
              <a:t>：每条指令的最后</a:t>
            </a:r>
            <a:r>
              <a:rPr lang="en-US" altLang="zh-CN" sz="2400" dirty="0">
                <a:solidFill>
                  <a:srgbClr val="000000"/>
                </a:solidFill>
              </a:rPr>
              <a:t>1</a:t>
            </a:r>
            <a:r>
              <a:rPr lang="zh-CN" altLang="en-US" sz="2400" dirty="0">
                <a:solidFill>
                  <a:srgbClr val="000000"/>
                </a:solidFill>
              </a:rPr>
              <a:t>个状态（或流水段）</a:t>
            </a:r>
            <a:endParaRPr lang="en-US" altLang="zh-CN" sz="2400" dirty="0">
              <a:solidFill>
                <a:srgbClr val="000000"/>
              </a:solidFill>
            </a:endParaRPr>
          </a:p>
          <a:p>
            <a:pPr lvl="1"/>
            <a:r>
              <a:rPr lang="zh-CN" altLang="en-US" dirty="0">
                <a:solidFill>
                  <a:srgbClr val="000000"/>
                </a:solidFill>
              </a:rPr>
              <a:t>若有中断请求，则进入中断响应状态</a:t>
            </a:r>
            <a:endParaRPr lang="en-US" altLang="zh-CN" dirty="0">
              <a:solidFill>
                <a:srgbClr val="000000"/>
              </a:solidFill>
            </a:endParaRPr>
          </a:p>
          <a:p>
            <a:r>
              <a:rPr lang="zh-CN" altLang="en-US" sz="2400" dirty="0">
                <a:solidFill>
                  <a:srgbClr val="000000"/>
                </a:solidFill>
              </a:rPr>
              <a:t>检测时需要判断是否中断允许等</a:t>
            </a:r>
            <a:endParaRPr lang="en-US" altLang="zh-CN" sz="2400" dirty="0">
              <a:solidFill>
                <a:srgbClr val="000000"/>
              </a:solidFill>
            </a:endParaRPr>
          </a:p>
          <a:p>
            <a:r>
              <a:rPr lang="zh-CN" altLang="en-US" sz="2400" dirty="0">
                <a:solidFill>
                  <a:srgbClr val="000000"/>
                </a:solidFill>
              </a:rPr>
              <a:t>解决方法：</a:t>
            </a:r>
            <a:endParaRPr lang="en-US" altLang="zh-CN" sz="2400" dirty="0">
              <a:solidFill>
                <a:srgbClr val="000000"/>
              </a:solidFill>
            </a:endParaRPr>
          </a:p>
          <a:p>
            <a:pPr lvl="1"/>
            <a:r>
              <a:rPr lang="en-US" altLang="zh-CN" dirty="0" err="1">
                <a:solidFill>
                  <a:srgbClr val="000000"/>
                </a:solidFill>
                <a:latin typeface="Courier New" panose="02070309020205020404" pitchFamily="49" charset="0"/>
                <a:cs typeface="Courier New" panose="02070309020205020404" pitchFamily="49" charset="0"/>
              </a:rPr>
              <a:t>IntReq</a:t>
            </a:r>
            <a:r>
              <a:rPr lang="en-US" altLang="zh-CN" dirty="0">
                <a:solidFill>
                  <a:srgbClr val="000000"/>
                </a:solidFill>
                <a:latin typeface="Courier New" panose="02070309020205020404" pitchFamily="49" charset="0"/>
                <a:cs typeface="Courier New" panose="02070309020205020404" pitchFamily="49" charset="0"/>
              </a:rPr>
              <a:t> = </a:t>
            </a:r>
            <a:r>
              <a:rPr lang="en-US" altLang="zh-CN" dirty="0">
                <a:solidFill>
                  <a:srgbClr val="FF0000"/>
                </a:solidFill>
                <a:latin typeface="Courier New" panose="02070309020205020404" pitchFamily="49" charset="0"/>
                <a:cs typeface="Courier New" panose="02070309020205020404" pitchFamily="49" charset="0"/>
              </a:rPr>
              <a:t>|</a:t>
            </a:r>
            <a:r>
              <a:rPr lang="en-US" altLang="zh-CN" dirty="0">
                <a:solidFill>
                  <a:srgbClr val="000000"/>
                </a:solidFill>
                <a:latin typeface="Courier New" panose="02070309020205020404" pitchFamily="49" charset="0"/>
                <a:cs typeface="Courier New" panose="02070309020205020404" pitchFamily="49" charset="0"/>
              </a:rPr>
              <a:t>(</a:t>
            </a:r>
            <a:r>
              <a:rPr lang="en-US" altLang="zh-CN" dirty="0" err="1">
                <a:solidFill>
                  <a:srgbClr val="000000"/>
                </a:solidFill>
                <a:latin typeface="Courier New" panose="02070309020205020404" pitchFamily="49" charset="0"/>
                <a:cs typeface="Courier New" panose="02070309020205020404" pitchFamily="49" charset="0"/>
              </a:rPr>
              <a:t>HWInt</a:t>
            </a:r>
            <a:r>
              <a:rPr lang="en-US" altLang="zh-CN" dirty="0">
                <a:solidFill>
                  <a:srgbClr val="000000"/>
                </a:solidFill>
                <a:latin typeface="Courier New" panose="02070309020205020404" pitchFamily="49" charset="0"/>
                <a:cs typeface="Courier New" panose="02070309020205020404" pitchFamily="49" charset="0"/>
              </a:rPr>
              <a:t>[7:2] &amp; IM[15:10]) &amp; IE &amp; !EXL</a:t>
            </a:r>
          </a:p>
        </p:txBody>
      </p:sp>
      <p:sp>
        <p:nvSpPr>
          <p:cNvPr id="168" name="矩形 167"/>
          <p:cNvSpPr/>
          <p:nvPr/>
        </p:nvSpPr>
        <p:spPr bwMode="auto">
          <a:xfrm>
            <a:off x="1524000" y="6525344"/>
            <a:ext cx="9144000" cy="332656"/>
          </a:xfrm>
          <a:prstGeom prst="rect">
            <a:avLst/>
          </a:prstGeom>
          <a:solidFill>
            <a:schemeClr val="bg1"/>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60" name="Oval 249"/>
          <p:cNvSpPr>
            <a:spLocks noChangeArrowheads="1"/>
          </p:cNvSpPr>
          <p:nvPr/>
        </p:nvSpPr>
        <p:spPr bwMode="auto">
          <a:xfrm>
            <a:off x="8472266" y="96961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S0</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Fetch</a:t>
            </a:r>
            <a:endParaRPr lang="zh-CN" altLang="en-US" sz="1200" b="0" kern="0" dirty="0">
              <a:solidFill>
                <a:prstClr val="black"/>
              </a:solidFill>
              <a:latin typeface="Calibri" panose="020F0502020204030204"/>
              <a:ea typeface="宋体" panose="02010600030101010101" pitchFamily="2" charset="-122"/>
            </a:endParaRPr>
          </a:p>
        </p:txBody>
      </p:sp>
      <p:sp>
        <p:nvSpPr>
          <p:cNvPr id="161" name="Oval 250"/>
          <p:cNvSpPr>
            <a:spLocks noChangeArrowheads="1"/>
          </p:cNvSpPr>
          <p:nvPr/>
        </p:nvSpPr>
        <p:spPr bwMode="auto">
          <a:xfrm>
            <a:off x="9408456" y="96961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S1</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DCD/RF</a:t>
            </a:r>
          </a:p>
        </p:txBody>
      </p:sp>
      <p:sp>
        <p:nvSpPr>
          <p:cNvPr id="162" name="Oval 251"/>
          <p:cNvSpPr>
            <a:spLocks noChangeArrowheads="1"/>
          </p:cNvSpPr>
          <p:nvPr/>
        </p:nvSpPr>
        <p:spPr bwMode="auto">
          <a:xfrm>
            <a:off x="8472326" y="165015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S2</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MA</a:t>
            </a:r>
            <a:endParaRPr lang="zh-CN" altLang="en-US" sz="1200" b="0" kern="0" dirty="0">
              <a:solidFill>
                <a:prstClr val="black"/>
              </a:solidFill>
              <a:latin typeface="Calibri" panose="020F0502020204030204"/>
              <a:ea typeface="宋体" panose="02010600030101010101" pitchFamily="2" charset="-122"/>
            </a:endParaRPr>
          </a:p>
        </p:txBody>
      </p:sp>
      <p:sp>
        <p:nvSpPr>
          <p:cNvPr id="163" name="Oval 252"/>
          <p:cNvSpPr>
            <a:spLocks noChangeArrowheads="1"/>
          </p:cNvSpPr>
          <p:nvPr/>
        </p:nvSpPr>
        <p:spPr bwMode="auto">
          <a:xfrm>
            <a:off x="9093531" y="165015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S6</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EXE</a:t>
            </a:r>
            <a:endParaRPr lang="zh-CN" altLang="en-US" sz="1200" b="0" kern="0" dirty="0">
              <a:solidFill>
                <a:prstClr val="black"/>
              </a:solidFill>
              <a:latin typeface="Calibri" panose="020F0502020204030204"/>
              <a:ea typeface="宋体" panose="02010600030101010101" pitchFamily="2" charset="-122"/>
            </a:endParaRPr>
          </a:p>
        </p:txBody>
      </p:sp>
      <p:sp>
        <p:nvSpPr>
          <p:cNvPr id="165" name="Oval 254"/>
          <p:cNvSpPr>
            <a:spLocks noChangeArrowheads="1"/>
          </p:cNvSpPr>
          <p:nvPr/>
        </p:nvSpPr>
        <p:spPr bwMode="auto">
          <a:xfrm>
            <a:off x="10338461" y="165015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S9</a:t>
            </a:r>
          </a:p>
          <a:p>
            <a:pPr algn="ctr" fontAlgn="auto">
              <a:spcBef>
                <a:spcPts val="0"/>
              </a:spcBef>
              <a:spcAft>
                <a:spcPts val="0"/>
              </a:spcAft>
              <a:buNone/>
            </a:pPr>
            <a:r>
              <a:rPr lang="en-US" altLang="zh-CN" sz="1200" b="0" kern="0" dirty="0" err="1">
                <a:solidFill>
                  <a:prstClr val="black"/>
                </a:solidFill>
                <a:latin typeface="Calibri" panose="020F0502020204030204"/>
                <a:ea typeface="宋体" panose="02010600030101010101" pitchFamily="2" charset="-122"/>
              </a:rPr>
              <a:t>Jmp</a:t>
            </a:r>
            <a:endParaRPr lang="zh-CN" altLang="en-US" sz="1200" b="0" kern="0" dirty="0">
              <a:solidFill>
                <a:prstClr val="black"/>
              </a:solidFill>
              <a:latin typeface="Calibri" panose="020F0502020204030204"/>
              <a:ea typeface="宋体" panose="02010600030101010101" pitchFamily="2" charset="-122"/>
            </a:endParaRPr>
          </a:p>
        </p:txBody>
      </p:sp>
      <p:sp>
        <p:nvSpPr>
          <p:cNvPr id="166" name="Oval 255"/>
          <p:cNvSpPr>
            <a:spLocks noChangeArrowheads="1"/>
          </p:cNvSpPr>
          <p:nvPr/>
        </p:nvSpPr>
        <p:spPr bwMode="auto">
          <a:xfrm>
            <a:off x="8138565" y="2688361"/>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S3</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MR</a:t>
            </a:r>
            <a:endParaRPr lang="zh-CN" altLang="en-US" sz="1200" b="0" kern="0" dirty="0">
              <a:solidFill>
                <a:prstClr val="black"/>
              </a:solidFill>
              <a:latin typeface="Calibri" panose="020F0502020204030204"/>
              <a:ea typeface="宋体" panose="02010600030101010101" pitchFamily="2" charset="-122"/>
            </a:endParaRPr>
          </a:p>
        </p:txBody>
      </p:sp>
      <p:sp>
        <p:nvSpPr>
          <p:cNvPr id="167" name="Oval 256"/>
          <p:cNvSpPr>
            <a:spLocks noChangeArrowheads="1"/>
          </p:cNvSpPr>
          <p:nvPr/>
        </p:nvSpPr>
        <p:spPr bwMode="auto">
          <a:xfrm>
            <a:off x="8760402" y="2688361"/>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S5</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MW</a:t>
            </a:r>
            <a:endParaRPr lang="zh-CN" altLang="en-US" sz="1200" b="0" kern="0" dirty="0">
              <a:solidFill>
                <a:prstClr val="black"/>
              </a:solidFill>
              <a:latin typeface="Calibri" panose="020F0502020204030204"/>
              <a:ea typeface="宋体" panose="02010600030101010101" pitchFamily="2" charset="-122"/>
            </a:endParaRPr>
          </a:p>
        </p:txBody>
      </p:sp>
      <p:sp>
        <p:nvSpPr>
          <p:cNvPr id="169" name="Oval 257"/>
          <p:cNvSpPr>
            <a:spLocks noChangeArrowheads="1"/>
          </p:cNvSpPr>
          <p:nvPr/>
        </p:nvSpPr>
        <p:spPr bwMode="auto">
          <a:xfrm>
            <a:off x="9408492" y="2687446"/>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S7</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WB</a:t>
            </a:r>
            <a:endParaRPr lang="zh-CN" altLang="en-US" sz="1200" b="0" kern="0" dirty="0">
              <a:solidFill>
                <a:prstClr val="black"/>
              </a:solidFill>
              <a:latin typeface="Calibri" panose="020F0502020204030204"/>
              <a:ea typeface="宋体" panose="02010600030101010101" pitchFamily="2" charset="-122"/>
            </a:endParaRPr>
          </a:p>
        </p:txBody>
      </p:sp>
      <p:sp>
        <p:nvSpPr>
          <p:cNvPr id="171" name="Oval 260"/>
          <p:cNvSpPr>
            <a:spLocks noChangeArrowheads="1"/>
          </p:cNvSpPr>
          <p:nvPr/>
        </p:nvSpPr>
        <p:spPr bwMode="auto">
          <a:xfrm>
            <a:off x="10128592" y="2687446"/>
            <a:ext cx="432000" cy="432000"/>
          </a:xfrm>
          <a:prstGeom prst="ellipse">
            <a:avLst/>
          </a:prstGeom>
          <a:solidFill>
            <a:schemeClr val="bg1"/>
          </a:solidFill>
          <a:ln w="9525" algn="ctr">
            <a:solidFill>
              <a:sysClr val="windowText" lastClr="000000"/>
            </a:solidFill>
            <a:round/>
          </a:ln>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S10</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INT</a:t>
            </a:r>
            <a:endParaRPr lang="zh-CN" altLang="en-US" sz="1200" b="0" kern="0" dirty="0">
              <a:solidFill>
                <a:prstClr val="black"/>
              </a:solidFill>
              <a:latin typeface="Calibri" panose="020F0502020204030204"/>
              <a:ea typeface="宋体" panose="02010600030101010101" pitchFamily="2" charset="-122"/>
            </a:endParaRPr>
          </a:p>
        </p:txBody>
      </p:sp>
      <p:cxnSp>
        <p:nvCxnSpPr>
          <p:cNvPr id="172" name="AutoShape 266"/>
          <p:cNvCxnSpPr>
            <a:cxnSpLocks noChangeShapeType="1"/>
            <a:stCxn id="160" idx="6"/>
            <a:endCxn id="161" idx="2"/>
          </p:cNvCxnSpPr>
          <p:nvPr/>
        </p:nvCxnSpPr>
        <p:spPr bwMode="auto">
          <a:xfrm>
            <a:off x="8904266" y="1185610"/>
            <a:ext cx="504190" cy="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3" name="AutoShape 267"/>
          <p:cNvCxnSpPr>
            <a:cxnSpLocks noChangeShapeType="1"/>
            <a:stCxn id="161" idx="3"/>
            <a:endCxn id="162" idx="7"/>
          </p:cNvCxnSpPr>
          <p:nvPr/>
        </p:nvCxnSpPr>
        <p:spPr bwMode="auto">
          <a:xfrm flipH="1">
            <a:off x="8840531" y="1337710"/>
            <a:ext cx="631190" cy="3759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4" name="AutoShape 268"/>
          <p:cNvCxnSpPr>
            <a:cxnSpLocks noChangeShapeType="1"/>
            <a:stCxn id="161" idx="4"/>
            <a:endCxn id="163" idx="7"/>
          </p:cNvCxnSpPr>
          <p:nvPr/>
        </p:nvCxnSpPr>
        <p:spPr bwMode="auto">
          <a:xfrm flipH="1">
            <a:off x="9461896" y="1401610"/>
            <a:ext cx="161925" cy="3124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5" name="AutoShape 269"/>
          <p:cNvCxnSpPr>
            <a:cxnSpLocks noChangeShapeType="1"/>
            <a:stCxn id="161" idx="5"/>
            <a:endCxn id="164" idx="0"/>
          </p:cNvCxnSpPr>
          <p:nvPr/>
        </p:nvCxnSpPr>
        <p:spPr bwMode="auto">
          <a:xfrm>
            <a:off x="9776556" y="1337710"/>
            <a:ext cx="156210" cy="3124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6" name="AutoShape 270"/>
          <p:cNvCxnSpPr>
            <a:cxnSpLocks noChangeShapeType="1"/>
            <a:stCxn id="161" idx="6"/>
            <a:endCxn id="165" idx="0"/>
          </p:cNvCxnSpPr>
          <p:nvPr/>
        </p:nvCxnSpPr>
        <p:spPr bwMode="auto">
          <a:xfrm>
            <a:off x="9839821" y="1185610"/>
            <a:ext cx="714375" cy="4648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7" name="AutoShape 271"/>
          <p:cNvCxnSpPr>
            <a:cxnSpLocks noChangeShapeType="1"/>
            <a:stCxn id="162" idx="3"/>
            <a:endCxn id="166" idx="0"/>
          </p:cNvCxnSpPr>
          <p:nvPr/>
        </p:nvCxnSpPr>
        <p:spPr bwMode="auto">
          <a:xfrm flipH="1">
            <a:off x="8354616" y="2018890"/>
            <a:ext cx="180975" cy="6699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8" name="AutoShape 272"/>
          <p:cNvCxnSpPr>
            <a:cxnSpLocks noChangeShapeType="1"/>
            <a:stCxn id="162" idx="5"/>
            <a:endCxn id="167" idx="0"/>
          </p:cNvCxnSpPr>
          <p:nvPr/>
        </p:nvCxnSpPr>
        <p:spPr bwMode="auto">
          <a:xfrm>
            <a:off x="8840426" y="2018890"/>
            <a:ext cx="135890" cy="6699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9" name="AutoShape 273"/>
          <p:cNvCxnSpPr>
            <a:cxnSpLocks noChangeShapeType="1"/>
            <a:stCxn id="163" idx="4"/>
            <a:endCxn id="169" idx="0"/>
          </p:cNvCxnSpPr>
          <p:nvPr/>
        </p:nvCxnSpPr>
        <p:spPr bwMode="auto">
          <a:xfrm>
            <a:off x="9309531" y="2082155"/>
            <a:ext cx="314960" cy="60515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0" name="Freeform 279"/>
          <p:cNvSpPr/>
          <p:nvPr/>
        </p:nvSpPr>
        <p:spPr bwMode="auto">
          <a:xfrm flipV="1">
            <a:off x="9923180" y="2065437"/>
            <a:ext cx="997426" cy="289966"/>
          </a:xfrm>
          <a:custGeom>
            <a:avLst/>
            <a:gdLst>
              <a:gd name="T0" fmla="*/ 2147483647 w 3402"/>
              <a:gd name="T1" fmla="*/ 0 h 181"/>
              <a:gd name="T2" fmla="*/ 0 w 3402"/>
              <a:gd name="T3" fmla="*/ 0 h 181"/>
              <a:gd name="T4" fmla="*/ 0 w 3402"/>
              <a:gd name="T5" fmla="*/ 2147483647 h 181"/>
              <a:gd name="T6" fmla="*/ 0 60000 65536"/>
              <a:gd name="T7" fmla="*/ 0 60000 65536"/>
              <a:gd name="T8" fmla="*/ 0 60000 65536"/>
              <a:gd name="T9" fmla="*/ 0 w 3402"/>
              <a:gd name="T10" fmla="*/ 0 h 181"/>
              <a:gd name="T11" fmla="*/ 3402 w 3402"/>
              <a:gd name="T12" fmla="*/ 181 h 181"/>
            </a:gdLst>
            <a:ahLst/>
            <a:cxnLst>
              <a:cxn ang="T6">
                <a:pos x="T0" y="T1"/>
              </a:cxn>
              <a:cxn ang="T7">
                <a:pos x="T2" y="T3"/>
              </a:cxn>
              <a:cxn ang="T8">
                <a:pos x="T4" y="T5"/>
              </a:cxn>
            </a:cxnLst>
            <a:rect l="T9" t="T10" r="T11" b="T12"/>
            <a:pathLst>
              <a:path w="3402" h="181">
                <a:moveTo>
                  <a:pt x="3402" y="0"/>
                </a:moveTo>
                <a:lnTo>
                  <a:pt x="0" y="0"/>
                </a:lnTo>
                <a:lnTo>
                  <a:pt x="0" y="181"/>
                </a:lnTo>
              </a:path>
            </a:pathLst>
          </a:custGeom>
          <a:noFill/>
          <a:ln w="19050"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sp>
        <p:nvSpPr>
          <p:cNvPr id="181" name="Oval 287"/>
          <p:cNvSpPr>
            <a:spLocks noChangeArrowheads="1"/>
          </p:cNvSpPr>
          <p:nvPr/>
        </p:nvSpPr>
        <p:spPr bwMode="auto">
          <a:xfrm>
            <a:off x="8139479" y="334600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S4</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MWB</a:t>
            </a:r>
            <a:endParaRPr lang="zh-CN" altLang="en-US" sz="1200" b="0" kern="0" dirty="0">
              <a:solidFill>
                <a:prstClr val="black"/>
              </a:solidFill>
              <a:latin typeface="Calibri" panose="020F0502020204030204"/>
              <a:ea typeface="宋体" panose="02010600030101010101" pitchFamily="2" charset="-122"/>
            </a:endParaRPr>
          </a:p>
        </p:txBody>
      </p:sp>
      <p:cxnSp>
        <p:nvCxnSpPr>
          <p:cNvPr id="182" name="AutoShape 288"/>
          <p:cNvCxnSpPr>
            <a:cxnSpLocks noChangeShapeType="1"/>
            <a:stCxn id="166" idx="4"/>
            <a:endCxn id="181" idx="0"/>
          </p:cNvCxnSpPr>
          <p:nvPr/>
        </p:nvCxnSpPr>
        <p:spPr bwMode="auto">
          <a:xfrm>
            <a:off x="8354565" y="3120361"/>
            <a:ext cx="635" cy="2254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3" name="Line 290"/>
          <p:cNvSpPr>
            <a:spLocks noChangeShapeType="1"/>
          </p:cNvSpPr>
          <p:nvPr/>
        </p:nvSpPr>
        <p:spPr bwMode="auto">
          <a:xfrm>
            <a:off x="8570565" y="3561970"/>
            <a:ext cx="2350041" cy="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cxnSp>
        <p:nvCxnSpPr>
          <p:cNvPr id="184" name="AutoShape 292"/>
          <p:cNvCxnSpPr>
            <a:cxnSpLocks noChangeShapeType="1"/>
            <a:stCxn id="167" idx="4"/>
          </p:cNvCxnSpPr>
          <p:nvPr/>
        </p:nvCxnSpPr>
        <p:spPr bwMode="auto">
          <a:xfrm>
            <a:off x="8976402" y="3120361"/>
            <a:ext cx="0" cy="441639"/>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85" name="AutoShape 293"/>
          <p:cNvCxnSpPr>
            <a:cxnSpLocks noChangeShapeType="1"/>
            <a:stCxn id="169" idx="4"/>
          </p:cNvCxnSpPr>
          <p:nvPr/>
        </p:nvCxnSpPr>
        <p:spPr bwMode="auto">
          <a:xfrm>
            <a:off x="9624492" y="3118811"/>
            <a:ext cx="0" cy="442554"/>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88" name="AutoShape 303"/>
          <p:cNvCxnSpPr>
            <a:cxnSpLocks noChangeShapeType="1"/>
          </p:cNvCxnSpPr>
          <p:nvPr/>
        </p:nvCxnSpPr>
        <p:spPr bwMode="auto">
          <a:xfrm>
            <a:off x="10546103" y="2064523"/>
            <a:ext cx="914" cy="29088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9" name="Freeform 307"/>
          <p:cNvSpPr/>
          <p:nvPr/>
        </p:nvSpPr>
        <p:spPr bwMode="auto">
          <a:xfrm flipH="1">
            <a:off x="9260009" y="2479805"/>
            <a:ext cx="1094362" cy="207641"/>
          </a:xfrm>
          <a:custGeom>
            <a:avLst/>
            <a:gdLst>
              <a:gd name="T0" fmla="*/ 2147483647 w 3402"/>
              <a:gd name="T1" fmla="*/ 0 h 181"/>
              <a:gd name="T2" fmla="*/ 0 w 3402"/>
              <a:gd name="T3" fmla="*/ 0 h 181"/>
              <a:gd name="T4" fmla="*/ 0 w 3402"/>
              <a:gd name="T5" fmla="*/ 2147483647 h 181"/>
              <a:gd name="T6" fmla="*/ 0 60000 65536"/>
              <a:gd name="T7" fmla="*/ 0 60000 65536"/>
              <a:gd name="T8" fmla="*/ 0 60000 65536"/>
              <a:gd name="T9" fmla="*/ 0 w 3402"/>
              <a:gd name="T10" fmla="*/ 0 h 181"/>
              <a:gd name="T11" fmla="*/ 3402 w 3402"/>
              <a:gd name="T12" fmla="*/ 181 h 181"/>
            </a:gdLst>
            <a:ahLst/>
            <a:cxnLst>
              <a:cxn ang="T6">
                <a:pos x="T0" y="T1"/>
              </a:cxn>
              <a:cxn ang="T7">
                <a:pos x="T2" y="T3"/>
              </a:cxn>
              <a:cxn ang="T8">
                <a:pos x="T4" y="T5"/>
              </a:cxn>
            </a:cxnLst>
            <a:rect l="T9" t="T10" r="T11" b="T12"/>
            <a:pathLst>
              <a:path w="3402" h="181">
                <a:moveTo>
                  <a:pt x="3402" y="0"/>
                </a:moveTo>
                <a:lnTo>
                  <a:pt x="0" y="0"/>
                </a:lnTo>
                <a:lnTo>
                  <a:pt x="0" y="181"/>
                </a:lnTo>
              </a:path>
            </a:pathLst>
          </a:custGeom>
          <a:noFill/>
          <a:ln w="1905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cxnSp>
        <p:nvCxnSpPr>
          <p:cNvPr id="191" name="AutoShape 312"/>
          <p:cNvCxnSpPr>
            <a:cxnSpLocks noChangeShapeType="1"/>
          </p:cNvCxnSpPr>
          <p:nvPr/>
        </p:nvCxnSpPr>
        <p:spPr bwMode="auto">
          <a:xfrm>
            <a:off x="10344592" y="3088034"/>
            <a:ext cx="914" cy="473966"/>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92" name="Freeform 314"/>
          <p:cNvSpPr/>
          <p:nvPr/>
        </p:nvSpPr>
        <p:spPr bwMode="auto">
          <a:xfrm flipH="1">
            <a:off x="10354370" y="2023361"/>
            <a:ext cx="62201" cy="458460"/>
          </a:xfrm>
          <a:custGeom>
            <a:avLst/>
            <a:gdLst>
              <a:gd name="T0" fmla="*/ 0 w 136"/>
              <a:gd name="T1" fmla="*/ 0 h 499"/>
              <a:gd name="T2" fmla="*/ 2147483647 w 136"/>
              <a:gd name="T3" fmla="*/ 2147483647 h 499"/>
              <a:gd name="T4" fmla="*/ 2147483647 w 136"/>
              <a:gd name="T5" fmla="*/ 2147483647 h 499"/>
              <a:gd name="T6" fmla="*/ 0 60000 65536"/>
              <a:gd name="T7" fmla="*/ 0 60000 65536"/>
              <a:gd name="T8" fmla="*/ 0 60000 65536"/>
              <a:gd name="T9" fmla="*/ 0 w 136"/>
              <a:gd name="T10" fmla="*/ 0 h 499"/>
              <a:gd name="T11" fmla="*/ 136 w 136"/>
              <a:gd name="T12" fmla="*/ 499 h 499"/>
            </a:gdLst>
            <a:ahLst/>
            <a:cxnLst>
              <a:cxn ang="T6">
                <a:pos x="T0" y="T1"/>
              </a:cxn>
              <a:cxn ang="T7">
                <a:pos x="T2" y="T3"/>
              </a:cxn>
              <a:cxn ang="T8">
                <a:pos x="T4" y="T5"/>
              </a:cxn>
            </a:cxnLst>
            <a:rect l="T9" t="T10" r="T11" b="T12"/>
            <a:pathLst>
              <a:path w="136" h="499">
                <a:moveTo>
                  <a:pt x="0" y="0"/>
                </a:moveTo>
                <a:lnTo>
                  <a:pt x="136" y="136"/>
                </a:lnTo>
                <a:lnTo>
                  <a:pt x="136" y="499"/>
                </a:lnTo>
              </a:path>
            </a:pathLst>
          </a:custGeom>
          <a:noFill/>
          <a:ln w="1905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sp>
        <p:nvSpPr>
          <p:cNvPr id="193" name="Freeform 315"/>
          <p:cNvSpPr/>
          <p:nvPr/>
        </p:nvSpPr>
        <p:spPr bwMode="auto">
          <a:xfrm>
            <a:off x="10047581" y="2023360"/>
            <a:ext cx="124402" cy="456445"/>
          </a:xfrm>
          <a:custGeom>
            <a:avLst/>
            <a:gdLst>
              <a:gd name="T0" fmla="*/ 0 w 136"/>
              <a:gd name="T1" fmla="*/ 0 h 499"/>
              <a:gd name="T2" fmla="*/ 2147483647 w 136"/>
              <a:gd name="T3" fmla="*/ 2147483647 h 499"/>
              <a:gd name="T4" fmla="*/ 2147483647 w 136"/>
              <a:gd name="T5" fmla="*/ 2147483647 h 499"/>
              <a:gd name="T6" fmla="*/ 0 60000 65536"/>
              <a:gd name="T7" fmla="*/ 0 60000 65536"/>
              <a:gd name="T8" fmla="*/ 0 60000 65536"/>
              <a:gd name="T9" fmla="*/ 0 w 136"/>
              <a:gd name="T10" fmla="*/ 0 h 499"/>
              <a:gd name="T11" fmla="*/ 136 w 136"/>
              <a:gd name="T12" fmla="*/ 499 h 499"/>
            </a:gdLst>
            <a:ahLst/>
            <a:cxnLst>
              <a:cxn ang="T6">
                <a:pos x="T0" y="T1"/>
              </a:cxn>
              <a:cxn ang="T7">
                <a:pos x="T2" y="T3"/>
              </a:cxn>
              <a:cxn ang="T8">
                <a:pos x="T4" y="T5"/>
              </a:cxn>
            </a:cxnLst>
            <a:rect l="T9" t="T10" r="T11" b="T12"/>
            <a:pathLst>
              <a:path w="136" h="499">
                <a:moveTo>
                  <a:pt x="0" y="0"/>
                </a:moveTo>
                <a:lnTo>
                  <a:pt x="136" y="136"/>
                </a:lnTo>
                <a:lnTo>
                  <a:pt x="136" y="499"/>
                </a:lnTo>
              </a:path>
            </a:pathLst>
          </a:custGeom>
          <a:noFill/>
          <a:ln w="1905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cxnSp>
        <p:nvCxnSpPr>
          <p:cNvPr id="223" name="AutoShape 317"/>
          <p:cNvCxnSpPr>
            <a:cxnSpLocks noChangeShapeType="1"/>
            <a:endCxn id="160" idx="2"/>
          </p:cNvCxnSpPr>
          <p:nvPr/>
        </p:nvCxnSpPr>
        <p:spPr bwMode="auto">
          <a:xfrm>
            <a:off x="8139479" y="1185610"/>
            <a:ext cx="332787" cy="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224" name="AutoShape 322"/>
          <p:cNvCxnSpPr>
            <a:cxnSpLocks noChangeShapeType="1"/>
            <a:stCxn id="169" idx="7"/>
          </p:cNvCxnSpPr>
          <p:nvPr/>
        </p:nvCxnSpPr>
        <p:spPr bwMode="auto">
          <a:xfrm flipV="1">
            <a:off x="9777227" y="2479807"/>
            <a:ext cx="104790" cy="270904"/>
          </a:xfrm>
          <a:prstGeom prst="straightConnector1">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cxnSp>
      <p:sp>
        <p:nvSpPr>
          <p:cNvPr id="226" name="Freeform 323"/>
          <p:cNvSpPr/>
          <p:nvPr/>
        </p:nvSpPr>
        <p:spPr bwMode="auto">
          <a:xfrm>
            <a:off x="8512684" y="3060652"/>
            <a:ext cx="1670214" cy="332043"/>
          </a:xfrm>
          <a:custGeom>
            <a:avLst/>
            <a:gdLst>
              <a:gd name="T0" fmla="*/ 0 w 2540"/>
              <a:gd name="T1" fmla="*/ 2147483647 h 363"/>
              <a:gd name="T2" fmla="*/ 2147483647 w 2540"/>
              <a:gd name="T3" fmla="*/ 2147483647 h 363"/>
              <a:gd name="T4" fmla="*/ 2147483647 w 2540"/>
              <a:gd name="T5" fmla="*/ 2147483647 h 363"/>
              <a:gd name="T6" fmla="*/ 2147483647 w 2540"/>
              <a:gd name="T7" fmla="*/ 0 h 363"/>
              <a:gd name="T8" fmla="*/ 0 60000 65536"/>
              <a:gd name="T9" fmla="*/ 0 60000 65536"/>
              <a:gd name="T10" fmla="*/ 0 60000 65536"/>
              <a:gd name="T11" fmla="*/ 0 60000 65536"/>
              <a:gd name="T12" fmla="*/ 0 w 2540"/>
              <a:gd name="T13" fmla="*/ 0 h 363"/>
              <a:gd name="T14" fmla="*/ 2540 w 2540"/>
              <a:gd name="T15" fmla="*/ 363 h 363"/>
            </a:gdLst>
            <a:ahLst/>
            <a:cxnLst>
              <a:cxn ang="T8">
                <a:pos x="T0" y="T1"/>
              </a:cxn>
              <a:cxn ang="T9">
                <a:pos x="T2" y="T3"/>
              </a:cxn>
              <a:cxn ang="T10">
                <a:pos x="T4" y="T5"/>
              </a:cxn>
              <a:cxn ang="T11">
                <a:pos x="T6" y="T7"/>
              </a:cxn>
            </a:cxnLst>
            <a:rect l="T12" t="T13" r="T14" b="T15"/>
            <a:pathLst>
              <a:path w="2540" h="363">
                <a:moveTo>
                  <a:pt x="0" y="363"/>
                </a:moveTo>
                <a:lnTo>
                  <a:pt x="91" y="227"/>
                </a:lnTo>
                <a:lnTo>
                  <a:pt x="2359" y="227"/>
                </a:lnTo>
                <a:lnTo>
                  <a:pt x="2540" y="0"/>
                </a:lnTo>
              </a:path>
            </a:pathLst>
          </a:custGeom>
          <a:noFill/>
          <a:ln w="1905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cxnSp>
        <p:nvCxnSpPr>
          <p:cNvPr id="227" name="AutoShape 322"/>
          <p:cNvCxnSpPr>
            <a:cxnSpLocks noChangeShapeType="1"/>
            <a:stCxn id="167" idx="7"/>
          </p:cNvCxnSpPr>
          <p:nvPr/>
        </p:nvCxnSpPr>
        <p:spPr bwMode="auto">
          <a:xfrm flipV="1">
            <a:off x="9128502" y="2482456"/>
            <a:ext cx="135275" cy="269805"/>
          </a:xfrm>
          <a:prstGeom prst="straightConnector1">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cxnSp>
      <p:sp>
        <p:nvSpPr>
          <p:cNvPr id="228" name="Line 290"/>
          <p:cNvSpPr>
            <a:spLocks noChangeShapeType="1"/>
          </p:cNvSpPr>
          <p:nvPr/>
        </p:nvSpPr>
        <p:spPr bwMode="auto">
          <a:xfrm flipV="1">
            <a:off x="10920606" y="897600"/>
            <a:ext cx="0" cy="26644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sp>
        <p:nvSpPr>
          <p:cNvPr id="229" name="Line 290"/>
          <p:cNvSpPr>
            <a:spLocks noChangeShapeType="1"/>
          </p:cNvSpPr>
          <p:nvPr/>
        </p:nvSpPr>
        <p:spPr bwMode="auto">
          <a:xfrm>
            <a:off x="9048346" y="897600"/>
            <a:ext cx="1872259" cy="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cxnSp>
        <p:nvCxnSpPr>
          <p:cNvPr id="230" name="AutoShape 268"/>
          <p:cNvCxnSpPr>
            <a:cxnSpLocks noChangeShapeType="1"/>
            <a:endCxn id="160" idx="7"/>
          </p:cNvCxnSpPr>
          <p:nvPr/>
        </p:nvCxnSpPr>
        <p:spPr bwMode="auto">
          <a:xfrm flipH="1">
            <a:off x="8840366" y="897630"/>
            <a:ext cx="207345" cy="13524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64" name="Oval 253"/>
          <p:cNvSpPr>
            <a:spLocks noChangeArrowheads="1"/>
          </p:cNvSpPr>
          <p:nvPr/>
        </p:nvSpPr>
        <p:spPr bwMode="auto">
          <a:xfrm>
            <a:off x="9716453" y="1650155"/>
            <a:ext cx="432000" cy="432000"/>
          </a:xfrm>
          <a:prstGeom prst="ellipse">
            <a:avLst/>
          </a:prstGeom>
          <a:solidFill>
            <a:schemeClr val="bg1"/>
          </a:solidFill>
          <a:ln w="9525" algn="ctr">
            <a:solidFill>
              <a:sysClr val="windowText" lastClr="000000"/>
            </a:solidFill>
            <a:round/>
          </a:ln>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S8</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Branch</a:t>
            </a:r>
            <a:endParaRPr lang="zh-CN" altLang="en-US" sz="1200" b="0" kern="0" dirty="0">
              <a:solidFill>
                <a:prstClr val="black"/>
              </a:solidFill>
              <a:latin typeface="Calibri" panose="020F0502020204030204"/>
              <a:ea typeface="宋体" panose="02010600030101010101" pitchFamily="2" charset="-122"/>
            </a:endParaRPr>
          </a:p>
        </p:txBody>
      </p:sp>
      <p:sp>
        <p:nvSpPr>
          <p:cNvPr id="43" name="线形标注 1 42"/>
          <p:cNvSpPr/>
          <p:nvPr/>
        </p:nvSpPr>
        <p:spPr bwMode="auto">
          <a:xfrm>
            <a:off x="9506755" y="3922020"/>
            <a:ext cx="1296180" cy="612648"/>
          </a:xfrm>
          <a:prstGeom prst="borderCallout1">
            <a:avLst>
              <a:gd name="adj1" fmla="val 18750"/>
              <a:gd name="adj2" fmla="val -8333"/>
              <a:gd name="adj3" fmla="val -100719"/>
              <a:gd name="adj4" fmla="val -28255"/>
            </a:avLst>
          </a:prstGeom>
          <a:solidFill>
            <a:srgbClr val="FF0000"/>
          </a:solidFill>
          <a:ln w="38100">
            <a:solidFill>
              <a:schemeClr val="accent1"/>
            </a:solidFill>
            <a:headEnd type="none" w="med" len="med"/>
            <a:tailEnd type="triangle" w="lg" len="lg"/>
          </a:ln>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lstStyle/>
          <a:p>
            <a:pPr algn="ctr" eaLnBrk="1" hangingPunct="1">
              <a:lnSpc>
                <a:spcPct val="100000"/>
              </a:lnSpc>
              <a:spcBef>
                <a:spcPct val="20000"/>
              </a:spcBef>
              <a:buClr>
                <a:srgbClr val="FF9900"/>
              </a:buClr>
              <a:buSzTx/>
              <a:buNone/>
            </a:pPr>
            <a:r>
              <a:rPr kumimoji="0" lang="en-US" altLang="zh-CN" sz="2800" b="0" i="0" u="none" strike="noStrike" cap="none" normalizeH="0" baseline="0" dirty="0" err="1">
                <a:ln>
                  <a:noFill/>
                </a:ln>
                <a:solidFill>
                  <a:schemeClr val="bg1"/>
                </a:solidFill>
                <a:effectLst/>
                <a:latin typeface="Cambria" panose="02040503050406030204" pitchFamily="18" charset="0"/>
                <a:ea typeface="宋体" panose="02010600030101010101" pitchFamily="2" charset="-122"/>
                <a:sym typeface="Wingdings" panose="05000000000000000000" pitchFamily="2" charset="2"/>
              </a:rPr>
              <a:t>IntReq</a:t>
            </a:r>
            <a:endParaRPr kumimoji="0" lang="zh-CN" altLang="en-US" sz="2800" b="0" i="0" u="none" strike="noStrike" cap="none" normalizeH="0" baseline="0" dirty="0">
              <a:ln>
                <a:noFill/>
              </a:ln>
              <a:solidFill>
                <a:schemeClr val="bg1"/>
              </a:solidFill>
              <a:effectLst/>
              <a:latin typeface="Cambria" panose="02040503050406030204" pitchFamily="18" charset="0"/>
              <a:ea typeface="宋体" panose="02010600030101010101" pitchFamily="2" charset="-122"/>
              <a:sym typeface="Wingdings" panose="05000000000000000000" pitchFamily="2" charset="2"/>
            </a:endParaRPr>
          </a:p>
        </p:txBody>
      </p:sp>
      <p:pic>
        <p:nvPicPr>
          <p:cNvPr id="103426" name="Picture 2"/>
          <p:cNvPicPr>
            <a:picLocks noChangeAspect="1" noChangeArrowheads="1"/>
          </p:cNvPicPr>
          <p:nvPr/>
        </p:nvPicPr>
        <p:blipFill>
          <a:blip r:embed="rId3" cstate="print"/>
          <a:srcRect/>
          <a:stretch>
            <a:fillRect/>
          </a:stretch>
        </p:blipFill>
        <p:spPr bwMode="auto">
          <a:xfrm>
            <a:off x="1525080" y="3600298"/>
            <a:ext cx="6300000" cy="3105222"/>
          </a:xfrm>
          <a:prstGeom prst="rect">
            <a:avLst/>
          </a:prstGeom>
          <a:noFill/>
          <a:ln w="9525">
            <a:noFill/>
            <a:miter lim="800000"/>
            <a:headEnd/>
            <a:tailEnd/>
          </a:ln>
        </p:spPr>
      </p:pic>
      <p:sp>
        <p:nvSpPr>
          <p:cNvPr id="46" name="标题 2"/>
          <p:cNvSpPr>
            <a:spLocks noGrp="1"/>
          </p:cNvSpPr>
          <p:nvPr/>
        </p:nvSpPr>
        <p:spPr>
          <a:xfrm>
            <a:off x="0" y="300355"/>
            <a:ext cx="8527415"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sym typeface="+mn-ea"/>
              </a:rPr>
              <a:t>5.3 </a:t>
            </a:r>
            <a:r>
              <a:rPr lang="zh-CN" altLang="en-US" dirty="0">
                <a:sym typeface="+mn-ea"/>
              </a:rPr>
              <a:t>软硬件配合的中断响应机制</a:t>
            </a:r>
            <a:r>
              <a:rPr lang="en-US" altLang="zh-CN" dirty="0">
                <a:sym typeface="+mn-ea"/>
              </a:rPr>
              <a:t>--</a:t>
            </a:r>
            <a:r>
              <a:rPr lang="zh-CN" altLang="en-US" dirty="0">
                <a:sym typeface="+mn-ea"/>
              </a:rPr>
              <a:t>控制器</a:t>
            </a:r>
            <a:r>
              <a:rPr lang="en-US" altLang="zh-CN" dirty="0">
                <a:sym typeface="+mn-ea"/>
              </a:rPr>
              <a:t>(1)</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2"/>
          <p:cNvPicPr>
            <a:picLocks noChangeAspect="1" noChangeArrowheads="1"/>
          </p:cNvPicPr>
          <p:nvPr/>
        </p:nvPicPr>
        <p:blipFill>
          <a:blip r:embed="rId2" cstate="print"/>
          <a:srcRect/>
          <a:stretch>
            <a:fillRect/>
          </a:stretch>
        </p:blipFill>
        <p:spPr bwMode="auto">
          <a:xfrm>
            <a:off x="1559370" y="3708248"/>
            <a:ext cx="6300000" cy="3105222"/>
          </a:xfrm>
          <a:prstGeom prst="rect">
            <a:avLst/>
          </a:prstGeom>
          <a:noFill/>
          <a:ln w="9525">
            <a:noFill/>
            <a:miter lim="800000"/>
            <a:headEnd/>
            <a:tailEnd/>
          </a:ln>
        </p:spPr>
      </p:pic>
      <p:sp>
        <p:nvSpPr>
          <p:cNvPr id="2" name="内容占位符 1"/>
          <p:cNvSpPr>
            <a:spLocks noGrp="1"/>
          </p:cNvSpPr>
          <p:nvPr>
            <p:ph idx="1"/>
          </p:nvPr>
        </p:nvSpPr>
        <p:spPr>
          <a:xfrm>
            <a:off x="479377" y="836930"/>
            <a:ext cx="7128204" cy="1936428"/>
          </a:xfrm>
        </p:spPr>
        <p:txBody>
          <a:bodyPr/>
          <a:lstStyle/>
          <a:p>
            <a:r>
              <a:rPr lang="zh-CN" altLang="en-US" sz="2000" dirty="0">
                <a:solidFill>
                  <a:srgbClr val="FF0000"/>
                </a:solidFill>
              </a:rPr>
              <a:t>中断响应</a:t>
            </a:r>
            <a:r>
              <a:rPr lang="zh-CN" altLang="en-US" sz="2000" dirty="0">
                <a:solidFill>
                  <a:srgbClr val="000000"/>
                </a:solidFill>
              </a:rPr>
              <a:t>：保存</a:t>
            </a:r>
            <a:r>
              <a:rPr lang="en-US" altLang="zh-CN" sz="2000" dirty="0">
                <a:solidFill>
                  <a:srgbClr val="000000"/>
                </a:solidFill>
              </a:rPr>
              <a:t>PC/</a:t>
            </a:r>
            <a:r>
              <a:rPr lang="zh-CN" altLang="en-US" sz="2000" dirty="0">
                <a:solidFill>
                  <a:srgbClr val="000000"/>
                </a:solidFill>
              </a:rPr>
              <a:t>跳转</a:t>
            </a:r>
            <a:r>
              <a:rPr lang="en-US" altLang="zh-CN" sz="2000" dirty="0">
                <a:solidFill>
                  <a:srgbClr val="000000"/>
                </a:solidFill>
              </a:rPr>
              <a:t>/</a:t>
            </a:r>
            <a:r>
              <a:rPr lang="zh-CN" altLang="en-US" sz="2000" dirty="0">
                <a:solidFill>
                  <a:srgbClr val="000000"/>
                </a:solidFill>
              </a:rPr>
              <a:t>关中断均在中断响应状态完成</a:t>
            </a:r>
            <a:endParaRPr lang="en-US" altLang="zh-CN" sz="2000" dirty="0">
              <a:solidFill>
                <a:srgbClr val="000000"/>
              </a:solidFill>
            </a:endParaRPr>
          </a:p>
          <a:p>
            <a:r>
              <a:rPr lang="zh-CN" altLang="en-US" sz="2000" dirty="0">
                <a:solidFill>
                  <a:srgbClr val="000000"/>
                </a:solidFill>
                <a:sym typeface="Wingdings 2" panose="05020102010507070707"/>
              </a:rPr>
              <a:t></a:t>
            </a:r>
            <a:r>
              <a:rPr lang="zh-CN" altLang="en-US" sz="2000" dirty="0">
                <a:solidFill>
                  <a:srgbClr val="000000"/>
                </a:solidFill>
              </a:rPr>
              <a:t>保存：将</a:t>
            </a:r>
            <a:r>
              <a:rPr lang="en-US" altLang="zh-CN" sz="2000" dirty="0">
                <a:solidFill>
                  <a:srgbClr val="000000"/>
                </a:solidFill>
              </a:rPr>
              <a:t>PC</a:t>
            </a:r>
            <a:r>
              <a:rPr lang="zh-CN" altLang="en-US" sz="2000" dirty="0">
                <a:solidFill>
                  <a:srgbClr val="000000"/>
                </a:solidFill>
              </a:rPr>
              <a:t>保存在</a:t>
            </a:r>
            <a:r>
              <a:rPr lang="en-US" altLang="zh-CN" sz="2000" dirty="0">
                <a:solidFill>
                  <a:srgbClr val="000000"/>
                </a:solidFill>
              </a:rPr>
              <a:t>EPC</a:t>
            </a:r>
            <a:r>
              <a:rPr lang="zh-CN" altLang="en-US" sz="2000" dirty="0">
                <a:solidFill>
                  <a:srgbClr val="000000"/>
                </a:solidFill>
              </a:rPr>
              <a:t>中</a:t>
            </a:r>
            <a:endParaRPr lang="en-US" altLang="zh-CN" sz="2000" dirty="0">
              <a:solidFill>
                <a:srgbClr val="000000"/>
              </a:solidFill>
            </a:endParaRPr>
          </a:p>
          <a:p>
            <a:pPr lvl="1"/>
            <a:r>
              <a:rPr lang="zh-CN" altLang="en-US" sz="1800" dirty="0">
                <a:solidFill>
                  <a:srgbClr val="000000"/>
                </a:solidFill>
              </a:rPr>
              <a:t>注意：</a:t>
            </a:r>
            <a:r>
              <a:rPr lang="en-US" altLang="zh-CN" sz="1800" dirty="0">
                <a:solidFill>
                  <a:srgbClr val="000000"/>
                </a:solidFill>
              </a:rPr>
              <a:t>PC</a:t>
            </a:r>
            <a:r>
              <a:rPr lang="zh-CN" altLang="en-US" sz="1800" dirty="0">
                <a:solidFill>
                  <a:srgbClr val="000000"/>
                </a:solidFill>
              </a:rPr>
              <a:t>已经存储新指令地址了</a:t>
            </a:r>
            <a:endParaRPr lang="en-US" altLang="zh-CN" sz="1800" dirty="0">
              <a:solidFill>
                <a:srgbClr val="000000"/>
              </a:solidFill>
            </a:endParaRPr>
          </a:p>
          <a:p>
            <a:r>
              <a:rPr lang="zh-CN" altLang="en-US" sz="2000" dirty="0">
                <a:solidFill>
                  <a:srgbClr val="000000"/>
                </a:solidFill>
                <a:sym typeface="Wingdings 2" panose="05020102010507070707"/>
              </a:rPr>
              <a:t></a:t>
            </a:r>
            <a:r>
              <a:rPr lang="zh-CN" altLang="en-US" sz="2000" dirty="0">
                <a:solidFill>
                  <a:srgbClr val="000000"/>
                </a:solidFill>
              </a:rPr>
              <a:t>跳转：控制</a:t>
            </a:r>
            <a:r>
              <a:rPr lang="en-US" altLang="zh-CN" sz="2000" dirty="0">
                <a:solidFill>
                  <a:srgbClr val="000000"/>
                </a:solidFill>
              </a:rPr>
              <a:t>NPC</a:t>
            </a:r>
            <a:r>
              <a:rPr lang="zh-CN" altLang="en-US" sz="2000" dirty="0">
                <a:solidFill>
                  <a:srgbClr val="000000"/>
                </a:solidFill>
              </a:rPr>
              <a:t>产生中断处理程序入口地址，并写入</a:t>
            </a:r>
            <a:r>
              <a:rPr lang="en-US" altLang="zh-CN" sz="2000" dirty="0">
                <a:solidFill>
                  <a:srgbClr val="000000"/>
                </a:solidFill>
              </a:rPr>
              <a:t>PC</a:t>
            </a:r>
          </a:p>
          <a:p>
            <a:r>
              <a:rPr lang="zh-CN" altLang="en-US" sz="2000" dirty="0">
                <a:solidFill>
                  <a:srgbClr val="000000"/>
                </a:solidFill>
                <a:sym typeface="Wingdings 2" panose="05020102010507070707"/>
              </a:rPr>
              <a:t></a:t>
            </a:r>
            <a:r>
              <a:rPr lang="zh-CN" altLang="en-US" sz="2000" dirty="0">
                <a:solidFill>
                  <a:srgbClr val="000000"/>
                </a:solidFill>
              </a:rPr>
              <a:t>关中断：</a:t>
            </a:r>
            <a:r>
              <a:rPr lang="en-US" altLang="zh-CN" sz="2000" dirty="0">
                <a:solidFill>
                  <a:srgbClr val="000000"/>
                </a:solidFill>
              </a:rPr>
              <a:t>EXL</a:t>
            </a:r>
            <a:r>
              <a:rPr lang="zh-CN" altLang="en-US" sz="2000" dirty="0">
                <a:solidFill>
                  <a:srgbClr val="000000"/>
                </a:solidFill>
              </a:rPr>
              <a:t>置位，防止再次进入</a:t>
            </a:r>
          </a:p>
        </p:txBody>
      </p:sp>
      <p:sp>
        <p:nvSpPr>
          <p:cNvPr id="160" name="Oval 249"/>
          <p:cNvSpPr>
            <a:spLocks noChangeArrowheads="1"/>
          </p:cNvSpPr>
          <p:nvPr/>
        </p:nvSpPr>
        <p:spPr bwMode="auto">
          <a:xfrm>
            <a:off x="8970741" y="90865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S0</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Fetch</a:t>
            </a:r>
            <a:endParaRPr lang="zh-CN" altLang="en-US" sz="1200" b="0" kern="0" dirty="0">
              <a:solidFill>
                <a:prstClr val="black"/>
              </a:solidFill>
              <a:latin typeface="Calibri" panose="020F0502020204030204"/>
              <a:ea typeface="宋体" panose="02010600030101010101" pitchFamily="2" charset="-122"/>
            </a:endParaRPr>
          </a:p>
        </p:txBody>
      </p:sp>
      <p:sp>
        <p:nvSpPr>
          <p:cNvPr id="161" name="Oval 250"/>
          <p:cNvSpPr>
            <a:spLocks noChangeArrowheads="1"/>
          </p:cNvSpPr>
          <p:nvPr/>
        </p:nvSpPr>
        <p:spPr bwMode="auto">
          <a:xfrm>
            <a:off x="9906931" y="90865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S1</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DCD/RF</a:t>
            </a:r>
          </a:p>
        </p:txBody>
      </p:sp>
      <p:sp>
        <p:nvSpPr>
          <p:cNvPr id="162" name="Oval 251"/>
          <p:cNvSpPr>
            <a:spLocks noChangeArrowheads="1"/>
          </p:cNvSpPr>
          <p:nvPr/>
        </p:nvSpPr>
        <p:spPr bwMode="auto">
          <a:xfrm>
            <a:off x="8970801" y="158919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S2</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MA</a:t>
            </a:r>
            <a:endParaRPr lang="zh-CN" altLang="en-US" sz="1200" b="0" kern="0" dirty="0">
              <a:solidFill>
                <a:prstClr val="black"/>
              </a:solidFill>
              <a:latin typeface="Calibri" panose="020F0502020204030204"/>
              <a:ea typeface="宋体" panose="02010600030101010101" pitchFamily="2" charset="-122"/>
            </a:endParaRPr>
          </a:p>
        </p:txBody>
      </p:sp>
      <p:sp>
        <p:nvSpPr>
          <p:cNvPr id="163" name="Oval 252"/>
          <p:cNvSpPr>
            <a:spLocks noChangeArrowheads="1"/>
          </p:cNvSpPr>
          <p:nvPr/>
        </p:nvSpPr>
        <p:spPr bwMode="auto">
          <a:xfrm>
            <a:off x="9592006" y="158919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S6</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EXE</a:t>
            </a:r>
            <a:endParaRPr lang="zh-CN" altLang="en-US" sz="1200" b="0" kern="0" dirty="0">
              <a:solidFill>
                <a:prstClr val="black"/>
              </a:solidFill>
              <a:latin typeface="Calibri" panose="020F0502020204030204"/>
              <a:ea typeface="宋体" panose="02010600030101010101" pitchFamily="2" charset="-122"/>
            </a:endParaRPr>
          </a:p>
        </p:txBody>
      </p:sp>
      <p:sp>
        <p:nvSpPr>
          <p:cNvPr id="165" name="Oval 254"/>
          <p:cNvSpPr>
            <a:spLocks noChangeArrowheads="1"/>
          </p:cNvSpPr>
          <p:nvPr/>
        </p:nvSpPr>
        <p:spPr bwMode="auto">
          <a:xfrm>
            <a:off x="10836936" y="1589195"/>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S9</a:t>
            </a:r>
          </a:p>
          <a:p>
            <a:pPr algn="ctr" fontAlgn="auto">
              <a:spcBef>
                <a:spcPts val="0"/>
              </a:spcBef>
              <a:spcAft>
                <a:spcPts val="0"/>
              </a:spcAft>
              <a:buNone/>
            </a:pPr>
            <a:r>
              <a:rPr lang="en-US" altLang="zh-CN" sz="1200" b="0" kern="0" dirty="0" err="1">
                <a:solidFill>
                  <a:prstClr val="black"/>
                </a:solidFill>
                <a:latin typeface="Calibri" panose="020F0502020204030204"/>
                <a:ea typeface="宋体" panose="02010600030101010101" pitchFamily="2" charset="-122"/>
              </a:rPr>
              <a:t>Jmp</a:t>
            </a:r>
            <a:endParaRPr lang="zh-CN" altLang="en-US" sz="1200" b="0" kern="0" dirty="0">
              <a:solidFill>
                <a:prstClr val="black"/>
              </a:solidFill>
              <a:latin typeface="Calibri" panose="020F0502020204030204"/>
              <a:ea typeface="宋体" panose="02010600030101010101" pitchFamily="2" charset="-122"/>
            </a:endParaRPr>
          </a:p>
        </p:txBody>
      </p:sp>
      <p:sp>
        <p:nvSpPr>
          <p:cNvPr id="166" name="Oval 255"/>
          <p:cNvSpPr>
            <a:spLocks noChangeArrowheads="1"/>
          </p:cNvSpPr>
          <p:nvPr/>
        </p:nvSpPr>
        <p:spPr bwMode="auto">
          <a:xfrm>
            <a:off x="8637040" y="2627401"/>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S3</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MR</a:t>
            </a:r>
            <a:endParaRPr lang="zh-CN" altLang="en-US" sz="1200" b="0" kern="0" dirty="0">
              <a:solidFill>
                <a:prstClr val="black"/>
              </a:solidFill>
              <a:latin typeface="Calibri" panose="020F0502020204030204"/>
              <a:ea typeface="宋体" panose="02010600030101010101" pitchFamily="2" charset="-122"/>
            </a:endParaRPr>
          </a:p>
        </p:txBody>
      </p:sp>
      <p:sp>
        <p:nvSpPr>
          <p:cNvPr id="167" name="Oval 256"/>
          <p:cNvSpPr>
            <a:spLocks noChangeArrowheads="1"/>
          </p:cNvSpPr>
          <p:nvPr/>
        </p:nvSpPr>
        <p:spPr bwMode="auto">
          <a:xfrm>
            <a:off x="9258877" y="2627401"/>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S5</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MW</a:t>
            </a:r>
            <a:endParaRPr lang="zh-CN" altLang="en-US" sz="1200" b="0" kern="0" dirty="0">
              <a:solidFill>
                <a:prstClr val="black"/>
              </a:solidFill>
              <a:latin typeface="Calibri" panose="020F0502020204030204"/>
              <a:ea typeface="宋体" panose="02010600030101010101" pitchFamily="2" charset="-122"/>
            </a:endParaRPr>
          </a:p>
        </p:txBody>
      </p:sp>
      <p:sp>
        <p:nvSpPr>
          <p:cNvPr id="169" name="Oval 257"/>
          <p:cNvSpPr>
            <a:spLocks noChangeArrowheads="1"/>
          </p:cNvSpPr>
          <p:nvPr/>
        </p:nvSpPr>
        <p:spPr bwMode="auto">
          <a:xfrm>
            <a:off x="9906967" y="2626486"/>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S7</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WB</a:t>
            </a:r>
            <a:endParaRPr lang="zh-CN" altLang="en-US" sz="1200" b="0" kern="0" dirty="0">
              <a:solidFill>
                <a:prstClr val="black"/>
              </a:solidFill>
              <a:latin typeface="Calibri" panose="020F0502020204030204"/>
              <a:ea typeface="宋体" panose="02010600030101010101" pitchFamily="2" charset="-122"/>
            </a:endParaRPr>
          </a:p>
        </p:txBody>
      </p:sp>
      <p:cxnSp>
        <p:nvCxnSpPr>
          <p:cNvPr id="172" name="AutoShape 266"/>
          <p:cNvCxnSpPr>
            <a:cxnSpLocks noChangeShapeType="1"/>
            <a:stCxn id="160" idx="6"/>
            <a:endCxn id="161" idx="2"/>
          </p:cNvCxnSpPr>
          <p:nvPr/>
        </p:nvCxnSpPr>
        <p:spPr bwMode="auto">
          <a:xfrm>
            <a:off x="9402741" y="1124650"/>
            <a:ext cx="504190" cy="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3" name="AutoShape 267"/>
          <p:cNvCxnSpPr>
            <a:cxnSpLocks noChangeShapeType="1"/>
            <a:stCxn id="161" idx="3"/>
            <a:endCxn id="162" idx="7"/>
          </p:cNvCxnSpPr>
          <p:nvPr/>
        </p:nvCxnSpPr>
        <p:spPr bwMode="auto">
          <a:xfrm flipH="1">
            <a:off x="9339006" y="1276750"/>
            <a:ext cx="631190" cy="3759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4" name="AutoShape 268"/>
          <p:cNvCxnSpPr>
            <a:cxnSpLocks noChangeShapeType="1"/>
            <a:stCxn id="161" idx="4"/>
            <a:endCxn id="163" idx="7"/>
          </p:cNvCxnSpPr>
          <p:nvPr/>
        </p:nvCxnSpPr>
        <p:spPr bwMode="auto">
          <a:xfrm flipH="1">
            <a:off x="9960371" y="1340650"/>
            <a:ext cx="161925" cy="3124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5" name="AutoShape 269"/>
          <p:cNvCxnSpPr>
            <a:cxnSpLocks noChangeShapeType="1"/>
            <a:stCxn id="161" idx="5"/>
            <a:endCxn id="164" idx="0"/>
          </p:cNvCxnSpPr>
          <p:nvPr/>
        </p:nvCxnSpPr>
        <p:spPr bwMode="auto">
          <a:xfrm>
            <a:off x="10275031" y="1276750"/>
            <a:ext cx="156210" cy="3124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6" name="AutoShape 270"/>
          <p:cNvCxnSpPr>
            <a:cxnSpLocks noChangeShapeType="1"/>
            <a:stCxn id="161" idx="6"/>
            <a:endCxn id="165" idx="0"/>
          </p:cNvCxnSpPr>
          <p:nvPr/>
        </p:nvCxnSpPr>
        <p:spPr bwMode="auto">
          <a:xfrm>
            <a:off x="10338296" y="1124650"/>
            <a:ext cx="714375" cy="46482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7" name="AutoShape 271"/>
          <p:cNvCxnSpPr>
            <a:cxnSpLocks noChangeShapeType="1"/>
            <a:stCxn id="162" idx="3"/>
            <a:endCxn id="166" idx="0"/>
          </p:cNvCxnSpPr>
          <p:nvPr/>
        </p:nvCxnSpPr>
        <p:spPr bwMode="auto">
          <a:xfrm flipH="1">
            <a:off x="8853091" y="1957930"/>
            <a:ext cx="180975" cy="6699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8" name="AutoShape 272"/>
          <p:cNvCxnSpPr>
            <a:cxnSpLocks noChangeShapeType="1"/>
            <a:stCxn id="162" idx="5"/>
            <a:endCxn id="167" idx="0"/>
          </p:cNvCxnSpPr>
          <p:nvPr/>
        </p:nvCxnSpPr>
        <p:spPr bwMode="auto">
          <a:xfrm>
            <a:off x="9338901" y="1957930"/>
            <a:ext cx="135890" cy="6699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79" name="AutoShape 273"/>
          <p:cNvCxnSpPr>
            <a:cxnSpLocks noChangeShapeType="1"/>
            <a:stCxn id="163" idx="4"/>
            <a:endCxn id="169" idx="0"/>
          </p:cNvCxnSpPr>
          <p:nvPr/>
        </p:nvCxnSpPr>
        <p:spPr bwMode="auto">
          <a:xfrm>
            <a:off x="9808006" y="2021195"/>
            <a:ext cx="314960" cy="60515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0" name="Freeform 279"/>
          <p:cNvSpPr/>
          <p:nvPr/>
        </p:nvSpPr>
        <p:spPr bwMode="auto">
          <a:xfrm flipV="1">
            <a:off x="10421655" y="2004477"/>
            <a:ext cx="997426" cy="289966"/>
          </a:xfrm>
          <a:custGeom>
            <a:avLst/>
            <a:gdLst>
              <a:gd name="T0" fmla="*/ 2147483647 w 3402"/>
              <a:gd name="T1" fmla="*/ 0 h 181"/>
              <a:gd name="T2" fmla="*/ 0 w 3402"/>
              <a:gd name="T3" fmla="*/ 0 h 181"/>
              <a:gd name="T4" fmla="*/ 0 w 3402"/>
              <a:gd name="T5" fmla="*/ 2147483647 h 181"/>
              <a:gd name="T6" fmla="*/ 0 60000 65536"/>
              <a:gd name="T7" fmla="*/ 0 60000 65536"/>
              <a:gd name="T8" fmla="*/ 0 60000 65536"/>
              <a:gd name="T9" fmla="*/ 0 w 3402"/>
              <a:gd name="T10" fmla="*/ 0 h 181"/>
              <a:gd name="T11" fmla="*/ 3402 w 3402"/>
              <a:gd name="T12" fmla="*/ 181 h 181"/>
            </a:gdLst>
            <a:ahLst/>
            <a:cxnLst>
              <a:cxn ang="T6">
                <a:pos x="T0" y="T1"/>
              </a:cxn>
              <a:cxn ang="T7">
                <a:pos x="T2" y="T3"/>
              </a:cxn>
              <a:cxn ang="T8">
                <a:pos x="T4" y="T5"/>
              </a:cxn>
            </a:cxnLst>
            <a:rect l="T9" t="T10" r="T11" b="T12"/>
            <a:pathLst>
              <a:path w="3402" h="181">
                <a:moveTo>
                  <a:pt x="3402" y="0"/>
                </a:moveTo>
                <a:lnTo>
                  <a:pt x="0" y="0"/>
                </a:lnTo>
                <a:lnTo>
                  <a:pt x="0" y="181"/>
                </a:lnTo>
              </a:path>
            </a:pathLst>
          </a:custGeom>
          <a:noFill/>
          <a:ln w="19050"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sp>
        <p:nvSpPr>
          <p:cNvPr id="181" name="Oval 287"/>
          <p:cNvSpPr>
            <a:spLocks noChangeArrowheads="1"/>
          </p:cNvSpPr>
          <p:nvPr/>
        </p:nvSpPr>
        <p:spPr bwMode="auto">
          <a:xfrm>
            <a:off x="8637954" y="3285040"/>
            <a:ext cx="432000" cy="432000"/>
          </a:xfrm>
          <a:prstGeom prst="ellipse">
            <a:avLst/>
          </a:prstGeom>
          <a:noFill/>
          <a:ln w="9525" algn="ctr">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S4</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MWB</a:t>
            </a:r>
            <a:endParaRPr lang="zh-CN" altLang="en-US" sz="1200" b="0" kern="0" dirty="0">
              <a:solidFill>
                <a:prstClr val="black"/>
              </a:solidFill>
              <a:latin typeface="Calibri" panose="020F0502020204030204"/>
              <a:ea typeface="宋体" panose="02010600030101010101" pitchFamily="2" charset="-122"/>
            </a:endParaRPr>
          </a:p>
        </p:txBody>
      </p:sp>
      <p:cxnSp>
        <p:nvCxnSpPr>
          <p:cNvPr id="182" name="AutoShape 288"/>
          <p:cNvCxnSpPr>
            <a:cxnSpLocks noChangeShapeType="1"/>
            <a:stCxn id="166" idx="4"/>
            <a:endCxn id="181" idx="0"/>
          </p:cNvCxnSpPr>
          <p:nvPr/>
        </p:nvCxnSpPr>
        <p:spPr bwMode="auto">
          <a:xfrm>
            <a:off x="8853040" y="3059401"/>
            <a:ext cx="635" cy="22542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3" name="Line 290"/>
          <p:cNvSpPr>
            <a:spLocks noChangeShapeType="1"/>
          </p:cNvSpPr>
          <p:nvPr/>
        </p:nvSpPr>
        <p:spPr bwMode="auto">
          <a:xfrm>
            <a:off x="9069040" y="3501010"/>
            <a:ext cx="2350041" cy="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cxnSp>
        <p:nvCxnSpPr>
          <p:cNvPr id="184" name="AutoShape 292"/>
          <p:cNvCxnSpPr>
            <a:cxnSpLocks noChangeShapeType="1"/>
            <a:stCxn id="167" idx="4"/>
          </p:cNvCxnSpPr>
          <p:nvPr/>
        </p:nvCxnSpPr>
        <p:spPr bwMode="auto">
          <a:xfrm>
            <a:off x="9474877" y="3059401"/>
            <a:ext cx="0" cy="441639"/>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85" name="AutoShape 293"/>
          <p:cNvCxnSpPr>
            <a:cxnSpLocks noChangeShapeType="1"/>
            <a:stCxn id="169" idx="4"/>
          </p:cNvCxnSpPr>
          <p:nvPr/>
        </p:nvCxnSpPr>
        <p:spPr bwMode="auto">
          <a:xfrm>
            <a:off x="10122967" y="3057851"/>
            <a:ext cx="0" cy="442554"/>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88" name="AutoShape 303"/>
          <p:cNvCxnSpPr>
            <a:cxnSpLocks noChangeShapeType="1"/>
          </p:cNvCxnSpPr>
          <p:nvPr/>
        </p:nvCxnSpPr>
        <p:spPr bwMode="auto">
          <a:xfrm>
            <a:off x="11044578" y="2003563"/>
            <a:ext cx="914" cy="29088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89" name="Freeform 307"/>
          <p:cNvSpPr/>
          <p:nvPr/>
        </p:nvSpPr>
        <p:spPr bwMode="auto">
          <a:xfrm flipH="1">
            <a:off x="9758484" y="2418845"/>
            <a:ext cx="1094362" cy="207641"/>
          </a:xfrm>
          <a:custGeom>
            <a:avLst/>
            <a:gdLst>
              <a:gd name="T0" fmla="*/ 2147483647 w 3402"/>
              <a:gd name="T1" fmla="*/ 0 h 181"/>
              <a:gd name="T2" fmla="*/ 0 w 3402"/>
              <a:gd name="T3" fmla="*/ 0 h 181"/>
              <a:gd name="T4" fmla="*/ 0 w 3402"/>
              <a:gd name="T5" fmla="*/ 2147483647 h 181"/>
              <a:gd name="T6" fmla="*/ 0 60000 65536"/>
              <a:gd name="T7" fmla="*/ 0 60000 65536"/>
              <a:gd name="T8" fmla="*/ 0 60000 65536"/>
              <a:gd name="T9" fmla="*/ 0 w 3402"/>
              <a:gd name="T10" fmla="*/ 0 h 181"/>
              <a:gd name="T11" fmla="*/ 3402 w 3402"/>
              <a:gd name="T12" fmla="*/ 181 h 181"/>
            </a:gdLst>
            <a:ahLst/>
            <a:cxnLst>
              <a:cxn ang="T6">
                <a:pos x="T0" y="T1"/>
              </a:cxn>
              <a:cxn ang="T7">
                <a:pos x="T2" y="T3"/>
              </a:cxn>
              <a:cxn ang="T8">
                <a:pos x="T4" y="T5"/>
              </a:cxn>
            </a:cxnLst>
            <a:rect l="T9" t="T10" r="T11" b="T12"/>
            <a:pathLst>
              <a:path w="3402" h="181">
                <a:moveTo>
                  <a:pt x="3402" y="0"/>
                </a:moveTo>
                <a:lnTo>
                  <a:pt x="0" y="0"/>
                </a:lnTo>
                <a:lnTo>
                  <a:pt x="0" y="181"/>
                </a:ln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cxnSp>
        <p:nvCxnSpPr>
          <p:cNvPr id="191" name="AutoShape 312"/>
          <p:cNvCxnSpPr>
            <a:cxnSpLocks noChangeShapeType="1"/>
          </p:cNvCxnSpPr>
          <p:nvPr/>
        </p:nvCxnSpPr>
        <p:spPr bwMode="auto">
          <a:xfrm>
            <a:off x="10843067" y="3027074"/>
            <a:ext cx="914" cy="473966"/>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92" name="Freeform 314"/>
          <p:cNvSpPr/>
          <p:nvPr/>
        </p:nvSpPr>
        <p:spPr bwMode="auto">
          <a:xfrm flipH="1">
            <a:off x="10852845" y="1962401"/>
            <a:ext cx="62201" cy="458460"/>
          </a:xfrm>
          <a:custGeom>
            <a:avLst/>
            <a:gdLst>
              <a:gd name="T0" fmla="*/ 0 w 136"/>
              <a:gd name="T1" fmla="*/ 0 h 499"/>
              <a:gd name="T2" fmla="*/ 2147483647 w 136"/>
              <a:gd name="T3" fmla="*/ 2147483647 h 499"/>
              <a:gd name="T4" fmla="*/ 2147483647 w 136"/>
              <a:gd name="T5" fmla="*/ 2147483647 h 499"/>
              <a:gd name="T6" fmla="*/ 0 60000 65536"/>
              <a:gd name="T7" fmla="*/ 0 60000 65536"/>
              <a:gd name="T8" fmla="*/ 0 60000 65536"/>
              <a:gd name="T9" fmla="*/ 0 w 136"/>
              <a:gd name="T10" fmla="*/ 0 h 499"/>
              <a:gd name="T11" fmla="*/ 136 w 136"/>
              <a:gd name="T12" fmla="*/ 499 h 499"/>
            </a:gdLst>
            <a:ahLst/>
            <a:cxnLst>
              <a:cxn ang="T6">
                <a:pos x="T0" y="T1"/>
              </a:cxn>
              <a:cxn ang="T7">
                <a:pos x="T2" y="T3"/>
              </a:cxn>
              <a:cxn ang="T8">
                <a:pos x="T4" y="T5"/>
              </a:cxn>
            </a:cxnLst>
            <a:rect l="T9" t="T10" r="T11" b="T12"/>
            <a:pathLst>
              <a:path w="136" h="499">
                <a:moveTo>
                  <a:pt x="0" y="0"/>
                </a:moveTo>
                <a:lnTo>
                  <a:pt x="136" y="136"/>
                </a:lnTo>
                <a:lnTo>
                  <a:pt x="136" y="499"/>
                </a:lnTo>
              </a:path>
            </a:pathLst>
          </a:custGeom>
          <a:noFill/>
          <a:ln w="1905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sp>
        <p:nvSpPr>
          <p:cNvPr id="193" name="Freeform 315"/>
          <p:cNvSpPr/>
          <p:nvPr/>
        </p:nvSpPr>
        <p:spPr bwMode="auto">
          <a:xfrm>
            <a:off x="10546056" y="1962400"/>
            <a:ext cx="124402" cy="456445"/>
          </a:xfrm>
          <a:custGeom>
            <a:avLst/>
            <a:gdLst>
              <a:gd name="T0" fmla="*/ 0 w 136"/>
              <a:gd name="T1" fmla="*/ 0 h 499"/>
              <a:gd name="T2" fmla="*/ 2147483647 w 136"/>
              <a:gd name="T3" fmla="*/ 2147483647 h 499"/>
              <a:gd name="T4" fmla="*/ 2147483647 w 136"/>
              <a:gd name="T5" fmla="*/ 2147483647 h 499"/>
              <a:gd name="T6" fmla="*/ 0 60000 65536"/>
              <a:gd name="T7" fmla="*/ 0 60000 65536"/>
              <a:gd name="T8" fmla="*/ 0 60000 65536"/>
              <a:gd name="T9" fmla="*/ 0 w 136"/>
              <a:gd name="T10" fmla="*/ 0 h 499"/>
              <a:gd name="T11" fmla="*/ 136 w 136"/>
              <a:gd name="T12" fmla="*/ 499 h 499"/>
            </a:gdLst>
            <a:ahLst/>
            <a:cxnLst>
              <a:cxn ang="T6">
                <a:pos x="T0" y="T1"/>
              </a:cxn>
              <a:cxn ang="T7">
                <a:pos x="T2" y="T3"/>
              </a:cxn>
              <a:cxn ang="T8">
                <a:pos x="T4" y="T5"/>
              </a:cxn>
            </a:cxnLst>
            <a:rect l="T9" t="T10" r="T11" b="T12"/>
            <a:pathLst>
              <a:path w="136" h="499">
                <a:moveTo>
                  <a:pt x="0" y="0"/>
                </a:moveTo>
                <a:lnTo>
                  <a:pt x="136" y="136"/>
                </a:lnTo>
                <a:lnTo>
                  <a:pt x="136" y="499"/>
                </a:lnTo>
              </a:path>
            </a:pathLst>
          </a:custGeom>
          <a:noFill/>
          <a:ln w="1905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cxnSp>
        <p:nvCxnSpPr>
          <p:cNvPr id="223" name="AutoShape 317"/>
          <p:cNvCxnSpPr>
            <a:cxnSpLocks noChangeShapeType="1"/>
            <a:endCxn id="160" idx="2"/>
          </p:cNvCxnSpPr>
          <p:nvPr/>
        </p:nvCxnSpPr>
        <p:spPr bwMode="auto">
          <a:xfrm>
            <a:off x="8637954" y="1124650"/>
            <a:ext cx="332787" cy="0"/>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224" name="AutoShape 322"/>
          <p:cNvCxnSpPr>
            <a:cxnSpLocks noChangeShapeType="1"/>
            <a:stCxn id="169" idx="7"/>
          </p:cNvCxnSpPr>
          <p:nvPr/>
        </p:nvCxnSpPr>
        <p:spPr bwMode="auto">
          <a:xfrm flipV="1">
            <a:off x="10275702" y="2418847"/>
            <a:ext cx="104790" cy="270904"/>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226" name="Freeform 323"/>
          <p:cNvSpPr/>
          <p:nvPr/>
        </p:nvSpPr>
        <p:spPr bwMode="auto">
          <a:xfrm>
            <a:off x="9011159" y="2999692"/>
            <a:ext cx="1670214" cy="332043"/>
          </a:xfrm>
          <a:custGeom>
            <a:avLst/>
            <a:gdLst>
              <a:gd name="T0" fmla="*/ 0 w 2540"/>
              <a:gd name="T1" fmla="*/ 2147483647 h 363"/>
              <a:gd name="T2" fmla="*/ 2147483647 w 2540"/>
              <a:gd name="T3" fmla="*/ 2147483647 h 363"/>
              <a:gd name="T4" fmla="*/ 2147483647 w 2540"/>
              <a:gd name="T5" fmla="*/ 2147483647 h 363"/>
              <a:gd name="T6" fmla="*/ 2147483647 w 2540"/>
              <a:gd name="T7" fmla="*/ 0 h 363"/>
              <a:gd name="T8" fmla="*/ 0 60000 65536"/>
              <a:gd name="T9" fmla="*/ 0 60000 65536"/>
              <a:gd name="T10" fmla="*/ 0 60000 65536"/>
              <a:gd name="T11" fmla="*/ 0 60000 65536"/>
              <a:gd name="T12" fmla="*/ 0 w 2540"/>
              <a:gd name="T13" fmla="*/ 0 h 363"/>
              <a:gd name="T14" fmla="*/ 2540 w 2540"/>
              <a:gd name="T15" fmla="*/ 363 h 363"/>
            </a:gdLst>
            <a:ahLst/>
            <a:cxnLst>
              <a:cxn ang="T8">
                <a:pos x="T0" y="T1"/>
              </a:cxn>
              <a:cxn ang="T9">
                <a:pos x="T2" y="T3"/>
              </a:cxn>
              <a:cxn ang="T10">
                <a:pos x="T4" y="T5"/>
              </a:cxn>
              <a:cxn ang="T11">
                <a:pos x="T6" y="T7"/>
              </a:cxn>
            </a:cxnLst>
            <a:rect l="T12" t="T13" r="T14" b="T15"/>
            <a:pathLst>
              <a:path w="2540" h="363">
                <a:moveTo>
                  <a:pt x="0" y="363"/>
                </a:moveTo>
                <a:lnTo>
                  <a:pt x="91" y="227"/>
                </a:lnTo>
                <a:lnTo>
                  <a:pt x="2359" y="227"/>
                </a:lnTo>
                <a:lnTo>
                  <a:pt x="2540" y="0"/>
                </a:lnTo>
              </a:path>
            </a:pathLst>
          </a:custGeom>
          <a:noFill/>
          <a:ln w="1905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cxnSp>
        <p:nvCxnSpPr>
          <p:cNvPr id="227" name="AutoShape 322"/>
          <p:cNvCxnSpPr>
            <a:cxnSpLocks noChangeShapeType="1"/>
            <a:stCxn id="167" idx="7"/>
          </p:cNvCxnSpPr>
          <p:nvPr/>
        </p:nvCxnSpPr>
        <p:spPr bwMode="auto">
          <a:xfrm flipV="1">
            <a:off x="9626977" y="2421496"/>
            <a:ext cx="135275" cy="26980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228" name="Line 290"/>
          <p:cNvSpPr>
            <a:spLocks noChangeShapeType="1"/>
          </p:cNvSpPr>
          <p:nvPr/>
        </p:nvSpPr>
        <p:spPr bwMode="auto">
          <a:xfrm flipV="1">
            <a:off x="11419081" y="836640"/>
            <a:ext cx="0" cy="26644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sp>
        <p:nvSpPr>
          <p:cNvPr id="229" name="Line 290"/>
          <p:cNvSpPr>
            <a:spLocks noChangeShapeType="1"/>
          </p:cNvSpPr>
          <p:nvPr/>
        </p:nvSpPr>
        <p:spPr bwMode="auto">
          <a:xfrm>
            <a:off x="9546821" y="836640"/>
            <a:ext cx="1872259" cy="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algn="ctr" fontAlgn="ctr">
              <a:buNone/>
            </a:pPr>
            <a:endParaRPr kumimoji="1" lang="zh-CN" altLang="en-US" sz="1400" b="0">
              <a:solidFill>
                <a:srgbClr val="000000"/>
              </a:solidFill>
              <a:ea typeface="宋体" panose="02010600030101010101" pitchFamily="2" charset="-122"/>
            </a:endParaRPr>
          </a:p>
        </p:txBody>
      </p:sp>
      <p:cxnSp>
        <p:nvCxnSpPr>
          <p:cNvPr id="230" name="AutoShape 268"/>
          <p:cNvCxnSpPr>
            <a:cxnSpLocks noChangeShapeType="1"/>
            <a:endCxn id="160" idx="7"/>
          </p:cNvCxnSpPr>
          <p:nvPr/>
        </p:nvCxnSpPr>
        <p:spPr bwMode="auto">
          <a:xfrm flipH="1">
            <a:off x="9338841" y="836670"/>
            <a:ext cx="207345" cy="135245"/>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64" name="Oval 253"/>
          <p:cNvSpPr>
            <a:spLocks noChangeArrowheads="1"/>
          </p:cNvSpPr>
          <p:nvPr/>
        </p:nvSpPr>
        <p:spPr bwMode="auto">
          <a:xfrm>
            <a:off x="10214928" y="1589195"/>
            <a:ext cx="432000" cy="432000"/>
          </a:xfrm>
          <a:prstGeom prst="ellipse">
            <a:avLst/>
          </a:prstGeom>
          <a:solidFill>
            <a:schemeClr val="bg1"/>
          </a:solidFill>
          <a:ln w="9525" algn="ctr">
            <a:solidFill>
              <a:sysClr val="windowText" lastClr="000000"/>
            </a:solidFill>
            <a:round/>
          </a:ln>
        </p:spPr>
        <p:txBody>
          <a:bodyPr wrap="none" anchor="ctr"/>
          <a:lstStyle/>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S8</a:t>
            </a:r>
          </a:p>
          <a:p>
            <a:pPr algn="ctr" fontAlgn="auto">
              <a:spcBef>
                <a:spcPts val="0"/>
              </a:spcBef>
              <a:spcAft>
                <a:spcPts val="0"/>
              </a:spcAft>
              <a:buNone/>
            </a:pPr>
            <a:r>
              <a:rPr lang="en-US" altLang="zh-CN" sz="1200" b="0" kern="0" dirty="0">
                <a:solidFill>
                  <a:prstClr val="black"/>
                </a:solidFill>
                <a:latin typeface="Calibri" panose="020F0502020204030204"/>
                <a:ea typeface="宋体" panose="02010600030101010101" pitchFamily="2" charset="-122"/>
              </a:rPr>
              <a:t>Branch</a:t>
            </a:r>
            <a:endParaRPr lang="zh-CN" altLang="en-US" sz="1200" b="0" kern="0" dirty="0">
              <a:solidFill>
                <a:prstClr val="black"/>
              </a:solidFill>
              <a:latin typeface="Calibri" panose="020F0502020204030204"/>
              <a:ea typeface="宋体" panose="02010600030101010101" pitchFamily="2" charset="-122"/>
            </a:endParaRPr>
          </a:p>
        </p:txBody>
      </p:sp>
      <p:sp>
        <p:nvSpPr>
          <p:cNvPr id="171" name="Oval 260"/>
          <p:cNvSpPr>
            <a:spLocks noChangeArrowheads="1"/>
          </p:cNvSpPr>
          <p:nvPr/>
        </p:nvSpPr>
        <p:spPr bwMode="auto">
          <a:xfrm>
            <a:off x="10627067" y="2626486"/>
            <a:ext cx="432000" cy="432000"/>
          </a:xfrm>
          <a:prstGeom prst="ellipse">
            <a:avLst/>
          </a:prstGeom>
          <a:solidFill>
            <a:srgbClr val="FF0000"/>
          </a:solidFill>
        </p:spPr>
        <p:style>
          <a:lnRef idx="1">
            <a:schemeClr val="accent6"/>
          </a:lnRef>
          <a:fillRef idx="3">
            <a:schemeClr val="accent6"/>
          </a:fillRef>
          <a:effectRef idx="2">
            <a:schemeClr val="accent6"/>
          </a:effectRef>
          <a:fontRef idx="minor">
            <a:schemeClr val="lt1"/>
          </a:fontRef>
        </p:style>
        <p:txBody>
          <a:bodyPr wrap="none" anchor="ctr"/>
          <a:lstStyle/>
          <a:p>
            <a:pPr algn="ctr" fontAlgn="auto">
              <a:spcBef>
                <a:spcPts val="0"/>
              </a:spcBef>
              <a:spcAft>
                <a:spcPts val="0"/>
              </a:spcAft>
              <a:buNone/>
            </a:pPr>
            <a:r>
              <a:rPr lang="en-US" altLang="zh-CN" sz="1200" kern="0" dirty="0">
                <a:solidFill>
                  <a:schemeClr val="bg1"/>
                </a:solidFill>
                <a:latin typeface="Calibri" panose="020F0502020204030204"/>
                <a:ea typeface="宋体" panose="02010600030101010101" pitchFamily="2" charset="-122"/>
              </a:rPr>
              <a:t>S10</a:t>
            </a:r>
          </a:p>
          <a:p>
            <a:pPr algn="ctr" fontAlgn="auto">
              <a:spcBef>
                <a:spcPts val="0"/>
              </a:spcBef>
              <a:spcAft>
                <a:spcPts val="0"/>
              </a:spcAft>
              <a:buNone/>
            </a:pPr>
            <a:r>
              <a:rPr lang="en-US" altLang="zh-CN" sz="1200" kern="0" dirty="0">
                <a:solidFill>
                  <a:schemeClr val="bg1"/>
                </a:solidFill>
                <a:latin typeface="Calibri" panose="020F0502020204030204"/>
                <a:ea typeface="宋体" panose="02010600030101010101" pitchFamily="2" charset="-122"/>
              </a:rPr>
              <a:t>INT</a:t>
            </a:r>
            <a:endParaRPr lang="zh-CN" altLang="en-US" sz="1200" kern="0" dirty="0">
              <a:solidFill>
                <a:schemeClr val="bg1"/>
              </a:solidFill>
              <a:latin typeface="Calibri" panose="020F0502020204030204"/>
              <a:ea typeface="宋体" panose="02010600030101010101" pitchFamily="2" charset="-122"/>
            </a:endParaRPr>
          </a:p>
        </p:txBody>
      </p:sp>
      <p:sp>
        <p:nvSpPr>
          <p:cNvPr id="44" name="圆角矩形 43"/>
          <p:cNvSpPr/>
          <p:nvPr/>
        </p:nvSpPr>
        <p:spPr bwMode="auto">
          <a:xfrm>
            <a:off x="1559420" y="4365130"/>
            <a:ext cx="360000" cy="936130"/>
          </a:xfrm>
          <a:prstGeom prst="roundRect">
            <a:avLst>
              <a:gd name="adj" fmla="val 0"/>
            </a:avLst>
          </a:prstGeom>
          <a:noFill/>
          <a:ln w="38100" cap="flat" cmpd="sng" algn="ctr">
            <a:solidFill>
              <a:srgbClr val="00B0F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5" name="圆角矩形 44"/>
          <p:cNvSpPr/>
          <p:nvPr/>
        </p:nvSpPr>
        <p:spPr bwMode="auto">
          <a:xfrm>
            <a:off x="6240020" y="3645030"/>
            <a:ext cx="648090" cy="360000"/>
          </a:xfrm>
          <a:prstGeom prst="roundRect">
            <a:avLst/>
          </a:prstGeom>
          <a:noFill/>
          <a:ln w="28575"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cxnSp>
        <p:nvCxnSpPr>
          <p:cNvPr id="47" name="形状 46"/>
          <p:cNvCxnSpPr>
            <a:stCxn id="44" idx="3"/>
            <a:endCxn id="45" idx="2"/>
          </p:cNvCxnSpPr>
          <p:nvPr/>
        </p:nvCxnSpPr>
        <p:spPr bwMode="auto">
          <a:xfrm flipV="1">
            <a:off x="1919420" y="4005030"/>
            <a:ext cx="4644645" cy="828165"/>
          </a:xfrm>
          <a:prstGeom prst="curvedConnector2">
            <a:avLst/>
          </a:prstGeom>
          <a:solidFill>
            <a:schemeClr val="bg1"/>
          </a:solidFill>
          <a:ln w="38100" cap="flat" cmpd="sng" algn="ctr">
            <a:solidFill>
              <a:srgbClr val="FF0000"/>
            </a:solidFill>
            <a:prstDash val="solid"/>
            <a:round/>
            <a:headEnd type="none" w="med" len="med"/>
            <a:tailEnd type="triangle" w="lg" len="lg"/>
          </a:ln>
          <a:effectLst/>
        </p:spPr>
      </p:cxnSp>
      <p:sp>
        <p:nvSpPr>
          <p:cNvPr id="49" name="圆角矩形 48"/>
          <p:cNvSpPr/>
          <p:nvPr/>
        </p:nvSpPr>
        <p:spPr bwMode="auto">
          <a:xfrm>
            <a:off x="5375900" y="3933070"/>
            <a:ext cx="864120" cy="864120"/>
          </a:xfrm>
          <a:prstGeom prst="roundRect">
            <a:avLst/>
          </a:prstGeom>
          <a:noFill/>
          <a:ln w="57150" cap="flat" cmpd="sng" algn="ctr">
            <a:solidFill>
              <a:srgbClr val="CC00FF"/>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cxnSp>
        <p:nvCxnSpPr>
          <p:cNvPr id="52" name="形状 51"/>
          <p:cNvCxnSpPr>
            <a:stCxn id="49" idx="0"/>
            <a:endCxn id="44" idx="0"/>
          </p:cNvCxnSpPr>
          <p:nvPr/>
        </p:nvCxnSpPr>
        <p:spPr bwMode="auto">
          <a:xfrm rot="16200000" flipH="1" flipV="1">
            <a:off x="3557660" y="2114830"/>
            <a:ext cx="432060" cy="4068540"/>
          </a:xfrm>
          <a:prstGeom prst="curvedConnector3">
            <a:avLst>
              <a:gd name="adj1" fmla="val -52909"/>
            </a:avLst>
          </a:prstGeom>
          <a:solidFill>
            <a:schemeClr val="bg1"/>
          </a:solidFill>
          <a:ln w="38100" cap="flat" cmpd="sng" algn="ctr">
            <a:solidFill>
              <a:srgbClr val="FF0000"/>
            </a:solidFill>
            <a:prstDash val="solid"/>
            <a:round/>
            <a:headEnd type="none" w="med" len="med"/>
            <a:tailEnd type="triangle" w="lg" len="lg"/>
          </a:ln>
          <a:effectLst/>
        </p:spPr>
      </p:cxnSp>
      <p:sp>
        <p:nvSpPr>
          <p:cNvPr id="58" name="TextBox 57"/>
          <p:cNvSpPr txBox="1"/>
          <p:nvPr/>
        </p:nvSpPr>
        <p:spPr>
          <a:xfrm>
            <a:off x="8723405" y="3933325"/>
            <a:ext cx="2483710" cy="2861310"/>
          </a:xfrm>
          <a:prstGeom prst="rect">
            <a:avLst/>
          </a:prstGeom>
          <a:solidFill>
            <a:srgbClr val="002060"/>
          </a:solidFill>
        </p:spPr>
        <p:style>
          <a:lnRef idx="1">
            <a:schemeClr val="accent6"/>
          </a:lnRef>
          <a:fillRef idx="3">
            <a:schemeClr val="accent6"/>
          </a:fillRef>
          <a:effectRef idx="2">
            <a:schemeClr val="accent6"/>
          </a:effectRef>
          <a:fontRef idx="minor">
            <a:schemeClr val="lt1"/>
          </a:fontRef>
        </p:style>
        <p:txBody>
          <a:bodyPr wrap="square" rtlCol="0">
            <a:spAutoFit/>
          </a:bodyPr>
          <a:lstStyle/>
          <a:p>
            <a:pPr algn="just">
              <a:lnSpc>
                <a:spcPct val="125000"/>
              </a:lnSpc>
              <a:spcBef>
                <a:spcPts val="0"/>
              </a:spcBef>
              <a:spcAft>
                <a:spcPts val="0"/>
              </a:spcAft>
            </a:pPr>
            <a:r>
              <a:rPr lang="zh-CN" altLang="en-US" sz="2400" dirty="0">
                <a:solidFill>
                  <a:schemeClr val="bg1"/>
                </a:solidFill>
              </a:rPr>
              <a:t>系统需求：</a:t>
            </a:r>
            <a:endParaRPr lang="en-US" altLang="zh-CN" sz="2400" dirty="0">
              <a:solidFill>
                <a:schemeClr val="bg1"/>
              </a:solidFill>
            </a:endParaRPr>
          </a:p>
          <a:p>
            <a:pPr algn="just">
              <a:lnSpc>
                <a:spcPct val="125000"/>
              </a:lnSpc>
              <a:spcBef>
                <a:spcPts val="0"/>
              </a:spcBef>
              <a:spcAft>
                <a:spcPts val="0"/>
              </a:spcAft>
            </a:pPr>
            <a:r>
              <a:rPr lang="zh-CN" altLang="en-US" sz="2400" dirty="0">
                <a:solidFill>
                  <a:schemeClr val="bg1"/>
                </a:solidFill>
                <a:sym typeface="Wingdings 2" panose="05020102010507070707"/>
              </a:rPr>
              <a:t></a:t>
            </a:r>
            <a:r>
              <a:rPr lang="zh-CN" altLang="en-US" sz="2400" dirty="0">
                <a:solidFill>
                  <a:schemeClr val="bg1"/>
                </a:solidFill>
              </a:rPr>
              <a:t>在</a:t>
            </a:r>
            <a:r>
              <a:rPr lang="zh-CN" altLang="en-US" sz="2400" dirty="0">
                <a:solidFill>
                  <a:srgbClr val="FF0000"/>
                </a:solidFill>
              </a:rPr>
              <a:t>同一周期</a:t>
            </a:r>
            <a:r>
              <a:rPr lang="zh-CN" altLang="en-US" sz="2400" dirty="0">
                <a:solidFill>
                  <a:schemeClr val="bg1"/>
                </a:solidFill>
              </a:rPr>
              <a:t>完成</a:t>
            </a:r>
            <a:endParaRPr lang="en-US" altLang="zh-CN" sz="2400" dirty="0">
              <a:solidFill>
                <a:schemeClr val="bg1"/>
              </a:solidFill>
            </a:endParaRPr>
          </a:p>
          <a:p>
            <a:pPr algn="just" fontAlgn="ctr">
              <a:lnSpc>
                <a:spcPct val="125000"/>
              </a:lnSpc>
              <a:spcBef>
                <a:spcPts val="0"/>
              </a:spcBef>
              <a:spcAft>
                <a:spcPts val="0"/>
              </a:spcAft>
              <a:buSzPct val="60000"/>
            </a:pPr>
            <a:r>
              <a:rPr lang="zh-CN" altLang="en-US" sz="2400" dirty="0">
                <a:solidFill>
                  <a:schemeClr val="bg1"/>
                </a:solidFill>
              </a:rPr>
              <a:t>实现技巧：</a:t>
            </a:r>
            <a:endParaRPr lang="en-US" altLang="zh-CN" sz="2400" dirty="0">
              <a:solidFill>
                <a:schemeClr val="bg1"/>
              </a:solidFill>
            </a:endParaRPr>
          </a:p>
          <a:p>
            <a:pPr algn="just" fontAlgn="ctr">
              <a:lnSpc>
                <a:spcPct val="125000"/>
              </a:lnSpc>
              <a:spcBef>
                <a:spcPts val="0"/>
              </a:spcBef>
              <a:spcAft>
                <a:spcPts val="0"/>
              </a:spcAft>
              <a:buSzPct val="60000"/>
            </a:pPr>
            <a:r>
              <a:rPr lang="en-US" altLang="zh-CN" sz="2400" dirty="0">
                <a:solidFill>
                  <a:schemeClr val="bg1"/>
                </a:solidFill>
              </a:rPr>
              <a:t>PC/EPC/EXL</a:t>
            </a:r>
            <a:r>
              <a:rPr lang="zh-CN" altLang="en-US" sz="2400" dirty="0">
                <a:solidFill>
                  <a:schemeClr val="bg1"/>
                </a:solidFill>
              </a:rPr>
              <a:t>写使能</a:t>
            </a:r>
            <a:r>
              <a:rPr lang="zh-CN" altLang="en-US" sz="2400" dirty="0">
                <a:solidFill>
                  <a:srgbClr val="FF0000"/>
                </a:solidFill>
              </a:rPr>
              <a:t>同时产生</a:t>
            </a:r>
          </a:p>
        </p:txBody>
      </p:sp>
      <p:sp>
        <p:nvSpPr>
          <p:cNvPr id="59" name="TextBox 58"/>
          <p:cNvSpPr txBox="1"/>
          <p:nvPr/>
        </p:nvSpPr>
        <p:spPr>
          <a:xfrm>
            <a:off x="3453821" y="4284425"/>
            <a:ext cx="550151" cy="510909"/>
          </a:xfrm>
          <a:prstGeom prst="rect">
            <a:avLst/>
          </a:prstGeom>
          <a:solidFill>
            <a:srgbClr val="00B0F0"/>
          </a:solidFill>
          <a:ln>
            <a:noFill/>
          </a:ln>
        </p:spPr>
        <p:style>
          <a:lnRef idx="1">
            <a:schemeClr val="accent6"/>
          </a:lnRef>
          <a:fillRef idx="3">
            <a:schemeClr val="accent6"/>
          </a:fillRef>
          <a:effectRef idx="2">
            <a:schemeClr val="accent6"/>
          </a:effectRef>
          <a:fontRef idx="minor">
            <a:schemeClr val="lt1"/>
          </a:fontRef>
        </p:style>
        <p:txBody>
          <a:bodyPr wrap="none" rtlCol="0">
            <a:spAutoFit/>
          </a:bodyPr>
          <a:lstStyle/>
          <a:p>
            <a:pPr>
              <a:buNone/>
            </a:pPr>
            <a:r>
              <a:rPr lang="en-US" altLang="zh-CN" sz="3200" dirty="0">
                <a:solidFill>
                  <a:schemeClr val="tx1"/>
                </a:solidFill>
                <a:latin typeface="Cambria" panose="02040503050406030204" pitchFamily="18" charset="0"/>
                <a:sym typeface="Wingdings 2" panose="05020102010507070707"/>
              </a:rPr>
              <a:t></a:t>
            </a:r>
            <a:endParaRPr lang="zh-CN" altLang="en-US" sz="3200" dirty="0">
              <a:solidFill>
                <a:schemeClr val="tx1"/>
              </a:solidFill>
              <a:latin typeface="Cambria" panose="02040503050406030204" pitchFamily="18" charset="0"/>
            </a:endParaRPr>
          </a:p>
        </p:txBody>
      </p:sp>
      <p:sp>
        <p:nvSpPr>
          <p:cNvPr id="60" name="TextBox 59"/>
          <p:cNvSpPr txBox="1"/>
          <p:nvPr/>
        </p:nvSpPr>
        <p:spPr>
          <a:xfrm>
            <a:off x="4321679" y="3564325"/>
            <a:ext cx="550151" cy="510909"/>
          </a:xfrm>
          <a:prstGeom prst="rect">
            <a:avLst/>
          </a:prstGeom>
          <a:solidFill>
            <a:srgbClr val="00B0F0"/>
          </a:solidFill>
          <a:ln>
            <a:noFill/>
          </a:ln>
        </p:spPr>
        <p:style>
          <a:lnRef idx="1">
            <a:schemeClr val="accent6"/>
          </a:lnRef>
          <a:fillRef idx="3">
            <a:schemeClr val="accent6"/>
          </a:fillRef>
          <a:effectRef idx="2">
            <a:schemeClr val="accent6"/>
          </a:effectRef>
          <a:fontRef idx="minor">
            <a:schemeClr val="lt1"/>
          </a:fontRef>
        </p:style>
        <p:txBody>
          <a:bodyPr wrap="none" rtlCol="0">
            <a:spAutoFit/>
          </a:bodyPr>
          <a:lstStyle/>
          <a:p>
            <a:pPr>
              <a:buNone/>
            </a:pPr>
            <a:r>
              <a:rPr lang="en-US" altLang="zh-CN" sz="3200" dirty="0">
                <a:solidFill>
                  <a:schemeClr val="tx1"/>
                </a:solidFill>
                <a:latin typeface="Cambria" panose="02040503050406030204" pitchFamily="18" charset="0"/>
                <a:sym typeface="Wingdings 2" panose="05020102010507070707"/>
              </a:rPr>
              <a:t></a:t>
            </a:r>
            <a:endParaRPr lang="zh-CN" altLang="en-US" sz="3200" dirty="0">
              <a:solidFill>
                <a:schemeClr val="tx1"/>
              </a:solidFill>
              <a:latin typeface="Cambria" panose="02040503050406030204" pitchFamily="18" charset="0"/>
            </a:endParaRPr>
          </a:p>
        </p:txBody>
      </p:sp>
      <p:cxnSp>
        <p:nvCxnSpPr>
          <p:cNvPr id="63" name="形状 62"/>
          <p:cNvCxnSpPr/>
          <p:nvPr/>
        </p:nvCxnSpPr>
        <p:spPr bwMode="auto">
          <a:xfrm rot="5400000">
            <a:off x="7607420" y="3996090"/>
            <a:ext cx="342070" cy="216030"/>
          </a:xfrm>
          <a:prstGeom prst="curvedConnector2">
            <a:avLst/>
          </a:prstGeom>
          <a:solidFill>
            <a:schemeClr val="bg1"/>
          </a:solidFill>
          <a:ln w="38100" cap="flat" cmpd="sng" algn="ctr">
            <a:solidFill>
              <a:srgbClr val="FF0000"/>
            </a:solidFill>
            <a:prstDash val="solid"/>
            <a:round/>
            <a:headEnd type="none" w="med" len="med"/>
            <a:tailEnd type="triangle" w="lg" len="lg"/>
          </a:ln>
          <a:effectLst/>
        </p:spPr>
      </p:cxnSp>
      <p:sp>
        <p:nvSpPr>
          <p:cNvPr id="64" name="圆角矩形 63"/>
          <p:cNvSpPr/>
          <p:nvPr/>
        </p:nvSpPr>
        <p:spPr bwMode="auto">
          <a:xfrm>
            <a:off x="7032130" y="4113140"/>
            <a:ext cx="576080" cy="324000"/>
          </a:xfrm>
          <a:prstGeom prst="roundRect">
            <a:avLst/>
          </a:prstGeom>
          <a:noFill/>
          <a:ln w="28575" cap="flat" cmpd="sng" algn="ctr">
            <a:solidFill>
              <a:srgbClr val="00CC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67" name="TextBox 66"/>
          <p:cNvSpPr txBox="1"/>
          <p:nvPr/>
        </p:nvSpPr>
        <p:spPr>
          <a:xfrm>
            <a:off x="7310390" y="3356990"/>
            <a:ext cx="550151" cy="510909"/>
          </a:xfrm>
          <a:prstGeom prst="rect">
            <a:avLst/>
          </a:prstGeom>
          <a:solidFill>
            <a:srgbClr val="00B0F0"/>
          </a:solidFill>
          <a:ln>
            <a:noFill/>
          </a:ln>
        </p:spPr>
        <p:style>
          <a:lnRef idx="1">
            <a:schemeClr val="accent6"/>
          </a:lnRef>
          <a:fillRef idx="3">
            <a:schemeClr val="accent6"/>
          </a:fillRef>
          <a:effectRef idx="2">
            <a:schemeClr val="accent6"/>
          </a:effectRef>
          <a:fontRef idx="minor">
            <a:schemeClr val="lt1"/>
          </a:fontRef>
        </p:style>
        <p:txBody>
          <a:bodyPr wrap="none" rtlCol="0">
            <a:spAutoFit/>
          </a:bodyPr>
          <a:lstStyle/>
          <a:p>
            <a:pPr>
              <a:buNone/>
            </a:pPr>
            <a:r>
              <a:rPr lang="en-US" altLang="zh-CN" sz="3200" dirty="0">
                <a:solidFill>
                  <a:schemeClr val="tx1"/>
                </a:solidFill>
                <a:latin typeface="Cambria" panose="02040503050406030204" pitchFamily="18" charset="0"/>
                <a:sym typeface="Wingdings 2" panose="05020102010507070707"/>
              </a:rPr>
              <a:t></a:t>
            </a:r>
            <a:endParaRPr lang="zh-CN" altLang="en-US" sz="3200" dirty="0">
              <a:solidFill>
                <a:schemeClr val="tx1"/>
              </a:solidFill>
              <a:latin typeface="Cambria" panose="02040503050406030204" pitchFamily="18" charset="0"/>
            </a:endParaRPr>
          </a:p>
        </p:txBody>
      </p:sp>
      <p:sp>
        <p:nvSpPr>
          <p:cNvPr id="46" name="标题 2"/>
          <p:cNvSpPr>
            <a:spLocks noGrp="1"/>
          </p:cNvSpPr>
          <p:nvPr/>
        </p:nvSpPr>
        <p:spPr>
          <a:xfrm>
            <a:off x="0" y="300355"/>
            <a:ext cx="8527415"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sym typeface="+mn-ea"/>
              </a:rPr>
              <a:t>5.3 </a:t>
            </a:r>
            <a:r>
              <a:rPr lang="zh-CN" altLang="en-US" dirty="0">
                <a:sym typeface="+mn-ea"/>
              </a:rPr>
              <a:t>软硬件配合的中断响应机制</a:t>
            </a:r>
            <a:r>
              <a:rPr lang="en-US" altLang="zh-CN" dirty="0">
                <a:sym typeface="+mn-ea"/>
              </a:rPr>
              <a:t>--</a:t>
            </a:r>
            <a:r>
              <a:rPr lang="zh-CN" altLang="en-US" dirty="0">
                <a:sym typeface="+mn-ea"/>
              </a:rPr>
              <a:t>控制器</a:t>
            </a:r>
            <a:r>
              <a:rPr lang="en-US" altLang="zh-CN" dirty="0">
                <a:sym typeface="+mn-ea"/>
              </a:rPr>
              <a:t>(2)</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9376" y="969010"/>
            <a:ext cx="9124806" cy="4090035"/>
          </a:xfrm>
          <a:solidFill>
            <a:schemeClr val="bg1"/>
          </a:solidFill>
        </p:spPr>
        <p:txBody>
          <a:bodyPr/>
          <a:lstStyle/>
          <a:p>
            <a:r>
              <a:rPr lang="zh-CN" altLang="en-US" dirty="0">
                <a:solidFill>
                  <a:srgbClr val="000000"/>
                </a:solidFill>
              </a:rPr>
              <a:t>中断框架结构：保存现场、中断处理、恢复现场、中断返回</a:t>
            </a:r>
            <a:endParaRPr lang="en-US" altLang="zh-CN" dirty="0">
              <a:solidFill>
                <a:srgbClr val="000000"/>
              </a:solidFill>
            </a:endParaRPr>
          </a:p>
          <a:p>
            <a:r>
              <a:rPr lang="en-US" altLang="zh-CN" dirty="0">
                <a:solidFill>
                  <a:srgbClr val="000000"/>
                </a:solidFill>
              </a:rPr>
              <a:t>1</a:t>
            </a:r>
            <a:r>
              <a:rPr lang="zh-CN" altLang="en-US" dirty="0">
                <a:solidFill>
                  <a:srgbClr val="000000"/>
                </a:solidFill>
              </a:rPr>
              <a:t>、保存现场</a:t>
            </a:r>
            <a:endParaRPr lang="en-US" altLang="zh-CN" dirty="0">
              <a:solidFill>
                <a:srgbClr val="000000"/>
              </a:solidFill>
            </a:endParaRPr>
          </a:p>
          <a:p>
            <a:pPr lvl="1"/>
            <a:r>
              <a:rPr lang="zh-CN" altLang="en-US" dirty="0">
                <a:solidFill>
                  <a:srgbClr val="000000"/>
                </a:solidFill>
              </a:rPr>
              <a:t>将所有寄存器都保存在堆栈中</a:t>
            </a:r>
            <a:endParaRPr lang="en-US" altLang="zh-CN" dirty="0">
              <a:solidFill>
                <a:srgbClr val="000000"/>
              </a:solidFill>
            </a:endParaRPr>
          </a:p>
          <a:p>
            <a:r>
              <a:rPr lang="en-US" altLang="zh-CN" dirty="0">
                <a:solidFill>
                  <a:srgbClr val="000000"/>
                </a:solidFill>
              </a:rPr>
              <a:t>2</a:t>
            </a:r>
            <a:r>
              <a:rPr lang="zh-CN" altLang="en-US" dirty="0">
                <a:solidFill>
                  <a:srgbClr val="000000"/>
                </a:solidFill>
              </a:rPr>
              <a:t>、中断处理</a:t>
            </a:r>
            <a:endParaRPr lang="en-US" altLang="zh-CN" dirty="0">
              <a:solidFill>
                <a:srgbClr val="000000"/>
              </a:solidFill>
            </a:endParaRPr>
          </a:p>
          <a:p>
            <a:pPr lvl="1"/>
            <a:r>
              <a:rPr lang="zh-CN" altLang="en-US" dirty="0">
                <a:solidFill>
                  <a:srgbClr val="000000"/>
                </a:solidFill>
              </a:rPr>
              <a:t>读取特殊寄存器了解哪个硬件中断发生</a:t>
            </a:r>
            <a:endParaRPr lang="en-US" altLang="zh-CN" dirty="0">
              <a:solidFill>
                <a:srgbClr val="000000"/>
              </a:solidFill>
            </a:endParaRPr>
          </a:p>
          <a:p>
            <a:pPr lvl="1"/>
            <a:r>
              <a:rPr lang="zh-CN" altLang="en-US" dirty="0">
                <a:solidFill>
                  <a:srgbClr val="000000"/>
                </a:solidFill>
              </a:rPr>
              <a:t>执行对应的处理策略</a:t>
            </a:r>
            <a:endParaRPr lang="en-US" altLang="zh-CN" dirty="0">
              <a:solidFill>
                <a:srgbClr val="000000"/>
              </a:solidFill>
            </a:endParaRPr>
          </a:p>
          <a:p>
            <a:r>
              <a:rPr lang="en-US" altLang="zh-CN" dirty="0">
                <a:solidFill>
                  <a:srgbClr val="000000"/>
                </a:solidFill>
              </a:rPr>
              <a:t>3</a:t>
            </a:r>
            <a:r>
              <a:rPr lang="zh-CN" altLang="en-US" dirty="0">
                <a:solidFill>
                  <a:srgbClr val="000000"/>
                </a:solidFill>
              </a:rPr>
              <a:t>、恢复现场</a:t>
            </a:r>
            <a:endParaRPr lang="en-US" altLang="zh-CN" dirty="0">
              <a:solidFill>
                <a:srgbClr val="000000"/>
              </a:solidFill>
            </a:endParaRPr>
          </a:p>
          <a:p>
            <a:pPr lvl="1"/>
            <a:r>
              <a:rPr lang="zh-CN" altLang="en-US" dirty="0">
                <a:solidFill>
                  <a:srgbClr val="000000"/>
                </a:solidFill>
              </a:rPr>
              <a:t>从堆栈中恢复所有寄存器</a:t>
            </a:r>
            <a:endParaRPr lang="en-US" altLang="zh-CN" dirty="0">
              <a:solidFill>
                <a:srgbClr val="000000"/>
              </a:solidFill>
            </a:endParaRPr>
          </a:p>
          <a:p>
            <a:r>
              <a:rPr lang="en-US" altLang="zh-CN" dirty="0">
                <a:solidFill>
                  <a:srgbClr val="000000"/>
                </a:solidFill>
              </a:rPr>
              <a:t>4</a:t>
            </a:r>
            <a:r>
              <a:rPr lang="zh-CN" altLang="en-US" dirty="0">
                <a:solidFill>
                  <a:srgbClr val="000000"/>
                </a:solidFill>
              </a:rPr>
              <a:t>、中断返回</a:t>
            </a:r>
            <a:endParaRPr lang="en-US" altLang="zh-CN" dirty="0">
              <a:solidFill>
                <a:srgbClr val="000000"/>
              </a:solidFill>
            </a:endParaRPr>
          </a:p>
          <a:p>
            <a:pPr lvl="1"/>
            <a:r>
              <a:rPr lang="zh-CN" altLang="en-US" dirty="0">
                <a:solidFill>
                  <a:srgbClr val="000000"/>
                </a:solidFill>
              </a:rPr>
              <a:t>执行</a:t>
            </a:r>
            <a:r>
              <a:rPr lang="en-US" altLang="zh-CN" dirty="0" err="1">
                <a:solidFill>
                  <a:srgbClr val="000000"/>
                </a:solidFill>
              </a:rPr>
              <a:t>eret</a:t>
            </a:r>
            <a:r>
              <a:rPr lang="zh-CN" altLang="en-US" dirty="0">
                <a:solidFill>
                  <a:srgbClr val="000000"/>
                </a:solidFill>
              </a:rPr>
              <a:t>指令</a:t>
            </a:r>
            <a:endParaRPr lang="en-US" altLang="zh-CN" dirty="0">
              <a:solidFill>
                <a:srgbClr val="000000"/>
              </a:solidFill>
            </a:endParaRPr>
          </a:p>
        </p:txBody>
      </p:sp>
      <p:sp>
        <p:nvSpPr>
          <p:cNvPr id="5" name="TextBox 4"/>
          <p:cNvSpPr txBox="1"/>
          <p:nvPr/>
        </p:nvSpPr>
        <p:spPr>
          <a:xfrm>
            <a:off x="2999656" y="5341995"/>
            <a:ext cx="5311131" cy="867930"/>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just"/>
            <a:r>
              <a:rPr lang="en-US" altLang="zh-CN" sz="2400" b="0" dirty="0">
                <a:latin typeface="黑体" panose="02010609060101010101" pitchFamily="49" charset="-122"/>
                <a:ea typeface="黑体" panose="02010609060101010101" pitchFamily="49" charset="-122"/>
              </a:rPr>
              <a:t>1/3/4</a:t>
            </a:r>
            <a:r>
              <a:rPr lang="zh-CN" altLang="en-US" sz="2400" b="0" dirty="0">
                <a:latin typeface="黑体" panose="02010609060101010101" pitchFamily="49" charset="-122"/>
                <a:ea typeface="黑体" panose="02010609060101010101" pitchFamily="49" charset="-122"/>
              </a:rPr>
              <a:t>：通用架构</a:t>
            </a:r>
            <a:endParaRPr lang="en-US" altLang="zh-CN" sz="2400" b="0" dirty="0">
              <a:latin typeface="黑体" panose="02010609060101010101" pitchFamily="49" charset="-122"/>
              <a:ea typeface="黑体" panose="02010609060101010101" pitchFamily="49" charset="-122"/>
            </a:endParaRPr>
          </a:p>
          <a:p>
            <a:pPr algn="just"/>
            <a:r>
              <a:rPr lang="en-US" altLang="zh-CN" sz="2400" b="0" dirty="0">
                <a:latin typeface="黑体" panose="02010609060101010101" pitchFamily="49" charset="-122"/>
                <a:ea typeface="黑体" panose="02010609060101010101" pitchFamily="49" charset="-122"/>
              </a:rPr>
              <a:t>2</a:t>
            </a:r>
            <a:r>
              <a:rPr lang="zh-CN" altLang="en-US" sz="2400" b="0" dirty="0">
                <a:latin typeface="黑体" panose="02010609060101010101" pitchFamily="49" charset="-122"/>
                <a:ea typeface="黑体" panose="02010609060101010101" pitchFamily="49" charset="-122"/>
              </a:rPr>
              <a:t>：针对具体设备</a:t>
            </a:r>
          </a:p>
        </p:txBody>
      </p:sp>
      <p:sp>
        <p:nvSpPr>
          <p:cNvPr id="46" name="标题 2"/>
          <p:cNvSpPr>
            <a:spLocks noGrp="1"/>
          </p:cNvSpPr>
          <p:nvPr/>
        </p:nvSpPr>
        <p:spPr>
          <a:xfrm>
            <a:off x="0" y="300355"/>
            <a:ext cx="8811895"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sym typeface="+mn-ea"/>
              </a:rPr>
              <a:t>5.3 </a:t>
            </a:r>
            <a:r>
              <a:rPr lang="zh-CN" altLang="en-US" dirty="0">
                <a:sym typeface="+mn-ea"/>
              </a:rPr>
              <a:t>软硬件配合的中断响应机制</a:t>
            </a:r>
            <a:r>
              <a:rPr lang="en-US" altLang="zh-CN" dirty="0">
                <a:sym typeface="+mn-ea"/>
              </a:rPr>
              <a:t>--</a:t>
            </a:r>
            <a:r>
              <a:rPr lang="zh-CN" altLang="en-US" dirty="0">
                <a:sym typeface="+mn-ea"/>
              </a:rPr>
              <a:t>中断服务程序</a:t>
            </a:r>
            <a:endParaRPr lang="zh-CN" altLang="en-US" dirty="0"/>
          </a:p>
          <a:p>
            <a:pPr indent="0">
              <a:buNone/>
            </a:pP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p:cNvPicPr>
            <a:picLocks noChangeAspect="1" noChangeArrowheads="1"/>
          </p:cNvPicPr>
          <p:nvPr/>
        </p:nvPicPr>
        <p:blipFill>
          <a:blip r:embed="rId2" cstate="print"/>
          <a:srcRect/>
          <a:stretch>
            <a:fillRect/>
          </a:stretch>
        </p:blipFill>
        <p:spPr bwMode="auto">
          <a:xfrm>
            <a:off x="1245045" y="3244063"/>
            <a:ext cx="6300000" cy="3105222"/>
          </a:xfrm>
          <a:prstGeom prst="rect">
            <a:avLst/>
          </a:prstGeom>
          <a:noFill/>
          <a:ln w="9525">
            <a:noFill/>
            <a:miter lim="800000"/>
            <a:headEnd/>
            <a:tailEnd/>
          </a:ln>
        </p:spPr>
      </p:pic>
      <p:sp>
        <p:nvSpPr>
          <p:cNvPr id="2" name="内容占位符 1"/>
          <p:cNvSpPr>
            <a:spLocks noGrp="1"/>
          </p:cNvSpPr>
          <p:nvPr>
            <p:ph idx="1"/>
          </p:nvPr>
        </p:nvSpPr>
        <p:spPr>
          <a:xfrm>
            <a:off x="551385" y="993140"/>
            <a:ext cx="9206086" cy="1435735"/>
          </a:xfrm>
          <a:solidFill>
            <a:schemeClr val="bg1"/>
          </a:solidFill>
        </p:spPr>
        <p:txBody>
          <a:bodyPr/>
          <a:lstStyle/>
          <a:p>
            <a:r>
              <a:rPr lang="zh-CN" altLang="en-US" sz="2400" dirty="0"/>
              <a:t>恢复</a:t>
            </a:r>
            <a:r>
              <a:rPr lang="en-US" altLang="zh-CN" sz="2400" dirty="0"/>
              <a:t>PC</a:t>
            </a:r>
            <a:r>
              <a:rPr lang="zh-CN" altLang="en-US" sz="2400" dirty="0"/>
              <a:t>，开中断</a:t>
            </a:r>
            <a:endParaRPr lang="en-US" altLang="zh-CN" sz="2400" dirty="0"/>
          </a:p>
          <a:p>
            <a:r>
              <a:rPr lang="zh-CN" altLang="en-US" sz="2400" dirty="0">
                <a:solidFill>
                  <a:srgbClr val="000000"/>
                </a:solidFill>
                <a:sym typeface="Wingdings 2" panose="05020102010507070707"/>
              </a:rPr>
              <a:t>恢复</a:t>
            </a:r>
            <a:r>
              <a:rPr lang="en-US" altLang="zh-CN" sz="2400" dirty="0">
                <a:solidFill>
                  <a:srgbClr val="000000"/>
                </a:solidFill>
                <a:sym typeface="Wingdings 2" panose="05020102010507070707"/>
              </a:rPr>
              <a:t>PC</a:t>
            </a:r>
            <a:r>
              <a:rPr lang="zh-CN" altLang="en-US" sz="2400" dirty="0">
                <a:solidFill>
                  <a:srgbClr val="000000"/>
                </a:solidFill>
              </a:rPr>
              <a:t>：将</a:t>
            </a:r>
            <a:r>
              <a:rPr lang="en-US" altLang="zh-CN" sz="2400" dirty="0">
                <a:solidFill>
                  <a:srgbClr val="000000"/>
                </a:solidFill>
              </a:rPr>
              <a:t>EPC</a:t>
            </a:r>
            <a:r>
              <a:rPr lang="zh-CN" altLang="en-US" sz="2400" dirty="0">
                <a:solidFill>
                  <a:srgbClr val="000000"/>
                </a:solidFill>
              </a:rPr>
              <a:t>写入</a:t>
            </a:r>
            <a:r>
              <a:rPr lang="en-US" altLang="zh-CN" sz="2400" dirty="0">
                <a:solidFill>
                  <a:srgbClr val="000000"/>
                </a:solidFill>
              </a:rPr>
              <a:t>PC</a:t>
            </a:r>
          </a:p>
          <a:p>
            <a:r>
              <a:rPr lang="zh-CN" altLang="en-US" sz="2400" dirty="0">
                <a:solidFill>
                  <a:srgbClr val="000000"/>
                </a:solidFill>
                <a:sym typeface="Wingdings 2" panose="05020102010507070707"/>
              </a:rPr>
              <a:t>开中断：清除</a:t>
            </a:r>
            <a:r>
              <a:rPr lang="en-US" altLang="zh-CN" sz="2400" dirty="0">
                <a:solidFill>
                  <a:srgbClr val="000000"/>
                </a:solidFill>
                <a:sym typeface="Wingdings 2" panose="05020102010507070707"/>
              </a:rPr>
              <a:t>EXL</a:t>
            </a:r>
            <a:r>
              <a:rPr lang="zh-CN" altLang="en-US" sz="2400" dirty="0">
                <a:solidFill>
                  <a:srgbClr val="000000"/>
                </a:solidFill>
              </a:rPr>
              <a:t>，允许再次产生</a:t>
            </a:r>
          </a:p>
        </p:txBody>
      </p:sp>
      <p:sp>
        <p:nvSpPr>
          <p:cNvPr id="8" name="圆角矩形 7"/>
          <p:cNvSpPr/>
          <p:nvPr/>
        </p:nvSpPr>
        <p:spPr bwMode="auto">
          <a:xfrm>
            <a:off x="1317055" y="3900945"/>
            <a:ext cx="360050" cy="936130"/>
          </a:xfrm>
          <a:prstGeom prst="roundRect">
            <a:avLst>
              <a:gd name="adj" fmla="val 0"/>
            </a:avLst>
          </a:prstGeom>
          <a:noFill/>
          <a:ln w="38100" cap="flat" cmpd="sng" algn="ctr">
            <a:solidFill>
              <a:srgbClr val="00B0F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9" name="圆角矩形 8"/>
          <p:cNvSpPr/>
          <p:nvPr/>
        </p:nvSpPr>
        <p:spPr bwMode="auto">
          <a:xfrm>
            <a:off x="5853685" y="3180845"/>
            <a:ext cx="648090" cy="360000"/>
          </a:xfrm>
          <a:prstGeom prst="roundRect">
            <a:avLst/>
          </a:prstGeom>
          <a:noFill/>
          <a:ln w="28575" cap="flat" cmpd="sng" algn="ctr">
            <a:solidFill>
              <a:srgbClr val="FF00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cxnSp>
        <p:nvCxnSpPr>
          <p:cNvPr id="12" name="形状 51"/>
          <p:cNvCxnSpPr>
            <a:stCxn id="9" idx="0"/>
            <a:endCxn id="8" idx="0"/>
          </p:cNvCxnSpPr>
          <p:nvPr/>
        </p:nvCxnSpPr>
        <p:spPr bwMode="auto">
          <a:xfrm rot="16200000" flipH="1" flipV="1">
            <a:off x="3477578" y="1200468"/>
            <a:ext cx="720090" cy="4680585"/>
          </a:xfrm>
          <a:prstGeom prst="curvedConnector3">
            <a:avLst>
              <a:gd name="adj1" fmla="val -33113"/>
            </a:avLst>
          </a:prstGeom>
          <a:solidFill>
            <a:schemeClr val="bg1"/>
          </a:solidFill>
          <a:ln w="38100" cap="flat" cmpd="sng" algn="ctr">
            <a:solidFill>
              <a:srgbClr val="FF0000"/>
            </a:solidFill>
            <a:prstDash val="solid"/>
            <a:round/>
            <a:headEnd type="none" w="med" len="med"/>
            <a:tailEnd type="triangle" w="lg" len="lg"/>
          </a:ln>
          <a:effectLst/>
        </p:spPr>
      </p:cxnSp>
      <p:sp>
        <p:nvSpPr>
          <p:cNvPr id="14" name="TextBox 13"/>
          <p:cNvSpPr txBox="1"/>
          <p:nvPr/>
        </p:nvSpPr>
        <p:spPr>
          <a:xfrm>
            <a:off x="4007354" y="2812100"/>
            <a:ext cx="550151" cy="510909"/>
          </a:xfrm>
          <a:prstGeom prst="rect">
            <a:avLst/>
          </a:prstGeom>
          <a:solidFill>
            <a:srgbClr val="00B0F0"/>
          </a:solidFill>
          <a:ln>
            <a:noFill/>
          </a:ln>
        </p:spPr>
        <p:style>
          <a:lnRef idx="1">
            <a:schemeClr val="accent6"/>
          </a:lnRef>
          <a:fillRef idx="3">
            <a:schemeClr val="accent6"/>
          </a:fillRef>
          <a:effectRef idx="2">
            <a:schemeClr val="accent6"/>
          </a:effectRef>
          <a:fontRef idx="minor">
            <a:schemeClr val="lt1"/>
          </a:fontRef>
        </p:style>
        <p:txBody>
          <a:bodyPr wrap="none" rtlCol="0">
            <a:spAutoFit/>
          </a:bodyPr>
          <a:lstStyle/>
          <a:p>
            <a:pPr>
              <a:buNone/>
            </a:pPr>
            <a:r>
              <a:rPr lang="en-US" altLang="zh-CN" sz="3200" dirty="0">
                <a:solidFill>
                  <a:schemeClr val="tx1"/>
                </a:solidFill>
                <a:latin typeface="Cambria" panose="02040503050406030204" pitchFamily="18" charset="0"/>
                <a:sym typeface="Wingdings 2" panose="05020102010507070707"/>
              </a:rPr>
              <a:t></a:t>
            </a:r>
            <a:endParaRPr lang="zh-CN" altLang="en-US" sz="3200" dirty="0">
              <a:solidFill>
                <a:schemeClr val="tx1"/>
              </a:solidFill>
              <a:latin typeface="Cambria" panose="02040503050406030204" pitchFamily="18" charset="0"/>
            </a:endParaRPr>
          </a:p>
        </p:txBody>
      </p:sp>
      <p:cxnSp>
        <p:nvCxnSpPr>
          <p:cNvPr id="15" name="形状 62"/>
          <p:cNvCxnSpPr>
            <a:endCxn id="16" idx="3"/>
          </p:cNvCxnSpPr>
          <p:nvPr/>
        </p:nvCxnSpPr>
        <p:spPr bwMode="auto">
          <a:xfrm rot="10800000" flipV="1">
            <a:off x="7365895" y="3432290"/>
            <a:ext cx="648090" cy="378030"/>
          </a:xfrm>
          <a:prstGeom prst="curvedConnector3">
            <a:avLst>
              <a:gd name="adj1" fmla="val 50000"/>
            </a:avLst>
          </a:prstGeom>
          <a:solidFill>
            <a:schemeClr val="bg1"/>
          </a:solidFill>
          <a:ln w="38100" cap="flat" cmpd="sng" algn="ctr">
            <a:solidFill>
              <a:srgbClr val="FF0000"/>
            </a:solidFill>
            <a:prstDash val="solid"/>
            <a:round/>
            <a:headEnd type="none" w="med" len="med"/>
            <a:tailEnd type="triangle" w="lg" len="lg"/>
          </a:ln>
          <a:effectLst/>
        </p:spPr>
      </p:cxnSp>
      <p:sp>
        <p:nvSpPr>
          <p:cNvPr id="16" name="圆角矩形 15"/>
          <p:cNvSpPr/>
          <p:nvPr/>
        </p:nvSpPr>
        <p:spPr bwMode="auto">
          <a:xfrm>
            <a:off x="6717805" y="3648955"/>
            <a:ext cx="648090" cy="324000"/>
          </a:xfrm>
          <a:prstGeom prst="roundRect">
            <a:avLst/>
          </a:prstGeom>
          <a:noFill/>
          <a:ln w="28575" cap="flat" cmpd="sng" algn="ctr">
            <a:solidFill>
              <a:srgbClr val="00CC0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1" name="TextBox 20"/>
          <p:cNvSpPr txBox="1"/>
          <p:nvPr/>
        </p:nvSpPr>
        <p:spPr>
          <a:xfrm>
            <a:off x="7171814" y="2956120"/>
            <a:ext cx="1877437" cy="510909"/>
          </a:xfrm>
          <a:prstGeom prst="rect">
            <a:avLst/>
          </a:prstGeom>
          <a:solidFill>
            <a:srgbClr val="00B0F0"/>
          </a:solidFill>
          <a:ln>
            <a:noFill/>
          </a:ln>
        </p:spPr>
        <p:style>
          <a:lnRef idx="1">
            <a:schemeClr val="accent6"/>
          </a:lnRef>
          <a:fillRef idx="3">
            <a:schemeClr val="accent6"/>
          </a:fillRef>
          <a:effectRef idx="2">
            <a:schemeClr val="accent6"/>
          </a:effectRef>
          <a:fontRef idx="minor">
            <a:schemeClr val="lt1"/>
          </a:fontRef>
        </p:style>
        <p:txBody>
          <a:bodyPr wrap="none" rtlCol="0">
            <a:spAutoFit/>
          </a:bodyPr>
          <a:lstStyle/>
          <a:p>
            <a:pPr>
              <a:buNone/>
            </a:pPr>
            <a:r>
              <a:rPr lang="en-US" altLang="zh-CN" sz="3200" dirty="0">
                <a:solidFill>
                  <a:schemeClr val="tx1"/>
                </a:solidFill>
                <a:latin typeface="Cambria" panose="02040503050406030204" pitchFamily="18" charset="0"/>
                <a:sym typeface="Wingdings 2" panose="05020102010507070707"/>
              </a:rPr>
              <a:t></a:t>
            </a:r>
            <a:r>
              <a:rPr lang="en-US" altLang="zh-CN" sz="3200" b="0" dirty="0">
                <a:solidFill>
                  <a:schemeClr val="tx1"/>
                </a:solidFill>
                <a:latin typeface="Cambria" panose="02040503050406030204" pitchFamily="18" charset="0"/>
                <a:sym typeface="Wingdings 2" panose="05020102010507070707"/>
              </a:rPr>
              <a:t>EXL</a:t>
            </a:r>
            <a:r>
              <a:rPr lang="zh-CN" altLang="en-US" sz="3200" b="0" dirty="0">
                <a:solidFill>
                  <a:schemeClr val="tx1"/>
                </a:solidFill>
                <a:latin typeface="Cambria" panose="02040503050406030204" pitchFamily="18" charset="0"/>
                <a:sym typeface="Wingdings 2" panose="05020102010507070707"/>
              </a:rPr>
              <a:t>清</a:t>
            </a:r>
            <a:r>
              <a:rPr lang="en-US" altLang="zh-CN" sz="3200" b="0" dirty="0">
                <a:solidFill>
                  <a:schemeClr val="tx1"/>
                </a:solidFill>
                <a:latin typeface="Cambria" panose="02040503050406030204" pitchFamily="18" charset="0"/>
                <a:sym typeface="Wingdings 2" panose="05020102010507070707"/>
              </a:rPr>
              <a:t>0</a:t>
            </a:r>
            <a:endParaRPr lang="zh-CN" altLang="en-US" sz="3200" b="0" dirty="0">
              <a:solidFill>
                <a:schemeClr val="tx1"/>
              </a:solidFill>
              <a:latin typeface="Cambria" panose="02040503050406030204" pitchFamily="18" charset="0"/>
            </a:endParaRPr>
          </a:p>
        </p:txBody>
      </p:sp>
      <p:sp>
        <p:nvSpPr>
          <p:cNvPr id="46" name="标题 2"/>
          <p:cNvSpPr>
            <a:spLocks noGrp="1"/>
          </p:cNvSpPr>
          <p:nvPr/>
        </p:nvSpPr>
        <p:spPr>
          <a:xfrm>
            <a:off x="0" y="300355"/>
            <a:ext cx="8527415"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sym typeface="+mn-ea"/>
              </a:rPr>
              <a:t>5.3 </a:t>
            </a:r>
            <a:r>
              <a:rPr lang="zh-CN" altLang="en-US" dirty="0">
                <a:sym typeface="+mn-ea"/>
              </a:rPr>
              <a:t>软硬件配合的中断响应机制</a:t>
            </a:r>
            <a:r>
              <a:rPr lang="en-US" altLang="zh-CN" dirty="0">
                <a:sym typeface="+mn-ea"/>
              </a:rPr>
              <a:t>--ERET</a:t>
            </a:r>
            <a:r>
              <a:rPr lang="zh-CN" altLang="en-US" dirty="0">
                <a:sym typeface="+mn-ea"/>
              </a:rPr>
              <a:t>指令</a:t>
            </a:r>
            <a:endParaRPr lang="zh-CN" altLang="en-US" dirty="0"/>
          </a:p>
          <a:p>
            <a:pPr indent="0">
              <a:buNone/>
            </a:pP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 name="表格 74"/>
          <p:cNvGraphicFramePr>
            <a:graphicFrameLocks noGrp="1"/>
          </p:cNvGraphicFramePr>
          <p:nvPr>
            <p:custDataLst>
              <p:tags r:id="rId1"/>
            </p:custDataLst>
            <p:extLst>
              <p:ext uri="{D42A27DB-BD31-4B8C-83A1-F6EECF244321}">
                <p14:modId xmlns:p14="http://schemas.microsoft.com/office/powerpoint/2010/main" val="4106533034"/>
              </p:ext>
            </p:extLst>
          </p:nvPr>
        </p:nvGraphicFramePr>
        <p:xfrm>
          <a:off x="2340542" y="836640"/>
          <a:ext cx="3167380" cy="4450080"/>
        </p:xfrm>
        <a:graphic>
          <a:graphicData uri="http://schemas.openxmlformats.org/drawingml/2006/table">
            <a:tbl>
              <a:tblPr firstRow="1" bandRow="1"/>
              <a:tblGrid>
                <a:gridCol w="1259840">
                  <a:extLst>
                    <a:ext uri="{9D8B030D-6E8A-4147-A177-3AD203B41FA5}">
                      <a16:colId xmlns:a16="http://schemas.microsoft.com/office/drawing/2014/main" val="20000"/>
                    </a:ext>
                  </a:extLst>
                </a:gridCol>
                <a:gridCol w="1907540">
                  <a:extLst>
                    <a:ext uri="{9D8B030D-6E8A-4147-A177-3AD203B41FA5}">
                      <a16:colId xmlns:a16="http://schemas.microsoft.com/office/drawing/2014/main" val="20001"/>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sz="1400" dirty="0"/>
                        <a:t>地址</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400" dirty="0"/>
                        <a:t>指令</a:t>
                      </a:r>
                      <a:endParaRPr lang="en-US" altLang="zh-CN" sz="14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altLang="zh-CN" sz="1400" dirty="0">
                          <a:latin typeface="Courier New" panose="02070309020205020404" pitchFamily="49" charset="0"/>
                          <a:cs typeface="Courier New" panose="02070309020205020404" pitchFamily="49" charset="0"/>
                        </a:rPr>
                        <a:t>0xBFC00180</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altLang="zh-CN" sz="1400" dirty="0">
                          <a:latin typeface="Courier New" panose="02070309020205020404" pitchFamily="49" charset="0"/>
                          <a:cs typeface="Courier New" panose="02070309020205020404" pitchFamily="49" charset="0"/>
                        </a:rPr>
                        <a:t>ADD $</a:t>
                      </a:r>
                      <a:r>
                        <a:rPr lang="en-US" altLang="zh-CN" sz="1400" dirty="0" err="1">
                          <a:latin typeface="Courier New" panose="02070309020205020404" pitchFamily="49" charset="0"/>
                          <a:cs typeface="Courier New" panose="02070309020205020404" pitchFamily="49" charset="0"/>
                        </a:rPr>
                        <a:t>sp</a:t>
                      </a:r>
                      <a:r>
                        <a:rPr lang="en-US" altLang="zh-CN" sz="1400" dirty="0">
                          <a:latin typeface="Courier New" panose="02070309020205020404" pitchFamily="49" charset="0"/>
                          <a:cs typeface="Courier New" panose="02070309020205020404" pitchFamily="49" charset="0"/>
                        </a:rPr>
                        <a:t>,</a:t>
                      </a:r>
                      <a:r>
                        <a:rPr lang="en-US" altLang="zh-CN" sz="1400" baseline="0" dirty="0">
                          <a:latin typeface="Courier New" panose="02070309020205020404" pitchFamily="49" charset="0"/>
                          <a:cs typeface="Courier New" panose="02070309020205020404" pitchFamily="49" charset="0"/>
                        </a:rPr>
                        <a:t> $</a:t>
                      </a:r>
                      <a:r>
                        <a:rPr lang="en-US" altLang="zh-CN" sz="1400" baseline="0" dirty="0" err="1">
                          <a:latin typeface="Courier New" panose="02070309020205020404" pitchFamily="49" charset="0"/>
                          <a:cs typeface="Courier New" panose="02070309020205020404" pitchFamily="49" charset="0"/>
                        </a:rPr>
                        <a:t>sp</a:t>
                      </a:r>
                      <a:r>
                        <a:rPr lang="en-US" altLang="zh-CN" sz="1400" baseline="0" dirty="0">
                          <a:latin typeface="Courier New" panose="02070309020205020404" pitchFamily="49" charset="0"/>
                          <a:cs typeface="Courier New" panose="02070309020205020404" pitchFamily="49" charset="0"/>
                        </a:rPr>
                        <a:t>, -8</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0xBFC00184</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SW  $t0, 0($</a:t>
                      </a:r>
                      <a:r>
                        <a:rPr lang="en-US" altLang="zh-CN" sz="1400" dirty="0" err="1">
                          <a:latin typeface="Courier New" panose="02070309020205020404" pitchFamily="49" charset="0"/>
                          <a:cs typeface="Courier New" panose="02070309020205020404" pitchFamily="49" charset="0"/>
                        </a:rPr>
                        <a:t>sp</a:t>
                      </a:r>
                      <a:r>
                        <a:rPr lang="en-US" altLang="zh-CN" sz="1400" dirty="0">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0xBFC00188</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SW  $t1, 4($</a:t>
                      </a:r>
                      <a:r>
                        <a:rPr lang="en-US" altLang="zh-CN" sz="1400" dirty="0" err="1">
                          <a:latin typeface="Courier New" panose="02070309020205020404" pitchFamily="49" charset="0"/>
                          <a:cs typeface="Courier New" panose="02070309020205020404" pitchFamily="49" charset="0"/>
                        </a:rPr>
                        <a:t>sp</a:t>
                      </a:r>
                      <a:r>
                        <a:rPr lang="en-US" altLang="zh-CN" sz="1400" dirty="0">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0xBFC0018C</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LUI $t1, 0x8000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0xBFC00190</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altLang="zh-CN" sz="1400" dirty="0">
                          <a:latin typeface="Courier New" panose="02070309020205020404" pitchFamily="49" charset="0"/>
                          <a:cs typeface="Courier New" panose="02070309020205020404" pitchFamily="49" charset="0"/>
                        </a:rPr>
                        <a:t>ORI $t1, 0x0200</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0xBFC00194</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LW  $t0, 0($t1)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6"/>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0xBFC00198</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ADDI $t0, 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7"/>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0xBFC0019C</a:t>
                      </a:r>
                      <a:endParaRPr lang="zh-CN" altLang="en-US" sz="1400" dirty="0">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SW  $t0, 0($t1)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a:solidFill>
                            <a:schemeClr val="dk1"/>
                          </a:solidFill>
                          <a:latin typeface="Courier New" panose="02070309020205020404" pitchFamily="49" charset="0"/>
                          <a:cs typeface="Courier New" panose="02070309020205020404" pitchFamily="49" charset="0"/>
                        </a:rPr>
                        <a:t>0xBFC001A0</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LW  $t0, 0($</a:t>
                      </a:r>
                      <a:r>
                        <a:rPr lang="en-US" altLang="zh-CN" sz="1400" dirty="0" err="1">
                          <a:latin typeface="Courier New" panose="02070309020205020404" pitchFamily="49" charset="0"/>
                          <a:cs typeface="Courier New" panose="02070309020205020404" pitchFamily="49" charset="0"/>
                        </a:rPr>
                        <a:t>sp</a:t>
                      </a:r>
                      <a:r>
                        <a:rPr lang="en-US" altLang="zh-CN" sz="1400" dirty="0">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a:solidFill>
                            <a:schemeClr val="dk1"/>
                          </a:solidFill>
                          <a:latin typeface="Courier New" panose="02070309020205020404" pitchFamily="49" charset="0"/>
                          <a:cs typeface="Courier New" panose="02070309020205020404" pitchFamily="49" charset="0"/>
                        </a:rPr>
                        <a:t>0xBFC001A4</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LW  $t1, 4($</a:t>
                      </a:r>
                      <a:r>
                        <a:rPr lang="en-US" altLang="zh-CN" sz="1400" dirty="0" err="1">
                          <a:latin typeface="Courier New" panose="02070309020205020404" pitchFamily="49" charset="0"/>
                          <a:cs typeface="Courier New" panose="02070309020205020404" pitchFamily="49" charset="0"/>
                        </a:rPr>
                        <a:t>sp</a:t>
                      </a:r>
                      <a:r>
                        <a:rPr lang="en-US" altLang="zh-CN" sz="1400" dirty="0">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a:solidFill>
                            <a:schemeClr val="dk1"/>
                          </a:solidFill>
                          <a:latin typeface="Courier New" panose="02070309020205020404" pitchFamily="49" charset="0"/>
                          <a:cs typeface="Courier New" panose="02070309020205020404" pitchFamily="49" charset="0"/>
                        </a:rPr>
                        <a:t>0xBFC001A8</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Courier New" panose="02070309020205020404" pitchFamily="49" charset="0"/>
                          <a:cs typeface="Courier New" panose="02070309020205020404" pitchFamily="49" charset="0"/>
                        </a:rPr>
                        <a:t>ERET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11"/>
                  </a:ext>
                </a:extLst>
              </a:tr>
            </a:tbl>
          </a:graphicData>
        </a:graphic>
      </p:graphicFrame>
      <p:grpSp>
        <p:nvGrpSpPr>
          <p:cNvPr id="79" name="组合 78"/>
          <p:cNvGrpSpPr/>
          <p:nvPr/>
        </p:nvGrpSpPr>
        <p:grpSpPr>
          <a:xfrm>
            <a:off x="1559370" y="1127556"/>
            <a:ext cx="789187" cy="460375"/>
            <a:chOff x="5306813" y="1268627"/>
            <a:chExt cx="789187" cy="460375"/>
          </a:xfrm>
        </p:grpSpPr>
        <p:sp>
          <p:nvSpPr>
            <p:cNvPr id="80" name="右箭头 79"/>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81" name="文本框 59"/>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85" name="组合 84"/>
          <p:cNvGrpSpPr/>
          <p:nvPr/>
        </p:nvGrpSpPr>
        <p:grpSpPr>
          <a:xfrm>
            <a:off x="1559370" y="4498286"/>
            <a:ext cx="789187" cy="460375"/>
            <a:chOff x="5306813" y="1268627"/>
            <a:chExt cx="789187" cy="460375"/>
          </a:xfrm>
        </p:grpSpPr>
        <p:sp>
          <p:nvSpPr>
            <p:cNvPr id="86" name="右箭头 85"/>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87" name="文本框 65"/>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91" name="组合 90"/>
          <p:cNvGrpSpPr/>
          <p:nvPr/>
        </p:nvGrpSpPr>
        <p:grpSpPr>
          <a:xfrm>
            <a:off x="1559370" y="1501554"/>
            <a:ext cx="789187" cy="460375"/>
            <a:chOff x="5306813" y="1268627"/>
            <a:chExt cx="789187" cy="460375"/>
          </a:xfrm>
        </p:grpSpPr>
        <p:sp>
          <p:nvSpPr>
            <p:cNvPr id="92" name="右箭头 91"/>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93" name="文本框 74"/>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97" name="组合 96"/>
          <p:cNvGrpSpPr/>
          <p:nvPr/>
        </p:nvGrpSpPr>
        <p:grpSpPr>
          <a:xfrm>
            <a:off x="1559370" y="1889894"/>
            <a:ext cx="789187" cy="460375"/>
            <a:chOff x="5306813" y="1268627"/>
            <a:chExt cx="789187" cy="460375"/>
          </a:xfrm>
        </p:grpSpPr>
        <p:sp>
          <p:nvSpPr>
            <p:cNvPr id="98" name="右箭头 97"/>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99" name="文本框 80"/>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103" name="组合 102"/>
          <p:cNvGrpSpPr/>
          <p:nvPr/>
        </p:nvGrpSpPr>
        <p:grpSpPr>
          <a:xfrm>
            <a:off x="1559370" y="2272326"/>
            <a:ext cx="789187" cy="460375"/>
            <a:chOff x="5306813" y="1268627"/>
            <a:chExt cx="789187" cy="460375"/>
          </a:xfrm>
        </p:grpSpPr>
        <p:sp>
          <p:nvSpPr>
            <p:cNvPr id="104" name="右箭头 103"/>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105" name="文本框 86"/>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109" name="组合 108"/>
          <p:cNvGrpSpPr/>
          <p:nvPr/>
        </p:nvGrpSpPr>
        <p:grpSpPr>
          <a:xfrm>
            <a:off x="1559370" y="2652232"/>
            <a:ext cx="789187" cy="460375"/>
            <a:chOff x="5306813" y="1268627"/>
            <a:chExt cx="789187" cy="460375"/>
          </a:xfrm>
        </p:grpSpPr>
        <p:sp>
          <p:nvSpPr>
            <p:cNvPr id="110" name="右箭头 109"/>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111" name="文本框 92"/>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115" name="组合 114"/>
          <p:cNvGrpSpPr/>
          <p:nvPr/>
        </p:nvGrpSpPr>
        <p:grpSpPr>
          <a:xfrm>
            <a:off x="1559370" y="3026230"/>
            <a:ext cx="789187" cy="460375"/>
            <a:chOff x="5306813" y="1268627"/>
            <a:chExt cx="789187" cy="460375"/>
          </a:xfrm>
        </p:grpSpPr>
        <p:sp>
          <p:nvSpPr>
            <p:cNvPr id="116" name="右箭头 115"/>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117" name="文本框 98"/>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121" name="组合 120"/>
          <p:cNvGrpSpPr/>
          <p:nvPr/>
        </p:nvGrpSpPr>
        <p:grpSpPr>
          <a:xfrm>
            <a:off x="1559370" y="3414570"/>
            <a:ext cx="789187" cy="460375"/>
            <a:chOff x="5306813" y="1268627"/>
            <a:chExt cx="789187" cy="460375"/>
          </a:xfrm>
        </p:grpSpPr>
        <p:sp>
          <p:nvSpPr>
            <p:cNvPr id="122" name="右箭头 121"/>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123" name="文本框 104"/>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127" name="组合 126"/>
          <p:cNvGrpSpPr/>
          <p:nvPr/>
        </p:nvGrpSpPr>
        <p:grpSpPr>
          <a:xfrm>
            <a:off x="1559370" y="3797002"/>
            <a:ext cx="789187" cy="460375"/>
            <a:chOff x="5306813" y="1268627"/>
            <a:chExt cx="789187" cy="460375"/>
          </a:xfrm>
        </p:grpSpPr>
        <p:sp>
          <p:nvSpPr>
            <p:cNvPr id="128" name="右箭头 127"/>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129" name="文本框 110"/>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133" name="组合 132"/>
          <p:cNvGrpSpPr/>
          <p:nvPr/>
        </p:nvGrpSpPr>
        <p:grpSpPr>
          <a:xfrm>
            <a:off x="1559370" y="4854023"/>
            <a:ext cx="789187" cy="460375"/>
            <a:chOff x="5306813" y="1268627"/>
            <a:chExt cx="789187" cy="460375"/>
          </a:xfrm>
        </p:grpSpPr>
        <p:sp>
          <p:nvSpPr>
            <p:cNvPr id="134" name="右箭头 133"/>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135" name="文本框 116"/>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139" name="组合 138"/>
          <p:cNvGrpSpPr/>
          <p:nvPr/>
        </p:nvGrpSpPr>
        <p:grpSpPr>
          <a:xfrm>
            <a:off x="1559370" y="4130809"/>
            <a:ext cx="789187" cy="460375"/>
            <a:chOff x="5306813" y="1268627"/>
            <a:chExt cx="789187" cy="460375"/>
          </a:xfrm>
        </p:grpSpPr>
        <p:sp>
          <p:nvSpPr>
            <p:cNvPr id="140" name="右箭头 139"/>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141" name="文本框 122"/>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sp>
        <p:nvSpPr>
          <p:cNvPr id="142" name="右大括号 141"/>
          <p:cNvSpPr/>
          <p:nvPr/>
        </p:nvSpPr>
        <p:spPr>
          <a:xfrm>
            <a:off x="5374349" y="1718583"/>
            <a:ext cx="62753" cy="430306"/>
          </a:xfrm>
          <a:prstGeom prst="rightBrace">
            <a:avLst/>
          </a:prstGeom>
          <a:noFill/>
          <a:ln w="190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endParaRPr>
          </a:p>
        </p:txBody>
      </p:sp>
      <p:sp>
        <p:nvSpPr>
          <p:cNvPr id="143" name="右大括号 142"/>
          <p:cNvSpPr/>
          <p:nvPr/>
        </p:nvSpPr>
        <p:spPr>
          <a:xfrm>
            <a:off x="5374349" y="4343711"/>
            <a:ext cx="62753" cy="430306"/>
          </a:xfrm>
          <a:prstGeom prst="rightBrace">
            <a:avLst/>
          </a:prstGeom>
          <a:noFill/>
          <a:ln w="190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endParaRPr>
          </a:p>
        </p:txBody>
      </p:sp>
      <p:sp>
        <p:nvSpPr>
          <p:cNvPr id="144" name="文本框 179"/>
          <p:cNvSpPr txBox="1"/>
          <p:nvPr/>
        </p:nvSpPr>
        <p:spPr>
          <a:xfrm>
            <a:off x="5458657" y="1571168"/>
            <a:ext cx="649537" cy="563231"/>
          </a:xfrm>
          <a:prstGeom prst="rect">
            <a:avLst/>
          </a:prstGeom>
          <a:noFill/>
        </p:spPr>
        <p:txBody>
          <a:bodyPr wrap="none" rtlCol="0">
            <a:spAutoFit/>
          </a:bodyPr>
          <a:lstStyle/>
          <a:p>
            <a:pPr indent="0" algn="l" fontAlgn="auto">
              <a:spcBef>
                <a:spcPts val="0"/>
              </a:spcBef>
              <a:spcAft>
                <a:spcPts val="0"/>
              </a:spcAft>
              <a:buNone/>
            </a:pPr>
            <a:r>
              <a:rPr lang="zh-CN" altLang="en-US" sz="1800" dirty="0">
                <a:solidFill>
                  <a:prstClr val="black"/>
                </a:solidFill>
                <a:latin typeface="黑体" panose="02010609060101010101" pitchFamily="49" charset="-122"/>
                <a:ea typeface="黑体" panose="02010609060101010101" pitchFamily="49" charset="-122"/>
              </a:rPr>
              <a:t>保存</a:t>
            </a:r>
            <a:endParaRPr lang="en-US" altLang="zh-CN" sz="1800" dirty="0">
              <a:solidFill>
                <a:prstClr val="black"/>
              </a:solidFill>
              <a:latin typeface="黑体" panose="02010609060101010101" pitchFamily="49" charset="-122"/>
              <a:ea typeface="黑体" panose="02010609060101010101" pitchFamily="49" charset="-122"/>
            </a:endParaRPr>
          </a:p>
          <a:p>
            <a:pPr indent="0" algn="l" fontAlgn="auto">
              <a:spcBef>
                <a:spcPts val="0"/>
              </a:spcBef>
              <a:spcAft>
                <a:spcPts val="0"/>
              </a:spcAft>
              <a:buNone/>
            </a:pPr>
            <a:r>
              <a:rPr lang="zh-CN" altLang="en-US" sz="1800" dirty="0">
                <a:solidFill>
                  <a:prstClr val="black"/>
                </a:solidFill>
                <a:latin typeface="黑体" panose="02010609060101010101" pitchFamily="49" charset="-122"/>
                <a:ea typeface="黑体" panose="02010609060101010101" pitchFamily="49" charset="-122"/>
              </a:rPr>
              <a:t>现场</a:t>
            </a:r>
          </a:p>
        </p:txBody>
      </p:sp>
      <p:sp>
        <p:nvSpPr>
          <p:cNvPr id="145" name="文本框 180"/>
          <p:cNvSpPr txBox="1"/>
          <p:nvPr/>
        </p:nvSpPr>
        <p:spPr>
          <a:xfrm>
            <a:off x="5449422" y="4237297"/>
            <a:ext cx="649537" cy="563231"/>
          </a:xfrm>
          <a:prstGeom prst="rect">
            <a:avLst/>
          </a:prstGeom>
          <a:noFill/>
        </p:spPr>
        <p:txBody>
          <a:bodyPr wrap="none" rtlCol="0">
            <a:spAutoFit/>
          </a:bodyPr>
          <a:lstStyle/>
          <a:p>
            <a:pPr indent="0" algn="l" fontAlgn="auto">
              <a:spcBef>
                <a:spcPts val="0"/>
              </a:spcBef>
              <a:spcAft>
                <a:spcPts val="0"/>
              </a:spcAft>
              <a:buNone/>
            </a:pPr>
            <a:r>
              <a:rPr lang="zh-CN" altLang="en-US" sz="1800" dirty="0">
                <a:solidFill>
                  <a:prstClr val="black"/>
                </a:solidFill>
                <a:latin typeface="黑体" panose="02010609060101010101" pitchFamily="49" charset="-122"/>
                <a:ea typeface="黑体" panose="02010609060101010101" pitchFamily="49" charset="-122"/>
              </a:rPr>
              <a:t>恢复</a:t>
            </a:r>
            <a:endParaRPr lang="en-US" altLang="zh-CN" sz="1800" dirty="0">
              <a:solidFill>
                <a:prstClr val="black"/>
              </a:solidFill>
              <a:latin typeface="黑体" panose="02010609060101010101" pitchFamily="49" charset="-122"/>
              <a:ea typeface="黑体" panose="02010609060101010101" pitchFamily="49" charset="-122"/>
            </a:endParaRPr>
          </a:p>
          <a:p>
            <a:pPr indent="0" algn="l" fontAlgn="auto">
              <a:spcBef>
                <a:spcPts val="0"/>
              </a:spcBef>
              <a:spcAft>
                <a:spcPts val="0"/>
              </a:spcAft>
              <a:buNone/>
            </a:pPr>
            <a:r>
              <a:rPr lang="zh-CN" altLang="en-US" sz="1800" dirty="0">
                <a:solidFill>
                  <a:prstClr val="black"/>
                </a:solidFill>
                <a:latin typeface="黑体" panose="02010609060101010101" pitchFamily="49" charset="-122"/>
                <a:ea typeface="黑体" panose="02010609060101010101" pitchFamily="49" charset="-122"/>
              </a:rPr>
              <a:t>现场</a:t>
            </a:r>
          </a:p>
        </p:txBody>
      </p:sp>
      <p:graphicFrame>
        <p:nvGraphicFramePr>
          <p:cNvPr id="180" name="表格 179"/>
          <p:cNvGraphicFramePr>
            <a:graphicFrameLocks noGrp="1"/>
          </p:cNvGraphicFramePr>
          <p:nvPr>
            <p:extLst>
              <p:ext uri="{D42A27DB-BD31-4B8C-83A1-F6EECF244321}">
                <p14:modId xmlns:p14="http://schemas.microsoft.com/office/powerpoint/2010/main" val="303314213"/>
              </p:ext>
            </p:extLst>
          </p:nvPr>
        </p:nvGraphicFramePr>
        <p:xfrm>
          <a:off x="7212630" y="836640"/>
          <a:ext cx="3419475" cy="3337560"/>
        </p:xfrm>
        <a:graphic>
          <a:graphicData uri="http://schemas.openxmlformats.org/drawingml/2006/table">
            <a:tbl>
              <a:tblPr firstRow="1" bandRow="1"/>
              <a:tblGrid>
                <a:gridCol w="1296035">
                  <a:extLst>
                    <a:ext uri="{9D8B030D-6E8A-4147-A177-3AD203B41FA5}">
                      <a16:colId xmlns:a16="http://schemas.microsoft.com/office/drawing/2014/main" val="20000"/>
                    </a:ext>
                  </a:extLst>
                </a:gridCol>
                <a:gridCol w="2123440">
                  <a:extLst>
                    <a:ext uri="{9D8B030D-6E8A-4147-A177-3AD203B41FA5}">
                      <a16:colId xmlns:a16="http://schemas.microsoft.com/office/drawing/2014/main" val="20001"/>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dirty="0"/>
                        <a:t>地址</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dirty="0"/>
                        <a:t>指令</a:t>
                      </a:r>
                      <a:endParaRPr lang="en-US" altLang="zh-CN"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0xA000001C</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ADD  $s1, $s2, $s3</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0xA0000020</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a:solidFill>
                            <a:schemeClr val="dk1"/>
                          </a:solidFill>
                          <a:latin typeface="Courier New" panose="02070309020205020404" pitchFamily="49" charset="0"/>
                          <a:cs typeface="Courier New" panose="02070309020205020404" pitchFamily="49" charset="0"/>
                        </a:rPr>
                        <a:t>AND  $s2, $s1, $s2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0xA0000024</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a:solidFill>
                            <a:schemeClr val="dk1"/>
                          </a:solidFill>
                          <a:latin typeface="Courier New" panose="02070309020205020404" pitchFamily="49" charset="0"/>
                          <a:cs typeface="Courier New" panose="02070309020205020404" pitchFamily="49" charset="0"/>
                        </a:rPr>
                        <a:t>SUB  $t0, $s1, $s2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0xA0000028</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a:solidFill>
                            <a:schemeClr val="dk1"/>
                          </a:solidFill>
                          <a:latin typeface="Courier New" panose="02070309020205020404" pitchFamily="49" charset="0"/>
                          <a:cs typeface="Courier New" panose="02070309020205020404" pitchFamily="49" charset="0"/>
                        </a:rPr>
                        <a:t>LW  $t1, 0($</a:t>
                      </a:r>
                      <a:r>
                        <a:rPr lang="en-US" altLang="zh-CN" sz="1400" kern="1200" dirty="0" err="1">
                          <a:solidFill>
                            <a:schemeClr val="dk1"/>
                          </a:solidFill>
                          <a:latin typeface="Courier New" panose="02070309020205020404" pitchFamily="49" charset="0"/>
                          <a:cs typeface="Courier New" panose="02070309020205020404" pitchFamily="49" charset="0"/>
                        </a:rPr>
                        <a:t>sp</a:t>
                      </a:r>
                      <a:r>
                        <a:rPr lang="en-US" altLang="zh-CN" sz="1400" kern="1200" dirty="0">
                          <a:solidFill>
                            <a:schemeClr val="dk1"/>
                          </a:solidFill>
                          <a:latin typeface="Courier New" panose="02070309020205020404" pitchFamily="49" charset="0"/>
                          <a:cs typeface="Courier New" panose="02070309020205020404" pitchFamily="49" charset="0"/>
                        </a:rPr>
                        <a: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0xA000002C</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OR  $s0, $t2, $t1</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6"/>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0xA0000030</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a:solidFill>
                            <a:schemeClr val="dk1"/>
                          </a:solidFill>
                          <a:latin typeface="Courier New" panose="02070309020205020404" pitchFamily="49" charset="0"/>
                          <a:cs typeface="Courier New" panose="02070309020205020404" pitchFamily="49" charset="0"/>
                        </a:rPr>
                        <a:t>ADD  $s0, $s0, $s2</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10007"/>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US" altLang="zh-CN" sz="1400" kern="1200" dirty="0">
                          <a:solidFill>
                            <a:schemeClr val="dk1"/>
                          </a:solidFill>
                          <a:latin typeface="Courier New" panose="02070309020205020404" pitchFamily="49" charset="0"/>
                          <a:cs typeface="Courier New" panose="02070309020205020404" pitchFamily="49" charset="0"/>
                        </a:rPr>
                        <a:t>……</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kern="1200" dirty="0">
                          <a:solidFill>
                            <a:schemeClr val="dk1"/>
                          </a:solidFill>
                          <a:latin typeface="Courier New" panose="02070309020205020404" pitchFamily="49" charset="0"/>
                          <a:cs typeface="Courier New" panose="02070309020205020404" pitchFamily="49" charset="0"/>
                        </a:rPr>
                        <a:t>……</a:t>
                      </a:r>
                      <a:endParaRPr lang="zh-CN" altLang="en-US" sz="1400" kern="1200" dirty="0">
                        <a:solidFill>
                          <a:schemeClr val="dk1"/>
                        </a:solidFill>
                        <a:latin typeface="Courier New" panose="02070309020205020404" pitchFamily="49" charset="0"/>
                        <a:cs typeface="Courier New" panose="02070309020205020404" pitchFamily="49"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08"/>
                  </a:ext>
                </a:extLst>
              </a:tr>
            </a:tbl>
          </a:graphicData>
        </a:graphic>
      </p:graphicFrame>
      <p:grpSp>
        <p:nvGrpSpPr>
          <p:cNvPr id="181" name="组合 180"/>
          <p:cNvGrpSpPr/>
          <p:nvPr/>
        </p:nvGrpSpPr>
        <p:grpSpPr>
          <a:xfrm>
            <a:off x="6401971" y="1586554"/>
            <a:ext cx="789187" cy="460375"/>
            <a:chOff x="5306813" y="1268627"/>
            <a:chExt cx="789187" cy="460375"/>
          </a:xfrm>
        </p:grpSpPr>
        <p:sp>
          <p:nvSpPr>
            <p:cNvPr id="182" name="右箭头 181"/>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183" name="文本框 7"/>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187" name="组合 186"/>
          <p:cNvGrpSpPr/>
          <p:nvPr/>
        </p:nvGrpSpPr>
        <p:grpSpPr>
          <a:xfrm>
            <a:off x="6401971" y="1912299"/>
            <a:ext cx="789187" cy="460375"/>
            <a:chOff x="5306813" y="1268627"/>
            <a:chExt cx="789187" cy="460375"/>
          </a:xfrm>
        </p:grpSpPr>
        <p:sp>
          <p:nvSpPr>
            <p:cNvPr id="188" name="右箭头 187"/>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189" name="文本框 14"/>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202" name="组合 201"/>
          <p:cNvGrpSpPr/>
          <p:nvPr/>
        </p:nvGrpSpPr>
        <p:grpSpPr>
          <a:xfrm>
            <a:off x="6401971" y="2238044"/>
            <a:ext cx="789187" cy="460375"/>
            <a:chOff x="5306813" y="1268627"/>
            <a:chExt cx="789187" cy="460375"/>
          </a:xfrm>
        </p:grpSpPr>
        <p:sp>
          <p:nvSpPr>
            <p:cNvPr id="203" name="右箭头 202"/>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04" name="文本框 44"/>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205" name="组合 204"/>
          <p:cNvGrpSpPr/>
          <p:nvPr/>
        </p:nvGrpSpPr>
        <p:grpSpPr>
          <a:xfrm>
            <a:off x="6401971" y="2597473"/>
            <a:ext cx="789187" cy="460375"/>
            <a:chOff x="5306813" y="1268627"/>
            <a:chExt cx="789187" cy="460375"/>
          </a:xfrm>
        </p:grpSpPr>
        <p:sp>
          <p:nvSpPr>
            <p:cNvPr id="206" name="右箭头 205"/>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07" name="文本框 47"/>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208" name="组合 207"/>
          <p:cNvGrpSpPr/>
          <p:nvPr/>
        </p:nvGrpSpPr>
        <p:grpSpPr>
          <a:xfrm>
            <a:off x="6401971" y="2979571"/>
            <a:ext cx="789187" cy="460375"/>
            <a:chOff x="5306813" y="1268627"/>
            <a:chExt cx="789187" cy="460375"/>
          </a:xfrm>
        </p:grpSpPr>
        <p:sp>
          <p:nvSpPr>
            <p:cNvPr id="209" name="右箭头 208"/>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10" name="文本框 50"/>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grpSp>
        <p:nvGrpSpPr>
          <p:cNvPr id="211" name="组合 210"/>
          <p:cNvGrpSpPr/>
          <p:nvPr/>
        </p:nvGrpSpPr>
        <p:grpSpPr>
          <a:xfrm>
            <a:off x="6401971" y="3350444"/>
            <a:ext cx="789187" cy="460375"/>
            <a:chOff x="5306813" y="1268627"/>
            <a:chExt cx="789187" cy="460375"/>
          </a:xfrm>
        </p:grpSpPr>
        <p:sp>
          <p:nvSpPr>
            <p:cNvPr id="212" name="右箭头 211"/>
            <p:cNvSpPr/>
            <p:nvPr/>
          </p:nvSpPr>
          <p:spPr>
            <a:xfrm>
              <a:off x="5766486" y="1408668"/>
              <a:ext cx="329514" cy="20594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13" name="文本框 53"/>
            <p:cNvSpPr txBox="1"/>
            <p:nvPr/>
          </p:nvSpPr>
          <p:spPr>
            <a:xfrm>
              <a:off x="5306813" y="1268627"/>
              <a:ext cx="517337" cy="460375"/>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rPr>
                <a:t>PC</a:t>
              </a:r>
              <a:endParaRPr kumimoji="0" lang="zh-CN" altLang="en-US" sz="240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endParaRPr>
            </a:p>
          </p:txBody>
        </p:sp>
      </p:grpSp>
      <p:sp>
        <p:nvSpPr>
          <p:cNvPr id="215" name="TextBox 214"/>
          <p:cNvSpPr txBox="1"/>
          <p:nvPr/>
        </p:nvSpPr>
        <p:spPr>
          <a:xfrm>
            <a:off x="6516667" y="5724038"/>
            <a:ext cx="877163" cy="327782"/>
          </a:xfrm>
          <a:prstGeom prst="rect">
            <a:avLst/>
          </a:prstGeom>
          <a:solidFill>
            <a:srgbClr val="33CCFF"/>
          </a:solidFill>
        </p:spPr>
        <p:style>
          <a:lnRef idx="1">
            <a:schemeClr val="accent5"/>
          </a:lnRef>
          <a:fillRef idx="3">
            <a:schemeClr val="accent5"/>
          </a:fillRef>
          <a:effectRef idx="2">
            <a:schemeClr val="accent5"/>
          </a:effectRef>
          <a:fontRef idx="minor">
            <a:schemeClr val="lt1"/>
          </a:fontRef>
        </p:style>
        <p:txBody>
          <a:bodyPr wrap="none" rtlCol="0">
            <a:spAutoFit/>
          </a:bodyPr>
          <a:lstStyle/>
          <a:p>
            <a:pPr indent="0" algn="ctr">
              <a:buNone/>
            </a:pPr>
            <a:r>
              <a:rPr lang="en-US" altLang="zh-CN" sz="1800" dirty="0">
                <a:solidFill>
                  <a:schemeClr val="tx1"/>
                </a:solidFill>
              </a:rPr>
              <a:t>Cause</a:t>
            </a:r>
            <a:endParaRPr lang="zh-CN" altLang="en-US" sz="1800" dirty="0">
              <a:solidFill>
                <a:schemeClr val="tx1"/>
              </a:solidFill>
            </a:endParaRPr>
          </a:p>
        </p:txBody>
      </p:sp>
      <p:sp>
        <p:nvSpPr>
          <p:cNvPr id="216" name="TextBox 215"/>
          <p:cNvSpPr txBox="1"/>
          <p:nvPr/>
        </p:nvSpPr>
        <p:spPr>
          <a:xfrm>
            <a:off x="7826000" y="5733320"/>
            <a:ext cx="500380" cy="326390"/>
          </a:xfrm>
          <a:prstGeom prst="rect">
            <a:avLst/>
          </a:prstGeom>
          <a:solidFill>
            <a:srgbClr val="33CCFF"/>
          </a:solidFill>
        </p:spPr>
        <p:style>
          <a:lnRef idx="1">
            <a:schemeClr val="accent5"/>
          </a:lnRef>
          <a:fillRef idx="3">
            <a:schemeClr val="accent5"/>
          </a:fillRef>
          <a:effectRef idx="2">
            <a:schemeClr val="accent5"/>
          </a:effectRef>
          <a:fontRef idx="minor">
            <a:schemeClr val="lt1"/>
          </a:fontRef>
        </p:style>
        <p:txBody>
          <a:bodyPr wrap="none" rtlCol="0">
            <a:spAutoFit/>
          </a:bodyPr>
          <a:lstStyle/>
          <a:p>
            <a:pPr indent="0" algn="ctr">
              <a:buNone/>
            </a:pPr>
            <a:r>
              <a:rPr lang="en-US" altLang="zh-CN" sz="1800" dirty="0">
                <a:solidFill>
                  <a:schemeClr val="tx1"/>
                </a:solidFill>
              </a:rPr>
              <a:t>SR</a:t>
            </a:r>
            <a:endParaRPr lang="zh-CN" altLang="en-US" sz="1800" dirty="0">
              <a:solidFill>
                <a:schemeClr val="tx1"/>
              </a:solidFill>
            </a:endParaRPr>
          </a:p>
        </p:txBody>
      </p:sp>
      <p:cxnSp>
        <p:nvCxnSpPr>
          <p:cNvPr id="219" name="直接箭头连接符 218"/>
          <p:cNvCxnSpPr/>
          <p:nvPr/>
        </p:nvCxnSpPr>
        <p:spPr bwMode="auto">
          <a:xfrm flipV="1">
            <a:off x="6594341" y="6121946"/>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0" name="直接箭头连接符 219"/>
          <p:cNvCxnSpPr/>
          <p:nvPr/>
        </p:nvCxnSpPr>
        <p:spPr bwMode="auto">
          <a:xfrm flipV="1">
            <a:off x="7032130" y="6121946"/>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2" name="直接箭头连接符 221"/>
          <p:cNvCxnSpPr/>
          <p:nvPr/>
        </p:nvCxnSpPr>
        <p:spPr bwMode="auto">
          <a:xfrm flipV="1">
            <a:off x="6746741" y="6121946"/>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3" name="直接箭头连接符 222"/>
          <p:cNvCxnSpPr/>
          <p:nvPr/>
        </p:nvCxnSpPr>
        <p:spPr bwMode="auto">
          <a:xfrm flipV="1">
            <a:off x="6888110" y="6121946"/>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5" name="直接箭头连接符 224"/>
          <p:cNvCxnSpPr/>
          <p:nvPr/>
        </p:nvCxnSpPr>
        <p:spPr bwMode="auto">
          <a:xfrm flipV="1">
            <a:off x="7178801" y="6121946"/>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cxnSp>
        <p:nvCxnSpPr>
          <p:cNvPr id="226" name="直接箭头连接符 225"/>
          <p:cNvCxnSpPr/>
          <p:nvPr/>
        </p:nvCxnSpPr>
        <p:spPr bwMode="auto">
          <a:xfrm flipV="1">
            <a:off x="7320170" y="6121946"/>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7" name="直接箭头连接符 226"/>
          <p:cNvCxnSpPr/>
          <p:nvPr/>
        </p:nvCxnSpPr>
        <p:spPr bwMode="auto">
          <a:xfrm flipV="1">
            <a:off x="6600070"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8" name="直接箭头连接符 227"/>
          <p:cNvCxnSpPr/>
          <p:nvPr/>
        </p:nvCxnSpPr>
        <p:spPr bwMode="auto">
          <a:xfrm flipV="1">
            <a:off x="7037859"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29" name="直接箭头连接符 228"/>
          <p:cNvCxnSpPr/>
          <p:nvPr/>
        </p:nvCxnSpPr>
        <p:spPr bwMode="auto">
          <a:xfrm flipV="1">
            <a:off x="6752470"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0" name="直接箭头连接符 229"/>
          <p:cNvCxnSpPr/>
          <p:nvPr/>
        </p:nvCxnSpPr>
        <p:spPr bwMode="auto">
          <a:xfrm flipV="1">
            <a:off x="6893839"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1" name="直接箭头连接符 230"/>
          <p:cNvCxnSpPr/>
          <p:nvPr/>
        </p:nvCxnSpPr>
        <p:spPr bwMode="auto">
          <a:xfrm flipV="1">
            <a:off x="7184530" y="5373270"/>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cxnSp>
        <p:nvCxnSpPr>
          <p:cNvPr id="232" name="直接箭头连接符 231"/>
          <p:cNvCxnSpPr/>
          <p:nvPr/>
        </p:nvCxnSpPr>
        <p:spPr bwMode="auto">
          <a:xfrm flipV="1">
            <a:off x="7325899"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3" name="直接箭头连接符 232"/>
          <p:cNvCxnSpPr/>
          <p:nvPr/>
        </p:nvCxnSpPr>
        <p:spPr bwMode="auto">
          <a:xfrm flipV="1">
            <a:off x="7530471"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4" name="直接箭头连接符 233"/>
          <p:cNvCxnSpPr/>
          <p:nvPr/>
        </p:nvCxnSpPr>
        <p:spPr bwMode="auto">
          <a:xfrm flipV="1">
            <a:off x="7968260"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5" name="直接箭头连接符 234"/>
          <p:cNvCxnSpPr/>
          <p:nvPr/>
        </p:nvCxnSpPr>
        <p:spPr bwMode="auto">
          <a:xfrm flipV="1">
            <a:off x="7682871"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6" name="直接箭头连接符 235"/>
          <p:cNvCxnSpPr/>
          <p:nvPr/>
        </p:nvCxnSpPr>
        <p:spPr bwMode="auto">
          <a:xfrm flipV="1">
            <a:off x="7824240"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7" name="直接箭头连接符 236"/>
          <p:cNvCxnSpPr/>
          <p:nvPr/>
        </p:nvCxnSpPr>
        <p:spPr bwMode="auto">
          <a:xfrm flipV="1">
            <a:off x="8114931" y="5373270"/>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cxnSp>
        <p:nvCxnSpPr>
          <p:cNvPr id="238" name="直接箭头连接符 237"/>
          <p:cNvCxnSpPr/>
          <p:nvPr/>
        </p:nvCxnSpPr>
        <p:spPr bwMode="auto">
          <a:xfrm flipV="1">
            <a:off x="8256300" y="5373270"/>
            <a:ext cx="0" cy="331474"/>
          </a:xfrm>
          <a:prstGeom prst="straightConnector1">
            <a:avLst/>
          </a:prstGeom>
          <a:solidFill>
            <a:schemeClr val="bg1"/>
          </a:solidFill>
          <a:ln w="28575" cap="flat" cmpd="sng" algn="ctr">
            <a:solidFill>
              <a:schemeClr val="tx1"/>
            </a:solidFill>
            <a:prstDash val="solid"/>
            <a:round/>
            <a:headEnd type="none" w="med" len="med"/>
            <a:tailEnd type="triangle" w="lg" len="lg"/>
          </a:ln>
          <a:effectLst/>
        </p:spPr>
      </p:cxnSp>
      <p:cxnSp>
        <p:nvCxnSpPr>
          <p:cNvPr id="239" name="直接箭头连接符 238"/>
          <p:cNvCxnSpPr/>
          <p:nvPr/>
        </p:nvCxnSpPr>
        <p:spPr bwMode="auto">
          <a:xfrm flipV="1">
            <a:off x="8474981" y="5373270"/>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cxnSp>
        <p:nvCxnSpPr>
          <p:cNvPr id="240" name="直接箭头连接符 239"/>
          <p:cNvCxnSpPr/>
          <p:nvPr/>
        </p:nvCxnSpPr>
        <p:spPr bwMode="auto">
          <a:xfrm flipV="1">
            <a:off x="8616350" y="5373270"/>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sp>
        <p:nvSpPr>
          <p:cNvPr id="241" name="TextBox 240"/>
          <p:cNvSpPr txBox="1"/>
          <p:nvPr/>
        </p:nvSpPr>
        <p:spPr>
          <a:xfrm>
            <a:off x="6456050" y="5003938"/>
            <a:ext cx="2232140" cy="326390"/>
          </a:xfrm>
          <a:prstGeom prst="rect">
            <a:avLst/>
          </a:prstGeom>
          <a:solidFill>
            <a:srgbClr val="33CCFF"/>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indent="0" algn="ctr">
              <a:buNone/>
            </a:pPr>
            <a:r>
              <a:rPr lang="zh-CN" altLang="en-US" sz="1800" dirty="0">
                <a:solidFill>
                  <a:schemeClr val="tx1"/>
                </a:solidFill>
              </a:rPr>
              <a:t>中断请求产生</a:t>
            </a:r>
          </a:p>
        </p:txBody>
      </p:sp>
      <p:cxnSp>
        <p:nvCxnSpPr>
          <p:cNvPr id="242" name="直接箭头连接符 241"/>
          <p:cNvCxnSpPr/>
          <p:nvPr/>
        </p:nvCxnSpPr>
        <p:spPr bwMode="auto">
          <a:xfrm flipV="1">
            <a:off x="7536200" y="4653170"/>
            <a:ext cx="0" cy="33147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sp>
        <p:nvSpPr>
          <p:cNvPr id="243" name="TextBox 242"/>
          <p:cNvSpPr txBox="1"/>
          <p:nvPr/>
        </p:nvSpPr>
        <p:spPr>
          <a:xfrm>
            <a:off x="10568620" y="5723646"/>
            <a:ext cx="652780" cy="326390"/>
          </a:xfrm>
          <a:prstGeom prst="rect">
            <a:avLst/>
          </a:prstGeom>
          <a:noFill/>
        </p:spPr>
        <p:txBody>
          <a:bodyPr wrap="none" rtlCol="0">
            <a:spAutoFit/>
          </a:bodyPr>
          <a:lstStyle/>
          <a:p>
            <a:pPr indent="0">
              <a:buNone/>
            </a:pPr>
            <a:r>
              <a:rPr lang="en-US" altLang="zh-CN" sz="1800" dirty="0">
                <a:solidFill>
                  <a:schemeClr val="tx1"/>
                </a:solidFill>
              </a:rPr>
              <a:t>EPC</a:t>
            </a:r>
            <a:endParaRPr lang="zh-CN" altLang="en-US" sz="1800" dirty="0">
              <a:solidFill>
                <a:schemeClr val="tx1"/>
              </a:solidFill>
            </a:endParaRPr>
          </a:p>
        </p:txBody>
      </p:sp>
      <p:sp>
        <p:nvSpPr>
          <p:cNvPr id="244" name="TextBox 243"/>
          <p:cNvSpPr txBox="1"/>
          <p:nvPr/>
        </p:nvSpPr>
        <p:spPr>
          <a:xfrm>
            <a:off x="7595167" y="4581160"/>
            <a:ext cx="894080" cy="326390"/>
          </a:xfrm>
          <a:prstGeom prst="rect">
            <a:avLst/>
          </a:prstGeom>
          <a:noFill/>
        </p:spPr>
        <p:txBody>
          <a:bodyPr wrap="none" rtlCol="0">
            <a:spAutoFit/>
          </a:bodyPr>
          <a:lstStyle/>
          <a:p>
            <a:pPr indent="0">
              <a:buNone/>
            </a:pPr>
            <a:r>
              <a:rPr lang="en-US" altLang="zh-CN" sz="1800" dirty="0" err="1">
                <a:solidFill>
                  <a:schemeClr val="tx1"/>
                </a:solidFill>
              </a:rPr>
              <a:t>IntReq</a:t>
            </a:r>
            <a:endParaRPr lang="zh-CN" altLang="en-US" sz="1800" dirty="0">
              <a:solidFill>
                <a:schemeClr val="tx1"/>
              </a:solidFill>
            </a:endParaRPr>
          </a:p>
        </p:txBody>
      </p:sp>
      <p:sp>
        <p:nvSpPr>
          <p:cNvPr id="245" name="TextBox 244"/>
          <p:cNvSpPr txBox="1"/>
          <p:nvPr/>
        </p:nvSpPr>
        <p:spPr>
          <a:xfrm>
            <a:off x="6256558" y="6444138"/>
            <a:ext cx="1338828" cy="327782"/>
          </a:xfrm>
          <a:prstGeom prst="rect">
            <a:avLst/>
          </a:prstGeom>
          <a:solidFill>
            <a:schemeClr val="bg1"/>
          </a:solidFill>
        </p:spPr>
        <p:txBody>
          <a:bodyPr wrap="none" rtlCol="0">
            <a:spAutoFit/>
          </a:bodyPr>
          <a:lstStyle/>
          <a:p>
            <a:pPr indent="0">
              <a:buNone/>
            </a:pPr>
            <a:r>
              <a:rPr lang="en-US" altLang="zh-CN" sz="1800" dirty="0" err="1">
                <a:solidFill>
                  <a:schemeClr val="tx1"/>
                </a:solidFill>
              </a:rPr>
              <a:t>HWInt</a:t>
            </a:r>
            <a:r>
              <a:rPr lang="en-US" altLang="zh-CN" sz="1800" dirty="0">
                <a:solidFill>
                  <a:schemeClr val="tx1"/>
                </a:solidFill>
              </a:rPr>
              <a:t>[5:0]</a:t>
            </a:r>
            <a:endParaRPr lang="zh-CN" altLang="en-US" sz="1800" dirty="0">
              <a:solidFill>
                <a:schemeClr val="tx1"/>
              </a:solidFill>
            </a:endParaRPr>
          </a:p>
        </p:txBody>
      </p:sp>
      <p:sp>
        <p:nvSpPr>
          <p:cNvPr id="246" name="圆角矩形 245"/>
          <p:cNvSpPr/>
          <p:nvPr/>
        </p:nvSpPr>
        <p:spPr bwMode="auto">
          <a:xfrm>
            <a:off x="6402070" y="4853940"/>
            <a:ext cx="4229735" cy="1416685"/>
          </a:xfrm>
          <a:prstGeom prst="roundRect">
            <a:avLst>
              <a:gd name="adj" fmla="val 6788"/>
            </a:avLst>
          </a:prstGeom>
          <a:noFill/>
          <a:ln w="9525" cap="flat" cmpd="sng" algn="ctr">
            <a:solidFill>
              <a:schemeClr val="tx1"/>
            </a:solidFill>
            <a:prstDash val="solid"/>
            <a:round/>
            <a:headEnd type="none" w="med" len="med"/>
            <a:tailEnd type="triangle" w="lg" len="lg"/>
          </a:ln>
          <a:effectLst/>
        </p:spPr>
        <p:txBody>
          <a:bodyPr vert="horz" wrap="none" lIns="91440" tIns="45720" rIns="91440" bIns="45720" numCol="1" rtlCol="0" anchor="t" anchorCtr="0" compatLnSpc="1"/>
          <a:lstStyle/>
          <a:p>
            <a:pPr marL="342900" marR="0" indent="-342900"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80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7" name="TextBox 246"/>
          <p:cNvSpPr txBox="1"/>
          <p:nvPr/>
        </p:nvSpPr>
        <p:spPr>
          <a:xfrm>
            <a:off x="2855550" y="5523329"/>
            <a:ext cx="1733167" cy="353943"/>
          </a:xfrm>
          <a:prstGeom prst="rect">
            <a:avLst/>
          </a:prstGeom>
          <a:noFill/>
        </p:spPr>
        <p:txBody>
          <a:bodyPr wrap="none" rtlCol="0">
            <a:spAutoFit/>
          </a:bodyPr>
          <a:lstStyle/>
          <a:p>
            <a:pPr indent="0">
              <a:buNone/>
            </a:pPr>
            <a:r>
              <a:rPr lang="zh-CN" altLang="en-US" sz="2000" dirty="0">
                <a:solidFill>
                  <a:schemeClr val="tx1"/>
                </a:solidFill>
                <a:latin typeface="黑体" panose="02010609060101010101" pitchFamily="49" charset="-122"/>
                <a:ea typeface="黑体" panose="02010609060101010101" pitchFamily="49" charset="-122"/>
              </a:rPr>
              <a:t>中断服务程序</a:t>
            </a:r>
          </a:p>
        </p:txBody>
      </p:sp>
      <p:sp>
        <p:nvSpPr>
          <p:cNvPr id="248" name="TextBox 247"/>
          <p:cNvSpPr txBox="1"/>
          <p:nvPr/>
        </p:nvSpPr>
        <p:spPr>
          <a:xfrm>
            <a:off x="9192183" y="4316045"/>
            <a:ext cx="1422184" cy="406265"/>
          </a:xfrm>
          <a:prstGeom prst="rect">
            <a:avLst/>
          </a:prstGeom>
          <a:noFill/>
        </p:spPr>
        <p:txBody>
          <a:bodyPr wrap="none" rtlCol="0">
            <a:spAutoFit/>
          </a:bodyPr>
          <a:lstStyle/>
          <a:p>
            <a:pPr indent="0">
              <a:buNone/>
            </a:pPr>
            <a:r>
              <a:rPr lang="zh-CN" altLang="en-US" sz="2400" dirty="0">
                <a:solidFill>
                  <a:schemeClr val="tx1"/>
                </a:solidFill>
                <a:latin typeface="黑体" panose="02010609060101010101" pitchFamily="49" charset="-122"/>
                <a:ea typeface="黑体" panose="02010609060101010101" pitchFamily="49" charset="-122"/>
              </a:rPr>
              <a:t>用户程序</a:t>
            </a:r>
          </a:p>
        </p:txBody>
      </p:sp>
      <p:sp>
        <p:nvSpPr>
          <p:cNvPr id="250" name="TextBox 249"/>
          <p:cNvSpPr txBox="1"/>
          <p:nvPr/>
        </p:nvSpPr>
        <p:spPr>
          <a:xfrm>
            <a:off x="8760370" y="5733320"/>
            <a:ext cx="1440000" cy="326390"/>
          </a:xfrm>
          <a:prstGeom prst="rect">
            <a:avLst/>
          </a:prstGeom>
          <a:solidFill>
            <a:srgbClr val="33CCFF"/>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buNone/>
            </a:pPr>
            <a:r>
              <a:rPr lang="en-US" altLang="zh-CN" sz="1800" dirty="0">
                <a:solidFill>
                  <a:schemeClr val="tx1"/>
                </a:solidFill>
              </a:rPr>
              <a:t>XXXXXX</a:t>
            </a:r>
            <a:endParaRPr lang="zh-CN" altLang="en-US" sz="1800" dirty="0">
              <a:solidFill>
                <a:schemeClr val="tx1"/>
              </a:solidFill>
            </a:endParaRPr>
          </a:p>
        </p:txBody>
      </p:sp>
      <p:sp>
        <p:nvSpPr>
          <p:cNvPr id="214" name="TextBox 213"/>
          <p:cNvSpPr txBox="1"/>
          <p:nvPr/>
        </p:nvSpPr>
        <p:spPr>
          <a:xfrm>
            <a:off x="8753286" y="5733256"/>
            <a:ext cx="1807210" cy="326390"/>
          </a:xfrm>
          <a:prstGeom prst="rect">
            <a:avLst/>
          </a:prstGeom>
          <a:solidFill>
            <a:srgbClr val="33CCFF"/>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indent="0" algn="ctr">
              <a:buNone/>
            </a:pPr>
            <a:r>
              <a:rPr lang="en-US" altLang="zh-CN" sz="1800" dirty="0">
                <a:solidFill>
                  <a:schemeClr val="tx1"/>
                </a:solidFill>
              </a:rPr>
              <a:t>0xA0000028</a:t>
            </a:r>
            <a:endParaRPr lang="zh-CN" altLang="en-US" sz="1800" dirty="0">
              <a:solidFill>
                <a:schemeClr val="tx1"/>
              </a:solidFill>
            </a:endParaRPr>
          </a:p>
        </p:txBody>
      </p:sp>
      <p:cxnSp>
        <p:nvCxnSpPr>
          <p:cNvPr id="251" name="直接箭头连接符 250"/>
          <p:cNvCxnSpPr/>
          <p:nvPr/>
        </p:nvCxnSpPr>
        <p:spPr bwMode="auto">
          <a:xfrm>
            <a:off x="6955248" y="2618314"/>
            <a:ext cx="2525122" cy="3057424"/>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cxnSp>
        <p:nvCxnSpPr>
          <p:cNvPr id="254" name="直接箭头连接符 253"/>
          <p:cNvCxnSpPr/>
          <p:nvPr/>
        </p:nvCxnSpPr>
        <p:spPr bwMode="auto">
          <a:xfrm flipH="1" flipV="1">
            <a:off x="2019043" y="5214073"/>
            <a:ext cx="6885348" cy="807287"/>
          </a:xfrm>
          <a:prstGeom prst="straightConnector1">
            <a:avLst/>
          </a:prstGeom>
          <a:solidFill>
            <a:schemeClr val="bg1"/>
          </a:solidFill>
          <a:ln w="28575" cap="flat" cmpd="sng" algn="ctr">
            <a:solidFill>
              <a:srgbClr val="FF0000"/>
            </a:solidFill>
            <a:prstDash val="solid"/>
            <a:round/>
            <a:headEnd type="none" w="med" len="med"/>
            <a:tailEnd type="triangle" w="lg" len="lg"/>
          </a:ln>
          <a:effectLst/>
        </p:spPr>
      </p:cxnSp>
      <p:sp>
        <p:nvSpPr>
          <p:cNvPr id="46" name="标题 2"/>
          <p:cNvSpPr>
            <a:spLocks noGrp="1"/>
          </p:cNvSpPr>
          <p:nvPr/>
        </p:nvSpPr>
        <p:spPr>
          <a:xfrm>
            <a:off x="0" y="300355"/>
            <a:ext cx="8527415" cy="69278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sym typeface="+mn-ea"/>
              </a:rPr>
              <a:t>5.3 </a:t>
            </a:r>
            <a:r>
              <a:rPr lang="zh-CN" altLang="en-US" dirty="0">
                <a:sym typeface="+mn-ea"/>
              </a:rPr>
              <a:t>示例：执行到</a:t>
            </a:r>
            <a:r>
              <a:rPr lang="en-US" altLang="zh-CN" dirty="0">
                <a:sym typeface="+mn-ea"/>
              </a:rPr>
              <a:t>0xA0000024</a:t>
            </a:r>
            <a:r>
              <a:rPr lang="zh-CN" altLang="en-US" dirty="0">
                <a:sym typeface="+mn-ea"/>
              </a:rPr>
              <a:t>时发生中断</a:t>
            </a:r>
            <a:endParaRPr lang="zh-CN" altLang="en-US" dirty="0"/>
          </a:p>
          <a:p>
            <a:pPr indent="0">
              <a:buNone/>
            </a:pPr>
            <a:endParaRPr lang="zh-CN" altLang="en-US" dirty="0"/>
          </a:p>
        </p:txBody>
      </p:sp>
      <p:sp>
        <p:nvSpPr>
          <p:cNvPr id="5" name="TextBox 242"/>
          <p:cNvSpPr txBox="1"/>
          <p:nvPr/>
        </p:nvSpPr>
        <p:spPr>
          <a:xfrm>
            <a:off x="9772965" y="5003556"/>
            <a:ext cx="627380" cy="326390"/>
          </a:xfrm>
          <a:prstGeom prst="rect">
            <a:avLst/>
          </a:prstGeom>
          <a:noFill/>
        </p:spPr>
        <p:txBody>
          <a:bodyPr wrap="none" rtlCol="0">
            <a:spAutoFit/>
          </a:bodyPr>
          <a:lstStyle/>
          <a:p>
            <a:pPr indent="0">
              <a:buNone/>
            </a:pPr>
            <a:r>
              <a:rPr lang="en-US" altLang="zh-CN" sz="1800" dirty="0">
                <a:solidFill>
                  <a:schemeClr val="tx1"/>
                </a:solidFill>
              </a:rPr>
              <a:t>CP0</a:t>
            </a:r>
            <a:endParaRPr lang="zh-CN" altLang="en-US" sz="1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8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8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8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1"/>
                                        </p:tgtEl>
                                        <p:attrNameLst>
                                          <p:attrName>style.visibility</p:attrName>
                                        </p:attrNameLst>
                                      </p:cBhvr>
                                      <p:to>
                                        <p:strVal val="visible"/>
                                      </p:to>
                                    </p:set>
                                  </p:childTnLst>
                                  <p:subTnLst>
                                    <p:set>
                                      <p:cBhvr override="childStyle">
                                        <p:cTn dur="1" fill="hold" display="0" masterRel="nextClick" afterEffect="1"/>
                                        <p:tgtEl>
                                          <p:spTgt spid="251"/>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202"/>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7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79"/>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91"/>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97"/>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10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03"/>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10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109"/>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1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115"/>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12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nodeType="clickEffect">
                                  <p:stCondLst>
                                    <p:cond delay="0"/>
                                  </p:stCondLst>
                                  <p:childTnLst>
                                    <p:set>
                                      <p:cBhvr>
                                        <p:cTn id="72" dur="1" fill="hold">
                                          <p:stCondLst>
                                            <p:cond delay="0"/>
                                          </p:stCondLst>
                                        </p:cTn>
                                        <p:tgtEl>
                                          <p:spTgt spid="121"/>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0"/>
                                          </p:stCondLst>
                                        </p:cTn>
                                        <p:tgtEl>
                                          <p:spTgt spid="1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127"/>
                                        </p:tgtEl>
                                        <p:attrNameLst>
                                          <p:attrName>style.visibility</p:attrName>
                                        </p:attrNameLst>
                                      </p:cBhvr>
                                      <p:to>
                                        <p:strVal val="hidden"/>
                                      </p:to>
                                    </p:set>
                                  </p:childTnLst>
                                </p:cTn>
                              </p:par>
                              <p:par>
                                <p:cTn id="79" presetID="1" presetClass="entr" presetSubtype="0" fill="hold" nodeType="withEffect">
                                  <p:stCondLst>
                                    <p:cond delay="0"/>
                                  </p:stCondLst>
                                  <p:childTnLst>
                                    <p:set>
                                      <p:cBhvr>
                                        <p:cTn id="80" dur="1" fill="hold">
                                          <p:stCondLst>
                                            <p:cond delay="0"/>
                                          </p:stCondLst>
                                        </p:cTn>
                                        <p:tgtEl>
                                          <p:spTgt spid="13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139"/>
                                        </p:tgtEl>
                                        <p:attrNameLst>
                                          <p:attrName>style.visibility</p:attrName>
                                        </p:attrNameLst>
                                      </p:cBhvr>
                                      <p:to>
                                        <p:strVal val="hidden"/>
                                      </p:to>
                                    </p:set>
                                  </p:childTnLst>
                                </p:cTn>
                              </p:par>
                              <p:par>
                                <p:cTn id="85" presetID="1" presetClass="entr" presetSubtype="0" fill="hold" nodeType="withEffect">
                                  <p:stCondLst>
                                    <p:cond delay="0"/>
                                  </p:stCondLst>
                                  <p:childTnLst>
                                    <p:set>
                                      <p:cBhvr>
                                        <p:cTn id="86" dur="1" fill="hold">
                                          <p:stCondLst>
                                            <p:cond delay="0"/>
                                          </p:stCondLst>
                                        </p:cTn>
                                        <p:tgtEl>
                                          <p:spTgt spid="8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85"/>
                                        </p:tgtEl>
                                        <p:attrNameLst>
                                          <p:attrName>style.visibility</p:attrName>
                                        </p:attrNameLst>
                                      </p:cBhvr>
                                      <p:to>
                                        <p:strVal val="hidden"/>
                                      </p:to>
                                    </p:set>
                                  </p:childTnLst>
                                </p:cTn>
                              </p:par>
                              <p:par>
                                <p:cTn id="91" presetID="1" presetClass="entr" presetSubtype="0" fill="hold" nodeType="withEffect">
                                  <p:stCondLst>
                                    <p:cond delay="0"/>
                                  </p:stCondLst>
                                  <p:childTnLst>
                                    <p:set>
                                      <p:cBhvr>
                                        <p:cTn id="92" dur="1" fill="hold">
                                          <p:stCondLst>
                                            <p:cond delay="0"/>
                                          </p:stCondLst>
                                        </p:cTn>
                                        <p:tgtEl>
                                          <p:spTgt spid="13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254"/>
                                        </p:tgtEl>
                                        <p:attrNameLst>
                                          <p:attrName>style.visibility</p:attrName>
                                        </p:attrNameLst>
                                      </p:cBhvr>
                                      <p:to>
                                        <p:strVal val="visible"/>
                                      </p:to>
                                    </p:set>
                                  </p:childTnLst>
                                  <p:subTnLst>
                                    <p:set>
                                      <p:cBhvr override="childStyle">
                                        <p:cTn dur="1" fill="hold" display="0" masterRel="nextClick" afterEffect="1"/>
                                        <p:tgtEl>
                                          <p:spTgt spid="254"/>
                                        </p:tgtEl>
                                        <p:attrNameLst>
                                          <p:attrName>style.visibility</p:attrName>
                                        </p:attrNameLst>
                                      </p:cBhvr>
                                      <p:to>
                                        <p:strVal val="hidden"/>
                                      </p:to>
                                    </p:set>
                                  </p:sub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133"/>
                                        </p:tgtEl>
                                        <p:attrNameLst>
                                          <p:attrName>style.visibility</p:attrName>
                                        </p:attrNameLst>
                                      </p:cBhvr>
                                      <p:to>
                                        <p:strVal val="hidden"/>
                                      </p:to>
                                    </p:set>
                                  </p:childTnLst>
                                </p:cTn>
                              </p:par>
                              <p:par>
                                <p:cTn id="101" presetID="1" presetClass="entr" presetSubtype="0" fill="hold" nodeType="withEffect">
                                  <p:stCondLst>
                                    <p:cond delay="0"/>
                                  </p:stCondLst>
                                  <p:childTnLst>
                                    <p:set>
                                      <p:cBhvr>
                                        <p:cTn id="102" dur="1" fill="hold">
                                          <p:stCondLst>
                                            <p:cond delay="0"/>
                                          </p:stCondLst>
                                        </p:cTn>
                                        <p:tgtEl>
                                          <p:spTgt spid="20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205"/>
                                        </p:tgtEl>
                                        <p:attrNameLst>
                                          <p:attrName>style.visibility</p:attrName>
                                        </p:attrNameLst>
                                      </p:cBhvr>
                                      <p:to>
                                        <p:strVal val="hidden"/>
                                      </p:to>
                                    </p:set>
                                  </p:childTnLst>
                                </p:cTn>
                              </p:par>
                              <p:par>
                                <p:cTn id="107" presetID="1" presetClass="entr" presetSubtype="0" fill="hold" nodeType="withEffect">
                                  <p:stCondLst>
                                    <p:cond delay="0"/>
                                  </p:stCondLst>
                                  <p:childTnLst>
                                    <p:set>
                                      <p:cBhvr>
                                        <p:cTn id="108" dur="1" fill="hold">
                                          <p:stCondLst>
                                            <p:cond delay="0"/>
                                          </p:stCondLst>
                                        </p:cTn>
                                        <p:tgtEl>
                                          <p:spTgt spid="208"/>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0"/>
                                          </p:stCondLst>
                                        </p:cTn>
                                        <p:tgtEl>
                                          <p:spTgt spid="208"/>
                                        </p:tgtEl>
                                        <p:attrNameLst>
                                          <p:attrName>style.visibility</p:attrName>
                                        </p:attrNameLst>
                                      </p:cBhvr>
                                      <p:to>
                                        <p:strVal val="hidden"/>
                                      </p:to>
                                    </p:set>
                                  </p:childTnLst>
                                </p:cTn>
                              </p:par>
                              <p:par>
                                <p:cTn id="113" presetID="1" presetClass="entr" presetSubtype="0" fill="hold" nodeType="withEffect">
                                  <p:stCondLst>
                                    <p:cond delay="0"/>
                                  </p:stCondLst>
                                  <p:childTnLst>
                                    <p:set>
                                      <p:cBhvr>
                                        <p:cTn id="114"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bwMode="auto">
          <a:xfrm>
            <a:off x="4810870" y="5775740"/>
            <a:ext cx="3420000" cy="936130"/>
          </a:xfrm>
          <a:prstGeom prst="rect">
            <a:avLst/>
          </a:prstGeom>
          <a:solidFill>
            <a:schemeClr val="bg1"/>
          </a:solidFill>
          <a:ln w="28575" cap="flat" cmpd="sng" algn="ctr">
            <a:solidFill>
              <a:srgbClr val="0070C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0" name="矩形 39"/>
          <p:cNvSpPr/>
          <p:nvPr/>
        </p:nvSpPr>
        <p:spPr bwMode="auto">
          <a:xfrm>
            <a:off x="4811370" y="3111370"/>
            <a:ext cx="3420000" cy="1440000"/>
          </a:xfrm>
          <a:prstGeom prst="rect">
            <a:avLst/>
          </a:prstGeom>
          <a:solidFill>
            <a:schemeClr val="bg1"/>
          </a:solidFill>
          <a:ln w="28575" cap="flat" cmpd="sng" algn="ctr">
            <a:solidFill>
              <a:srgbClr val="0070C0"/>
            </a:solidFill>
            <a:prstDash val="solid"/>
            <a:round/>
            <a:headEnd type="none" w="med" len="med"/>
            <a:tailEnd type="triangle" w="lg" len="lg"/>
          </a:ln>
          <a:effectLst/>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pPr>
            <a:endPar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Wingdings" panose="05000000000000000000" pitchFamily="2" charset="2"/>
            </a:endParaRPr>
          </a:p>
        </p:txBody>
      </p:sp>
      <p:graphicFrame>
        <p:nvGraphicFramePr>
          <p:cNvPr id="13" name="表格 12"/>
          <p:cNvGraphicFramePr>
            <a:graphicFrameLocks noGrp="1"/>
          </p:cNvGraphicFramePr>
          <p:nvPr/>
        </p:nvGraphicFramePr>
        <p:xfrm>
          <a:off x="1559370" y="836640"/>
          <a:ext cx="9053830" cy="457200"/>
        </p:xfrm>
        <a:graphic>
          <a:graphicData uri="http://schemas.openxmlformats.org/drawingml/2006/table">
            <a:tbl>
              <a:tblPr firstRow="1" bandRow="1">
                <a:tableStyleId>{5C22544A-7EE6-4342-B048-85BDC9FD1C3A}</a:tableStyleId>
              </a:tblPr>
              <a:tblGrid>
                <a:gridCol w="2000250">
                  <a:extLst>
                    <a:ext uri="{9D8B030D-6E8A-4147-A177-3AD203B41FA5}">
                      <a16:colId xmlns:a16="http://schemas.microsoft.com/office/drawing/2014/main" val="20000"/>
                    </a:ext>
                  </a:extLst>
                </a:gridCol>
                <a:gridCol w="2482215">
                  <a:extLst>
                    <a:ext uri="{9D8B030D-6E8A-4147-A177-3AD203B41FA5}">
                      <a16:colId xmlns:a16="http://schemas.microsoft.com/office/drawing/2014/main" val="20001"/>
                    </a:ext>
                  </a:extLst>
                </a:gridCol>
                <a:gridCol w="2447290">
                  <a:extLst>
                    <a:ext uri="{9D8B030D-6E8A-4147-A177-3AD203B41FA5}">
                      <a16:colId xmlns:a16="http://schemas.microsoft.com/office/drawing/2014/main" val="20002"/>
                    </a:ext>
                  </a:extLst>
                </a:gridCol>
                <a:gridCol w="2124075">
                  <a:extLst>
                    <a:ext uri="{9D8B030D-6E8A-4147-A177-3AD203B41FA5}">
                      <a16:colId xmlns:a16="http://schemas.microsoft.com/office/drawing/2014/main" val="20003"/>
                    </a:ext>
                  </a:extLst>
                </a:gridCol>
              </a:tblGrid>
              <a:tr h="370840">
                <a:tc>
                  <a:txBody>
                    <a:bodyPr/>
                    <a:lstStyle/>
                    <a:p>
                      <a:pPr algn="ctr"/>
                      <a:r>
                        <a:rPr lang="zh-CN" altLang="en-US" sz="2400" b="0" dirty="0">
                          <a:solidFill>
                            <a:schemeClr val="tx1"/>
                          </a:solidFill>
                          <a:latin typeface="Cambria" panose="02040503050406030204" pitchFamily="18" charset="0"/>
                        </a:rPr>
                        <a:t>设备</a:t>
                      </a:r>
                    </a:p>
                  </a:txBody>
                  <a:tcPr/>
                </a:tc>
                <a:tc>
                  <a:txBody>
                    <a:bodyPr/>
                    <a:lstStyle/>
                    <a:p>
                      <a:pPr algn="ctr"/>
                      <a:r>
                        <a:rPr lang="en-US" altLang="zh-CN" sz="2400" b="0" dirty="0">
                          <a:solidFill>
                            <a:schemeClr val="tx1"/>
                          </a:solidFill>
                          <a:latin typeface="Cambria" panose="02040503050406030204" pitchFamily="18" charset="0"/>
                        </a:rPr>
                        <a:t>CP0</a:t>
                      </a:r>
                      <a:endParaRPr lang="zh-CN" altLang="en-US" sz="2400" b="0" dirty="0">
                        <a:solidFill>
                          <a:schemeClr val="tx1"/>
                        </a:solidFill>
                        <a:latin typeface="Cambria" panose="02040503050406030204" pitchFamily="18" charset="0"/>
                      </a:endParaRPr>
                    </a:p>
                  </a:txBody>
                  <a:tcPr/>
                </a:tc>
                <a:tc>
                  <a:txBody>
                    <a:bodyPr/>
                    <a:lstStyle/>
                    <a:p>
                      <a:pPr algn="ctr"/>
                      <a:r>
                        <a:rPr lang="en-US" altLang="zh-CN" sz="2400" b="0" dirty="0">
                          <a:solidFill>
                            <a:schemeClr val="tx1"/>
                          </a:solidFill>
                          <a:latin typeface="Cambria" panose="02040503050406030204" pitchFamily="18" charset="0"/>
                        </a:rPr>
                        <a:t>CPU</a:t>
                      </a:r>
                      <a:endParaRPr lang="zh-CN" altLang="en-US" sz="2400" b="0" dirty="0">
                        <a:solidFill>
                          <a:schemeClr val="tx1"/>
                        </a:solidFill>
                        <a:latin typeface="Cambria" panose="02040503050406030204" pitchFamily="18" charset="0"/>
                      </a:endParaRPr>
                    </a:p>
                  </a:txBody>
                  <a:tcPr/>
                </a:tc>
                <a:tc>
                  <a:txBody>
                    <a:bodyPr/>
                    <a:lstStyle/>
                    <a:p>
                      <a:pPr algn="ctr"/>
                      <a:r>
                        <a:rPr lang="zh-CN" altLang="en-US" sz="2400" b="0" dirty="0">
                          <a:solidFill>
                            <a:schemeClr val="tx1"/>
                          </a:solidFill>
                          <a:latin typeface="Cambria" panose="02040503050406030204" pitchFamily="18" charset="0"/>
                        </a:rPr>
                        <a:t>中断服务程序</a:t>
                      </a:r>
                    </a:p>
                  </a:txBody>
                  <a:tcPr/>
                </a:tc>
                <a:extLst>
                  <a:ext uri="{0D108BD9-81ED-4DB2-BD59-A6C34878D82A}">
                    <a16:rowId xmlns:a16="http://schemas.microsoft.com/office/drawing/2014/main" val="10000"/>
                  </a:ext>
                </a:extLst>
              </a:tr>
            </a:tbl>
          </a:graphicData>
        </a:graphic>
      </p:graphicFrame>
      <p:sp>
        <p:nvSpPr>
          <p:cNvPr id="19" name="TextBox 18"/>
          <p:cNvSpPr txBox="1"/>
          <p:nvPr/>
        </p:nvSpPr>
        <p:spPr>
          <a:xfrm>
            <a:off x="4295750" y="1628750"/>
            <a:ext cx="3168440" cy="716915"/>
          </a:xfrm>
          <a:prstGeom prst="rect">
            <a:avLst/>
          </a:prstGeom>
          <a:no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l">
              <a:buNone/>
            </a:pPr>
            <a:r>
              <a:rPr lang="en-US" altLang="zh-CN" sz="2000" b="0" dirty="0" err="1">
                <a:solidFill>
                  <a:schemeClr val="tx1"/>
                </a:solidFill>
                <a:latin typeface="Courier New" panose="02070309020205020404" pitchFamily="49" charset="0"/>
                <a:cs typeface="Courier New" panose="02070309020205020404" pitchFamily="49" charset="0"/>
              </a:rPr>
              <a:t>IntReq</a:t>
            </a:r>
            <a:r>
              <a:rPr lang="en-US" altLang="zh-CN" sz="2000" b="0" dirty="0">
                <a:solidFill>
                  <a:schemeClr val="tx1"/>
                </a:solidFill>
                <a:latin typeface="Courier New" panose="02070309020205020404" pitchFamily="49" charset="0"/>
                <a:cs typeface="Courier New" panose="02070309020205020404" pitchFamily="49" charset="0"/>
              </a:rPr>
              <a:t> = </a:t>
            </a:r>
          </a:p>
          <a:p>
            <a:pPr indent="0" algn="l">
              <a:buNone/>
            </a:pPr>
            <a:r>
              <a:rPr lang="en-US" altLang="zh-CN" sz="2000" b="0" dirty="0">
                <a:solidFill>
                  <a:schemeClr val="tx1"/>
                </a:solidFill>
                <a:latin typeface="Courier New" panose="02070309020205020404" pitchFamily="49" charset="0"/>
                <a:cs typeface="Courier New" panose="02070309020205020404" pitchFamily="49" charset="0"/>
              </a:rPr>
              <a:t>f(IE/EXL/IM/IP)</a:t>
            </a:r>
            <a:endParaRPr lang="zh-CN" altLang="en-US" sz="2000" b="0" dirty="0">
              <a:solidFill>
                <a:schemeClr val="tx1"/>
              </a:solidFill>
              <a:latin typeface="Courier New" panose="02070309020205020404" pitchFamily="49" charset="0"/>
              <a:cs typeface="Courier New" panose="02070309020205020404" pitchFamily="49" charset="0"/>
            </a:endParaRPr>
          </a:p>
        </p:txBody>
      </p:sp>
      <p:sp>
        <p:nvSpPr>
          <p:cNvPr id="23" name="TextBox 22"/>
          <p:cNvSpPr txBox="1"/>
          <p:nvPr/>
        </p:nvSpPr>
        <p:spPr>
          <a:xfrm>
            <a:off x="7608700" y="2277350"/>
            <a:ext cx="1944270" cy="593725"/>
          </a:xfrm>
          <a:prstGeom prst="rect">
            <a:avLst/>
          </a:prstGeom>
          <a:solidFill>
            <a:schemeClr val="accent1">
              <a:lumMod val="40000"/>
              <a:lumOff val="60000"/>
            </a:schemeClr>
          </a:solidFill>
          <a:ln w="28575">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ctr">
              <a:buNone/>
            </a:pPr>
            <a:r>
              <a:rPr lang="zh-CN" altLang="en-US" sz="2000" b="0" dirty="0">
                <a:solidFill>
                  <a:schemeClr val="tx1"/>
                </a:solidFill>
              </a:rPr>
              <a:t>指令最后周期检测</a:t>
            </a:r>
            <a:r>
              <a:rPr lang="en-US" altLang="zh-CN" sz="2000" b="0" dirty="0" err="1">
                <a:solidFill>
                  <a:schemeClr val="tx1"/>
                </a:solidFill>
              </a:rPr>
              <a:t>IntReq</a:t>
            </a:r>
            <a:endParaRPr lang="zh-CN" altLang="en-US" sz="2000" b="0" dirty="0">
              <a:solidFill>
                <a:schemeClr val="tx1"/>
              </a:solidFill>
            </a:endParaRPr>
          </a:p>
        </p:txBody>
      </p:sp>
      <p:cxnSp>
        <p:nvCxnSpPr>
          <p:cNvPr id="25" name="直接箭头连接符 24"/>
          <p:cNvCxnSpPr/>
          <p:nvPr/>
        </p:nvCxnSpPr>
        <p:spPr bwMode="auto">
          <a:xfrm>
            <a:off x="2279470" y="1412720"/>
            <a:ext cx="158422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cxnSp>
        <p:nvCxnSpPr>
          <p:cNvPr id="26" name="直接箭头连接符 25"/>
          <p:cNvCxnSpPr/>
          <p:nvPr/>
        </p:nvCxnSpPr>
        <p:spPr bwMode="auto">
          <a:xfrm>
            <a:off x="2279690" y="1916790"/>
            <a:ext cx="158400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sp>
        <p:nvSpPr>
          <p:cNvPr id="27" name="TextBox 26"/>
          <p:cNvSpPr txBox="1"/>
          <p:nvPr/>
        </p:nvSpPr>
        <p:spPr>
          <a:xfrm>
            <a:off x="2275661" y="1484730"/>
            <a:ext cx="1593850" cy="352425"/>
          </a:xfrm>
          <a:prstGeom prst="rect">
            <a:avLst/>
          </a:prstGeom>
          <a:noFill/>
        </p:spPr>
        <p:txBody>
          <a:bodyPr wrap="none" rtlCol="0">
            <a:spAutoFit/>
          </a:bodyPr>
          <a:lstStyle/>
          <a:p>
            <a:pPr indent="0">
              <a:buNone/>
            </a:pPr>
            <a:r>
              <a:rPr lang="en-US" altLang="zh-CN" sz="2000" b="0" dirty="0">
                <a:solidFill>
                  <a:schemeClr val="tx1"/>
                </a:solidFill>
              </a:rPr>
              <a:t>6</a:t>
            </a:r>
            <a:r>
              <a:rPr lang="zh-CN" altLang="en-US" sz="2000" b="0" dirty="0">
                <a:solidFill>
                  <a:schemeClr val="tx1"/>
                </a:solidFill>
              </a:rPr>
              <a:t>个硬件中断</a:t>
            </a:r>
          </a:p>
        </p:txBody>
      </p:sp>
      <p:cxnSp>
        <p:nvCxnSpPr>
          <p:cNvPr id="29" name="直接箭头连接符 28"/>
          <p:cNvCxnSpPr/>
          <p:nvPr/>
        </p:nvCxnSpPr>
        <p:spPr bwMode="auto">
          <a:xfrm>
            <a:off x="4151730" y="2276840"/>
            <a:ext cx="266437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cxnSp>
        <p:nvCxnSpPr>
          <p:cNvPr id="31" name="直接箭头连接符 30"/>
          <p:cNvCxnSpPr/>
          <p:nvPr/>
        </p:nvCxnSpPr>
        <p:spPr bwMode="auto">
          <a:xfrm flipH="1">
            <a:off x="4882880" y="3399410"/>
            <a:ext cx="266437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sp>
        <p:nvSpPr>
          <p:cNvPr id="32" name="TextBox 31"/>
          <p:cNvSpPr txBox="1"/>
          <p:nvPr/>
        </p:nvSpPr>
        <p:spPr>
          <a:xfrm>
            <a:off x="5386950" y="3039360"/>
            <a:ext cx="1656230" cy="332105"/>
          </a:xfrm>
          <a:prstGeom prst="rect">
            <a:avLst/>
          </a:prstGeom>
          <a:no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l">
              <a:buNone/>
            </a:pPr>
            <a:r>
              <a:rPr lang="en-US" altLang="zh-CN" sz="2000" b="0" dirty="0">
                <a:solidFill>
                  <a:schemeClr val="tx1"/>
                </a:solidFill>
                <a:latin typeface="Courier New" panose="02070309020205020404" pitchFamily="49" charset="0"/>
                <a:cs typeface="Courier New" panose="02070309020205020404" pitchFamily="49" charset="0"/>
              </a:rPr>
              <a:t>EPC </a:t>
            </a:r>
            <a:r>
              <a:rPr lang="en-US" altLang="zh-CN" sz="2000" b="0" dirty="0">
                <a:solidFill>
                  <a:schemeClr val="tx1"/>
                </a:solidFill>
                <a:latin typeface="Courier New" panose="02070309020205020404" pitchFamily="49" charset="0"/>
                <a:cs typeface="Courier New" panose="02070309020205020404" pitchFamily="49" charset="0"/>
                <a:sym typeface="Wingdings" panose="05000000000000000000" pitchFamily="2" charset="2"/>
              </a:rPr>
              <a:t> PC</a:t>
            </a:r>
            <a:endParaRPr lang="en-US" altLang="zh-CN" sz="2000" b="0" dirty="0">
              <a:solidFill>
                <a:schemeClr val="tx1"/>
              </a:solidFill>
              <a:latin typeface="Courier New" panose="02070309020205020404" pitchFamily="49" charset="0"/>
              <a:cs typeface="Courier New" panose="02070309020205020404" pitchFamily="49" charset="0"/>
            </a:endParaRPr>
          </a:p>
        </p:txBody>
      </p:sp>
      <p:sp>
        <p:nvSpPr>
          <p:cNvPr id="36" name="TextBox 35"/>
          <p:cNvSpPr txBox="1"/>
          <p:nvPr/>
        </p:nvSpPr>
        <p:spPr>
          <a:xfrm>
            <a:off x="6251070" y="3831470"/>
            <a:ext cx="1944000" cy="593725"/>
          </a:xfrm>
          <a:prstGeom prst="rect">
            <a:avLst/>
          </a:prstGeom>
          <a:solidFill>
            <a:srgbClr val="FFFF00"/>
          </a:solid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buNone/>
            </a:pPr>
            <a:r>
              <a:rPr lang="en-US" altLang="zh-CN" sz="2000" b="0" dirty="0">
                <a:solidFill>
                  <a:schemeClr val="tx1"/>
                </a:solidFill>
              </a:rPr>
              <a:t>PC</a:t>
            </a:r>
            <a:r>
              <a:rPr lang="en-US" altLang="zh-CN" sz="2000" b="0" dirty="0">
                <a:solidFill>
                  <a:schemeClr val="tx1"/>
                </a:solidFill>
                <a:sym typeface="Wingdings" panose="05000000000000000000" pitchFamily="2" charset="2"/>
              </a:rPr>
              <a:t></a:t>
            </a:r>
            <a:r>
              <a:rPr lang="zh-CN" altLang="en-US" sz="2000" b="0" dirty="0">
                <a:solidFill>
                  <a:schemeClr val="tx1"/>
                </a:solidFill>
                <a:sym typeface="Wingdings" panose="05000000000000000000" pitchFamily="2" charset="2"/>
              </a:rPr>
              <a:t>硬件中断服务程序入口</a:t>
            </a:r>
            <a:endParaRPr lang="zh-CN" altLang="en-US" sz="2000" b="0" dirty="0">
              <a:solidFill>
                <a:schemeClr val="tx1"/>
              </a:solidFill>
            </a:endParaRPr>
          </a:p>
        </p:txBody>
      </p:sp>
      <p:cxnSp>
        <p:nvCxnSpPr>
          <p:cNvPr id="37" name="直接箭头连接符 36"/>
          <p:cNvCxnSpPr/>
          <p:nvPr/>
        </p:nvCxnSpPr>
        <p:spPr bwMode="auto">
          <a:xfrm flipH="1">
            <a:off x="4882880" y="3759460"/>
            <a:ext cx="266437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sp>
        <p:nvSpPr>
          <p:cNvPr id="38" name="TextBox 37"/>
          <p:cNvSpPr txBox="1"/>
          <p:nvPr/>
        </p:nvSpPr>
        <p:spPr>
          <a:xfrm>
            <a:off x="5386950" y="3399410"/>
            <a:ext cx="1656230" cy="332105"/>
          </a:xfrm>
          <a:prstGeom prst="rect">
            <a:avLst/>
          </a:prstGeom>
          <a:no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l">
              <a:buNone/>
            </a:pPr>
            <a:r>
              <a:rPr lang="en-US" altLang="zh-CN" sz="2000" b="0" dirty="0">
                <a:solidFill>
                  <a:schemeClr val="tx1"/>
                </a:solidFill>
                <a:latin typeface="Courier New" panose="02070309020205020404" pitchFamily="49" charset="0"/>
                <a:cs typeface="Courier New" panose="02070309020205020404" pitchFamily="49" charset="0"/>
              </a:rPr>
              <a:t>EXL</a:t>
            </a:r>
            <a:r>
              <a:rPr lang="zh-CN" altLang="en-US" sz="2000" b="0" dirty="0">
                <a:solidFill>
                  <a:schemeClr val="tx1"/>
                </a:solidFill>
                <a:latin typeface="Courier New" panose="02070309020205020404" pitchFamily="49" charset="0"/>
                <a:cs typeface="Courier New" panose="02070309020205020404" pitchFamily="49" charset="0"/>
              </a:rPr>
              <a:t>置位</a:t>
            </a:r>
            <a:endParaRPr lang="en-US" altLang="zh-CN" sz="2000" b="0" dirty="0">
              <a:solidFill>
                <a:schemeClr val="tx1"/>
              </a:solidFill>
              <a:latin typeface="Courier New" panose="02070309020205020404" pitchFamily="49" charset="0"/>
              <a:cs typeface="Courier New" panose="02070309020205020404" pitchFamily="49" charset="0"/>
            </a:endParaRPr>
          </a:p>
        </p:txBody>
      </p:sp>
      <p:sp>
        <p:nvSpPr>
          <p:cNvPr id="41" name="TextBox 40"/>
          <p:cNvSpPr txBox="1"/>
          <p:nvPr/>
        </p:nvSpPr>
        <p:spPr>
          <a:xfrm>
            <a:off x="8926482" y="4479560"/>
            <a:ext cx="1198880" cy="1506855"/>
          </a:xfrm>
          <a:prstGeom prst="rect">
            <a:avLst/>
          </a:prstGeom>
          <a:solidFill>
            <a:srgbClr val="33CCFF"/>
          </a:solidFill>
        </p:spPr>
        <p:txBody>
          <a:bodyPr wrap="none" rtlCol="0">
            <a:spAutoFit/>
          </a:bodyPr>
          <a:lstStyle/>
          <a:p>
            <a:pPr indent="0">
              <a:buNone/>
            </a:pPr>
            <a:r>
              <a:rPr lang="zh-CN" altLang="en-US" sz="2000" b="0" dirty="0">
                <a:solidFill>
                  <a:schemeClr val="tx1"/>
                </a:solidFill>
              </a:rPr>
              <a:t>保存现场</a:t>
            </a:r>
            <a:endParaRPr lang="en-US" altLang="zh-CN" sz="2000" b="0" dirty="0">
              <a:solidFill>
                <a:schemeClr val="tx1"/>
              </a:solidFill>
            </a:endParaRPr>
          </a:p>
          <a:p>
            <a:pPr indent="0">
              <a:buNone/>
            </a:pPr>
            <a:r>
              <a:rPr lang="zh-CN" altLang="en-US" sz="2000" b="0" dirty="0">
                <a:solidFill>
                  <a:schemeClr val="tx1"/>
                </a:solidFill>
              </a:rPr>
              <a:t>中断处理</a:t>
            </a:r>
            <a:endParaRPr lang="en-US" altLang="zh-CN" sz="2000" b="0" dirty="0">
              <a:solidFill>
                <a:schemeClr val="tx1"/>
              </a:solidFill>
            </a:endParaRPr>
          </a:p>
          <a:p>
            <a:pPr indent="0">
              <a:buNone/>
            </a:pPr>
            <a:r>
              <a:rPr lang="zh-CN" altLang="en-US" sz="2000" b="0" dirty="0">
                <a:solidFill>
                  <a:schemeClr val="tx1"/>
                </a:solidFill>
              </a:rPr>
              <a:t>恢复现场</a:t>
            </a:r>
            <a:endParaRPr lang="en-US" altLang="zh-CN" sz="2000" b="0" dirty="0">
              <a:solidFill>
                <a:schemeClr val="tx1"/>
              </a:solidFill>
            </a:endParaRPr>
          </a:p>
          <a:p>
            <a:pPr indent="0">
              <a:buNone/>
            </a:pPr>
            <a:r>
              <a:rPr lang="en-US" altLang="zh-CN" sz="2000" b="0" dirty="0">
                <a:solidFill>
                  <a:schemeClr val="tx1"/>
                </a:solidFill>
              </a:rPr>
              <a:t>ERET</a:t>
            </a:r>
            <a:endParaRPr lang="zh-CN" altLang="en-US" sz="2000" b="0" dirty="0">
              <a:solidFill>
                <a:schemeClr val="tx1"/>
              </a:solidFill>
            </a:endParaRPr>
          </a:p>
        </p:txBody>
      </p:sp>
      <p:cxnSp>
        <p:nvCxnSpPr>
          <p:cNvPr id="43" name="曲线连接符 42"/>
          <p:cNvCxnSpPr/>
          <p:nvPr/>
        </p:nvCxnSpPr>
        <p:spPr bwMode="auto">
          <a:xfrm rot="10800000" flipV="1">
            <a:off x="6827640" y="2514163"/>
            <a:ext cx="720100" cy="447982"/>
          </a:xfrm>
          <a:prstGeom prst="curvedConnector3">
            <a:avLst>
              <a:gd name="adj1" fmla="val 101123"/>
            </a:avLst>
          </a:prstGeom>
          <a:solidFill>
            <a:schemeClr val="bg1"/>
          </a:solidFill>
          <a:ln w="38100" cap="flat" cmpd="sng" algn="ctr">
            <a:solidFill>
              <a:srgbClr val="00CC00"/>
            </a:solidFill>
            <a:prstDash val="solid"/>
            <a:round/>
            <a:headEnd type="none" w="med" len="med"/>
            <a:tailEnd type="triangle" w="lg" len="lg"/>
          </a:ln>
          <a:effectLst/>
        </p:spPr>
      </p:cxnSp>
      <p:cxnSp>
        <p:nvCxnSpPr>
          <p:cNvPr id="49" name="直接箭头连接符 48"/>
          <p:cNvCxnSpPr/>
          <p:nvPr/>
        </p:nvCxnSpPr>
        <p:spPr bwMode="auto">
          <a:xfrm>
            <a:off x="4882880" y="6187370"/>
            <a:ext cx="266437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sp>
        <p:nvSpPr>
          <p:cNvPr id="50" name="TextBox 49"/>
          <p:cNvSpPr txBox="1"/>
          <p:nvPr/>
        </p:nvSpPr>
        <p:spPr>
          <a:xfrm>
            <a:off x="5386950" y="5806890"/>
            <a:ext cx="1656230" cy="332105"/>
          </a:xfrm>
          <a:prstGeom prst="rect">
            <a:avLst/>
          </a:prstGeom>
          <a:no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l">
              <a:buNone/>
            </a:pPr>
            <a:r>
              <a:rPr lang="en-US" altLang="zh-CN" sz="2000" b="0" dirty="0">
                <a:solidFill>
                  <a:schemeClr val="tx1"/>
                </a:solidFill>
                <a:latin typeface="Courier New" panose="02070309020205020404" pitchFamily="49" charset="0"/>
                <a:cs typeface="Courier New" panose="02070309020205020404" pitchFamily="49" charset="0"/>
              </a:rPr>
              <a:t>PC </a:t>
            </a:r>
            <a:r>
              <a:rPr lang="en-US" altLang="zh-CN" sz="2000" b="0" dirty="0">
                <a:solidFill>
                  <a:schemeClr val="tx1"/>
                </a:solidFill>
                <a:latin typeface="Courier New" panose="02070309020205020404" pitchFamily="49" charset="0"/>
                <a:cs typeface="Courier New" panose="02070309020205020404" pitchFamily="49" charset="0"/>
                <a:sym typeface="Wingdings" panose="05000000000000000000" pitchFamily="2" charset="2"/>
              </a:rPr>
              <a:t> EPC</a:t>
            </a:r>
            <a:endParaRPr lang="en-US" altLang="zh-CN" sz="2000" b="0" dirty="0">
              <a:solidFill>
                <a:schemeClr val="tx1"/>
              </a:solidFill>
              <a:latin typeface="Courier New" panose="02070309020205020404" pitchFamily="49" charset="0"/>
              <a:cs typeface="Courier New" panose="02070309020205020404" pitchFamily="49" charset="0"/>
            </a:endParaRPr>
          </a:p>
        </p:txBody>
      </p:sp>
      <p:cxnSp>
        <p:nvCxnSpPr>
          <p:cNvPr id="51" name="直接箭头连接符 50"/>
          <p:cNvCxnSpPr/>
          <p:nvPr/>
        </p:nvCxnSpPr>
        <p:spPr bwMode="auto">
          <a:xfrm flipH="1">
            <a:off x="4882880" y="6547420"/>
            <a:ext cx="2664370" cy="0"/>
          </a:xfrm>
          <a:prstGeom prst="straightConnector1">
            <a:avLst/>
          </a:prstGeom>
          <a:solidFill>
            <a:schemeClr val="bg1"/>
          </a:solidFill>
          <a:ln w="38100" cap="flat" cmpd="sng" algn="ctr">
            <a:solidFill>
              <a:srgbClr val="FF0000"/>
            </a:solidFill>
            <a:prstDash val="solid"/>
            <a:round/>
            <a:headEnd type="none" w="med" len="med"/>
            <a:tailEnd type="triangle" w="lg" len="lg"/>
          </a:ln>
          <a:effectLst/>
        </p:spPr>
      </p:cxnSp>
      <p:sp>
        <p:nvSpPr>
          <p:cNvPr id="52" name="TextBox 51"/>
          <p:cNvSpPr txBox="1"/>
          <p:nvPr/>
        </p:nvSpPr>
        <p:spPr>
          <a:xfrm>
            <a:off x="5386950" y="6187370"/>
            <a:ext cx="1656230" cy="332105"/>
          </a:xfrm>
          <a:prstGeom prst="rect">
            <a:avLst/>
          </a:prstGeom>
          <a:noFill/>
          <a:ln>
            <a:noFill/>
          </a:ln>
          <a:effectLst/>
        </p:spPr>
        <p:style>
          <a:lnRef idx="1">
            <a:schemeClr val="accent6"/>
          </a:lnRef>
          <a:fillRef idx="3">
            <a:schemeClr val="accent6"/>
          </a:fillRef>
          <a:effectRef idx="2">
            <a:schemeClr val="accent6"/>
          </a:effectRef>
          <a:fontRef idx="minor">
            <a:schemeClr val="lt1"/>
          </a:fontRef>
        </p:style>
        <p:txBody>
          <a:bodyPr wrap="square" lIns="36000" tIns="36000" rIns="36000" bIns="36000" rtlCol="0">
            <a:spAutoFit/>
          </a:bodyPr>
          <a:lstStyle/>
          <a:p>
            <a:pPr indent="0" algn="l">
              <a:buNone/>
            </a:pPr>
            <a:r>
              <a:rPr lang="en-US" altLang="zh-CN" sz="2000" b="0" dirty="0">
                <a:solidFill>
                  <a:schemeClr val="tx1"/>
                </a:solidFill>
                <a:latin typeface="Courier New" panose="02070309020205020404" pitchFamily="49" charset="0"/>
                <a:cs typeface="Courier New" panose="02070309020205020404" pitchFamily="49" charset="0"/>
              </a:rPr>
              <a:t>EXL</a:t>
            </a:r>
            <a:r>
              <a:rPr lang="zh-CN" altLang="en-US" sz="2000" b="0" dirty="0">
                <a:solidFill>
                  <a:schemeClr val="tx1"/>
                </a:solidFill>
                <a:latin typeface="Courier New" panose="02070309020205020404" pitchFamily="49" charset="0"/>
                <a:cs typeface="Courier New" panose="02070309020205020404" pitchFamily="49" charset="0"/>
              </a:rPr>
              <a:t>清除</a:t>
            </a:r>
            <a:endParaRPr lang="en-US" altLang="zh-CN" sz="2000" b="0" dirty="0">
              <a:solidFill>
                <a:schemeClr val="tx1"/>
              </a:solidFill>
              <a:latin typeface="Courier New" panose="02070309020205020404" pitchFamily="49" charset="0"/>
              <a:cs typeface="Courier New" panose="02070309020205020404" pitchFamily="49" charset="0"/>
            </a:endParaRPr>
          </a:p>
        </p:txBody>
      </p:sp>
      <p:cxnSp>
        <p:nvCxnSpPr>
          <p:cNvPr id="54" name="曲线连接符 53"/>
          <p:cNvCxnSpPr>
            <a:stCxn id="36" idx="3"/>
            <a:endCxn id="41" idx="0"/>
          </p:cNvCxnSpPr>
          <p:nvPr/>
        </p:nvCxnSpPr>
        <p:spPr bwMode="auto">
          <a:xfrm>
            <a:off x="8194675" y="4128770"/>
            <a:ext cx="1330960" cy="350520"/>
          </a:xfrm>
          <a:prstGeom prst="curvedConnector2">
            <a:avLst/>
          </a:prstGeom>
          <a:solidFill>
            <a:schemeClr val="bg1"/>
          </a:solidFill>
          <a:ln w="38100" cap="flat" cmpd="sng" algn="ctr">
            <a:solidFill>
              <a:srgbClr val="00CC00"/>
            </a:solidFill>
            <a:prstDash val="solid"/>
            <a:round/>
            <a:headEnd type="none" w="med" len="med"/>
            <a:tailEnd type="triangle" w="lg" len="lg"/>
          </a:ln>
          <a:effectLst/>
        </p:spPr>
      </p:cxnSp>
      <p:cxnSp>
        <p:nvCxnSpPr>
          <p:cNvPr id="57" name="曲线连接符 53"/>
          <p:cNvCxnSpPr>
            <a:stCxn id="41" idx="2"/>
            <a:endCxn id="53" idx="3"/>
          </p:cNvCxnSpPr>
          <p:nvPr/>
        </p:nvCxnSpPr>
        <p:spPr bwMode="auto">
          <a:xfrm rot="5400000">
            <a:off x="8749348" y="5467668"/>
            <a:ext cx="257810" cy="1294765"/>
          </a:xfrm>
          <a:prstGeom prst="curvedConnector2">
            <a:avLst/>
          </a:prstGeom>
          <a:solidFill>
            <a:schemeClr val="bg1"/>
          </a:solidFill>
          <a:ln w="38100" cap="flat" cmpd="sng" algn="ctr">
            <a:solidFill>
              <a:srgbClr val="00CC00"/>
            </a:solidFill>
            <a:prstDash val="solid"/>
            <a:round/>
            <a:headEnd type="none" w="med" len="med"/>
            <a:tailEnd type="triangle" w="lg" len="lg"/>
          </a:ln>
          <a:effectLst/>
        </p:spPr>
      </p:cxnSp>
      <p:sp>
        <p:nvSpPr>
          <p:cNvPr id="46" name="标题 2"/>
          <p:cNvSpPr>
            <a:spLocks noGrp="1"/>
          </p:cNvSpPr>
          <p:nvPr/>
        </p:nvSpPr>
        <p:spPr>
          <a:xfrm>
            <a:off x="0" y="300355"/>
            <a:ext cx="8527415" cy="37147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sym typeface="+mn-ea"/>
              </a:rPr>
              <a:t>5.3 </a:t>
            </a:r>
            <a:r>
              <a:rPr lang="zh-CN" altLang="en-US" dirty="0">
                <a:sym typeface="+mn-ea"/>
              </a:rPr>
              <a:t>软硬件配合的中断响应机制</a:t>
            </a:r>
            <a:r>
              <a:rPr lang="en-US" altLang="zh-CN" dirty="0">
                <a:sym typeface="+mn-ea"/>
              </a:rPr>
              <a:t>--</a:t>
            </a:r>
            <a:r>
              <a:rPr lang="zh-CN" altLang="en-US" dirty="0">
                <a:sym typeface="+mn-ea"/>
              </a:rPr>
              <a:t>软硬件协同</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1"/>
          <p:cNvSpPr>
            <a:spLocks noGrp="1"/>
          </p:cNvSpPr>
          <p:nvPr>
            <p:ph idx="1"/>
          </p:nvPr>
        </p:nvSpPr>
        <p:spPr>
          <a:xfrm>
            <a:off x="383728" y="777999"/>
            <a:ext cx="10464800" cy="2867025"/>
          </a:xfrm>
        </p:spPr>
        <p:txBody>
          <a:bodyPr/>
          <a:lstStyle/>
          <a:p>
            <a:pPr>
              <a:lnSpc>
                <a:spcPct val="150000"/>
              </a:lnSpc>
              <a:spcBef>
                <a:spcPts val="0"/>
              </a:spcBef>
            </a:pPr>
            <a:r>
              <a:rPr lang="en-US" altLang="zh-CN" dirty="0"/>
              <a:t>CP0</a:t>
            </a:r>
            <a:r>
              <a:rPr lang="zh-CN" altLang="en-US" dirty="0"/>
              <a:t>的主要功能</a:t>
            </a:r>
            <a:endParaRPr lang="en-US" altLang="zh-CN" dirty="0"/>
          </a:p>
          <a:p>
            <a:pPr lvl="1">
              <a:lnSpc>
                <a:spcPct val="150000"/>
              </a:lnSpc>
              <a:spcBef>
                <a:spcPts val="0"/>
              </a:spcBef>
            </a:pPr>
            <a:r>
              <a:rPr lang="en-US" altLang="zh-CN" dirty="0"/>
              <a:t>CPU</a:t>
            </a:r>
            <a:r>
              <a:rPr lang="zh-CN" altLang="en-US" dirty="0"/>
              <a:t>配置（初始化）</a:t>
            </a:r>
            <a:endParaRPr lang="en-US" altLang="zh-CN" dirty="0"/>
          </a:p>
          <a:p>
            <a:pPr lvl="1">
              <a:lnSpc>
                <a:spcPct val="150000"/>
              </a:lnSpc>
              <a:spcBef>
                <a:spcPts val="0"/>
              </a:spcBef>
            </a:pPr>
            <a:r>
              <a:rPr lang="en-US" altLang="zh-CN" dirty="0"/>
              <a:t>Cache</a:t>
            </a:r>
            <a:r>
              <a:rPr lang="zh-CN" altLang="en-US" dirty="0"/>
              <a:t>管理</a:t>
            </a:r>
            <a:endParaRPr lang="en-US" altLang="zh-CN" dirty="0"/>
          </a:p>
          <a:p>
            <a:pPr lvl="1">
              <a:lnSpc>
                <a:spcPct val="150000"/>
              </a:lnSpc>
              <a:spcBef>
                <a:spcPts val="0"/>
              </a:spcBef>
            </a:pPr>
            <a:r>
              <a:rPr lang="zh-CN" altLang="en-US" dirty="0"/>
              <a:t>异常</a:t>
            </a:r>
            <a:r>
              <a:rPr lang="en-US" altLang="zh-CN" dirty="0"/>
              <a:t>/</a:t>
            </a:r>
            <a:r>
              <a:rPr lang="zh-CN" altLang="en-US" dirty="0"/>
              <a:t>中断控制</a:t>
            </a:r>
            <a:endParaRPr lang="en-US" altLang="zh-CN" dirty="0"/>
          </a:p>
          <a:p>
            <a:pPr lvl="1">
              <a:lnSpc>
                <a:spcPct val="150000"/>
              </a:lnSpc>
              <a:spcBef>
                <a:spcPts val="0"/>
              </a:spcBef>
            </a:pPr>
            <a:r>
              <a:rPr lang="zh-CN" altLang="en-US" dirty="0"/>
              <a:t>存储管理单元控制（</a:t>
            </a:r>
            <a:r>
              <a:rPr lang="en-US" altLang="zh-CN" dirty="0"/>
              <a:t>MMU</a:t>
            </a:r>
            <a:r>
              <a:rPr lang="zh-CN" altLang="en-US" dirty="0"/>
              <a:t>）</a:t>
            </a:r>
            <a:endParaRPr lang="en-US" altLang="zh-CN" dirty="0"/>
          </a:p>
          <a:p>
            <a:pPr lvl="1">
              <a:lnSpc>
                <a:spcPct val="150000"/>
              </a:lnSpc>
              <a:spcBef>
                <a:spcPts val="0"/>
              </a:spcBef>
            </a:pPr>
            <a:r>
              <a:rPr lang="zh-CN" altLang="en-US" dirty="0"/>
              <a:t>杂项：定时、奇偶校验、错误检测。。。</a:t>
            </a:r>
            <a:endParaRPr lang="en-US" altLang="zh-CN" dirty="0"/>
          </a:p>
        </p:txBody>
      </p:sp>
      <p:sp>
        <p:nvSpPr>
          <p:cNvPr id="46" name="标题 2"/>
          <p:cNvSpPr>
            <a:spLocks noGrp="1"/>
          </p:cNvSpPr>
          <p:nvPr/>
        </p:nvSpPr>
        <p:spPr>
          <a:xfrm>
            <a:off x="0" y="300355"/>
            <a:ext cx="8527415" cy="101409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sym typeface="+mn-ea"/>
              </a:rPr>
              <a:t>5.4 CP0</a:t>
            </a:r>
            <a:r>
              <a:rPr lang="zh-CN" altLang="en-US" dirty="0">
                <a:sym typeface="+mn-ea"/>
              </a:rPr>
              <a:t>设计</a:t>
            </a:r>
            <a:r>
              <a:rPr lang="en-US" altLang="zh-CN" dirty="0">
                <a:sym typeface="+mn-ea"/>
              </a:rPr>
              <a:t>--0</a:t>
            </a:r>
            <a:r>
              <a:rPr lang="zh-CN" altLang="en-US" dirty="0">
                <a:sym typeface="+mn-ea"/>
              </a:rPr>
              <a:t>号协处理器</a:t>
            </a:r>
            <a:endParaRPr lang="zh-CN" altLang="en-US" dirty="0"/>
          </a:p>
          <a:p>
            <a:pPr indent="0">
              <a:buNone/>
            </a:pPr>
            <a:endParaRPr lang="zh-CN" altLang="en-US" dirty="0"/>
          </a:p>
          <a:p>
            <a:pPr indent="0">
              <a:buNone/>
            </a:pPr>
            <a:endParaRPr lang="zh-CN" altLang="en-US" dirty="0"/>
          </a:p>
        </p:txBody>
      </p:sp>
      <p:sp>
        <p:nvSpPr>
          <p:cNvPr id="2" name="文本框 1"/>
          <p:cNvSpPr txBox="1"/>
          <p:nvPr/>
        </p:nvSpPr>
        <p:spPr>
          <a:xfrm>
            <a:off x="479376" y="4509120"/>
            <a:ext cx="6120680" cy="1329595"/>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dirty="0">
                <a:latin typeface="黑体" panose="02010609060101010101" pitchFamily="49" charset="-122"/>
                <a:ea typeface="黑体" panose="02010609060101010101" pitchFamily="49" charset="-122"/>
              </a:rPr>
              <a:t>协处理器</a:t>
            </a:r>
            <a:r>
              <a:rPr lang="en-US" altLang="zh-CN" sz="2400" dirty="0">
                <a:latin typeface="黑体" panose="02010609060101010101" pitchFamily="49" charset="-122"/>
                <a:ea typeface="黑体" panose="02010609060101010101" pitchFamily="49" charset="-122"/>
              </a:rPr>
              <a:t>CP1</a:t>
            </a:r>
            <a:r>
              <a:rPr lang="zh-CN" altLang="en-US" sz="2400" dirty="0">
                <a:latin typeface="黑体" panose="02010609060101010101" pitchFamily="49" charset="-122"/>
                <a:ea typeface="黑体" panose="02010609060101010101" pitchFamily="49" charset="-122"/>
              </a:rPr>
              <a:t>：浮点单元</a:t>
            </a:r>
            <a:endParaRPr lang="en-US" altLang="zh-CN" sz="2400" dirty="0">
              <a:latin typeface="黑体" panose="02010609060101010101" pitchFamily="49" charset="-122"/>
              <a:ea typeface="黑体" panose="02010609060101010101" pitchFamily="49" charset="-122"/>
            </a:endParaRPr>
          </a:p>
          <a:p>
            <a:pPr marL="342900" indent="-342900">
              <a:buFont typeface="Wingdings" panose="05000000000000000000" pitchFamily="2" charset="2"/>
              <a:buChar char="p"/>
            </a:pPr>
            <a:r>
              <a:rPr lang="zh-CN" altLang="en-US" sz="2400" dirty="0">
                <a:latin typeface="黑体" panose="02010609060101010101" pitchFamily="49" charset="-122"/>
                <a:ea typeface="黑体" panose="02010609060101010101" pitchFamily="49" charset="-122"/>
              </a:rPr>
              <a:t>协处理器</a:t>
            </a:r>
            <a:r>
              <a:rPr lang="en-US" altLang="zh-CN" sz="2400" dirty="0">
                <a:latin typeface="黑体" panose="02010609060101010101" pitchFamily="49" charset="-122"/>
                <a:ea typeface="黑体" panose="02010609060101010101" pitchFamily="49" charset="-122"/>
              </a:rPr>
              <a:t>CP2</a:t>
            </a:r>
            <a:r>
              <a:rPr lang="zh-CN" altLang="en-US" sz="2400" dirty="0">
                <a:latin typeface="黑体" panose="02010609060101010101" pitchFamily="49" charset="-122"/>
                <a:ea typeface="黑体" panose="02010609060101010101" pitchFamily="49" charset="-122"/>
              </a:rPr>
              <a:t>：专用指令扩展</a:t>
            </a:r>
            <a:endParaRPr lang="en-US" altLang="zh-CN" sz="2400" dirty="0">
              <a:latin typeface="黑体" panose="02010609060101010101" pitchFamily="49" charset="-122"/>
              <a:ea typeface="黑体" panose="02010609060101010101" pitchFamily="49" charset="-122"/>
            </a:endParaRPr>
          </a:p>
          <a:p>
            <a:pPr marL="342900" indent="-342900">
              <a:buFont typeface="Wingdings" panose="05000000000000000000" pitchFamily="2" charset="2"/>
              <a:buChar char="p"/>
            </a:pPr>
            <a:r>
              <a:rPr lang="zh-CN" altLang="en-US" sz="2400" dirty="0">
                <a:latin typeface="黑体" panose="02010609060101010101" pitchFamily="49" charset="-122"/>
                <a:ea typeface="黑体" panose="02010609060101010101" pitchFamily="49" charset="-122"/>
              </a:rPr>
              <a:t>协处理器</a:t>
            </a:r>
            <a:r>
              <a:rPr lang="en-US" altLang="zh-CN" sz="2400" dirty="0">
                <a:latin typeface="黑体" panose="02010609060101010101" pitchFamily="49" charset="-122"/>
                <a:ea typeface="黑体" panose="02010609060101010101" pitchFamily="49" charset="-122"/>
              </a:rPr>
              <a:t>CP3</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32/64</a:t>
            </a:r>
            <a:r>
              <a:rPr lang="zh-CN" altLang="en-US" sz="2400" dirty="0">
                <a:latin typeface="黑体" panose="02010609060101010101" pitchFamily="49" charset="-122"/>
                <a:ea typeface="黑体" panose="02010609060101010101" pitchFamily="49" charset="-122"/>
              </a:rPr>
              <a:t>位浮点运算指令扩展</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983432" y="1124744"/>
            <a:ext cx="10384683" cy="5533737"/>
          </a:xfrm>
          <a:prstGeom prst="rect">
            <a:avLst/>
          </a:prstGeom>
        </p:spPr>
      </p:pic>
      <p:sp>
        <p:nvSpPr>
          <p:cNvPr id="2" name="内容占位符 1"/>
          <p:cNvSpPr>
            <a:spLocks noGrp="1"/>
          </p:cNvSpPr>
          <p:nvPr>
            <p:ph idx="1"/>
          </p:nvPr>
        </p:nvSpPr>
        <p:spPr>
          <a:xfrm>
            <a:off x="407368" y="836712"/>
            <a:ext cx="8678287" cy="512445"/>
          </a:xfrm>
          <a:solidFill>
            <a:schemeClr val="bg1"/>
          </a:solidFill>
        </p:spPr>
        <p:txBody>
          <a:bodyPr/>
          <a:lstStyle/>
          <a:p>
            <a:r>
              <a:rPr lang="zh-CN" altLang="en-US" sz="2400" dirty="0">
                <a:solidFill>
                  <a:srgbClr val="000000"/>
                </a:solidFill>
              </a:rPr>
              <a:t>包含</a:t>
            </a:r>
            <a:r>
              <a:rPr lang="en-US" altLang="zh-CN" sz="2400" dirty="0">
                <a:solidFill>
                  <a:srgbClr val="000000"/>
                </a:solidFill>
              </a:rPr>
              <a:t>EPC</a:t>
            </a:r>
            <a:r>
              <a:rPr lang="zh-CN" altLang="en-US" sz="2400" dirty="0">
                <a:solidFill>
                  <a:srgbClr val="000000"/>
                </a:solidFill>
              </a:rPr>
              <a:t>、</a:t>
            </a:r>
            <a:r>
              <a:rPr lang="en-US" altLang="zh-CN" sz="2400" dirty="0">
                <a:solidFill>
                  <a:srgbClr val="000000"/>
                </a:solidFill>
              </a:rPr>
              <a:t>SR</a:t>
            </a:r>
            <a:r>
              <a:rPr lang="zh-CN" altLang="en-US" sz="2400" dirty="0">
                <a:solidFill>
                  <a:srgbClr val="000000"/>
                </a:solidFill>
              </a:rPr>
              <a:t>、</a:t>
            </a:r>
            <a:r>
              <a:rPr lang="en-US" altLang="zh-CN" sz="2400" dirty="0">
                <a:solidFill>
                  <a:srgbClr val="000000"/>
                </a:solidFill>
              </a:rPr>
              <a:t>CAUSE</a:t>
            </a:r>
            <a:r>
              <a:rPr lang="zh-CN" altLang="en-US" sz="2400" dirty="0">
                <a:solidFill>
                  <a:srgbClr val="000000"/>
                </a:solidFill>
              </a:rPr>
              <a:t>等特殊寄存器</a:t>
            </a:r>
          </a:p>
        </p:txBody>
      </p:sp>
      <p:sp>
        <p:nvSpPr>
          <p:cNvPr id="5" name="标题 2"/>
          <p:cNvSpPr>
            <a:spLocks noGrp="1"/>
          </p:cNvSpPr>
          <p:nvPr/>
        </p:nvSpPr>
        <p:spPr>
          <a:xfrm>
            <a:off x="0" y="300355"/>
            <a:ext cx="8527415" cy="101409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sym typeface="+mn-ea"/>
              </a:rPr>
              <a:t>5.4 CP0</a:t>
            </a:r>
            <a:r>
              <a:rPr lang="zh-CN" altLang="en-US" dirty="0">
                <a:sym typeface="+mn-ea"/>
              </a:rPr>
              <a:t>设计</a:t>
            </a:r>
            <a:r>
              <a:rPr lang="en-US" altLang="zh-CN" dirty="0">
                <a:sym typeface="+mn-ea"/>
              </a:rPr>
              <a:t>--0</a:t>
            </a:r>
            <a:r>
              <a:rPr lang="zh-CN" altLang="en-US" dirty="0">
                <a:sym typeface="+mn-ea"/>
              </a:rPr>
              <a:t>号协处理器</a:t>
            </a:r>
            <a:endParaRPr lang="zh-CN" altLang="en-US" dirty="0"/>
          </a:p>
          <a:p>
            <a:pPr indent="0">
              <a:buNone/>
            </a:pPr>
            <a:endParaRPr lang="zh-CN" altLang="en-US" dirty="0"/>
          </a:p>
          <a:p>
            <a:pPr indent="0">
              <a:buNone/>
            </a:pPr>
            <a:endParaRPr lang="zh-CN" altLang="en-US" dirty="0"/>
          </a:p>
        </p:txBody>
      </p:sp>
      <p:sp>
        <p:nvSpPr>
          <p:cNvPr id="3" name="矩形 2"/>
          <p:cNvSpPr/>
          <p:nvPr/>
        </p:nvSpPr>
        <p:spPr bwMode="auto">
          <a:xfrm>
            <a:off x="9696400" y="1697444"/>
            <a:ext cx="1080120" cy="366767"/>
          </a:xfrm>
          <a:prstGeom prst="rect">
            <a:avLst/>
          </a:prstGeom>
          <a:solidFill>
            <a:srgbClr val="F6F5BD"/>
          </a:solidFill>
          <a:ln w="12700">
            <a:solidFill>
              <a:schemeClr val="tx1"/>
            </a:solidFill>
            <a:miter lim="800000"/>
          </a:ln>
        </p:spPr>
        <p:txBody>
          <a:bodyPr lIns="90487" tIns="44450" rIns="90487" bIns="44450" rtlCol="0" anchor="ctr">
            <a:spAutoFit/>
          </a:bodyPr>
          <a:lstStyle/>
          <a:p>
            <a:pPr algn="ctr">
              <a:lnSpc>
                <a:spcPct val="100000"/>
              </a:lnSpc>
              <a:buNone/>
              <a:tabLst>
                <a:tab pos="292100" algn="l"/>
              </a:tabLst>
            </a:pPr>
            <a:r>
              <a:rPr lang="en-US" altLang="zh-CN" dirty="0" err="1">
                <a:latin typeface="Courier New" panose="02070309020205020404" pitchFamily="49" charset="0"/>
              </a:rPr>
              <a:t>IntReq</a:t>
            </a:r>
            <a:endParaRPr lang="zh-CN" altLang="en-US" dirty="0">
              <a:latin typeface="Courier New" panose="020703090202050204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1"/>
          <p:cNvSpPr>
            <a:spLocks noGrp="1"/>
          </p:cNvSpPr>
          <p:nvPr>
            <p:ph idx="1"/>
          </p:nvPr>
        </p:nvSpPr>
        <p:spPr>
          <a:xfrm>
            <a:off x="479376" y="764705"/>
            <a:ext cx="10899824" cy="5706690"/>
          </a:xfrm>
        </p:spPr>
        <p:txBody>
          <a:bodyPr/>
          <a:lstStyle/>
          <a:p>
            <a:r>
              <a:rPr lang="en-US" altLang="zh-CN" sz="2400" dirty="0"/>
              <a:t>4</a:t>
            </a:r>
            <a:r>
              <a:rPr lang="zh-CN" altLang="en-US" sz="2400" dirty="0"/>
              <a:t>个寄存器：</a:t>
            </a:r>
            <a:r>
              <a:rPr lang="en-US" altLang="zh-CN" sz="2400" dirty="0"/>
              <a:t>SR</a:t>
            </a:r>
            <a:r>
              <a:rPr lang="zh-CN" altLang="en-US" sz="2400" dirty="0"/>
              <a:t>、</a:t>
            </a:r>
            <a:r>
              <a:rPr lang="en-US" altLang="zh-CN" sz="2400" dirty="0"/>
              <a:t>Cause</a:t>
            </a:r>
            <a:r>
              <a:rPr lang="zh-CN" altLang="en-US" sz="2400" dirty="0"/>
              <a:t>、</a:t>
            </a:r>
            <a:r>
              <a:rPr lang="en-US" altLang="zh-CN" sz="2400" dirty="0"/>
              <a:t>EPC</a:t>
            </a:r>
            <a:r>
              <a:rPr lang="zh-CN" altLang="en-US" sz="2400" dirty="0"/>
              <a:t>、</a:t>
            </a:r>
            <a:r>
              <a:rPr lang="en-US" altLang="zh-CN" sz="2400" dirty="0" err="1"/>
              <a:t>PRId</a:t>
            </a:r>
            <a:endParaRPr lang="en-US" altLang="zh-CN" sz="2400" dirty="0"/>
          </a:p>
          <a:p>
            <a:pPr lvl="1"/>
            <a:r>
              <a:rPr lang="zh-CN" altLang="en-US" dirty="0"/>
              <a:t>阅读</a:t>
            </a:r>
            <a:r>
              <a:rPr lang="en-US" altLang="zh-CN" dirty="0"/>
              <a:t>《See MIPS Run Linux》</a:t>
            </a:r>
            <a:r>
              <a:rPr lang="zh-CN" altLang="en-US" dirty="0"/>
              <a:t>第</a:t>
            </a:r>
            <a:r>
              <a:rPr lang="en-US" altLang="zh-CN" dirty="0"/>
              <a:t>3</a:t>
            </a:r>
            <a:r>
              <a:rPr lang="zh-CN" altLang="en-US" dirty="0"/>
              <a:t>章</a:t>
            </a:r>
            <a:endParaRPr lang="en-US" altLang="zh-CN" dirty="0"/>
          </a:p>
          <a:p>
            <a:pPr lvl="1"/>
            <a:r>
              <a:rPr lang="zh-CN" altLang="en-US" dirty="0"/>
              <a:t>无关寄存器及无关位可以不阅读</a:t>
            </a:r>
            <a:endParaRPr lang="en-US" altLang="zh-CN" dirty="0"/>
          </a:p>
          <a:p>
            <a:r>
              <a:rPr lang="zh-CN" altLang="en-US" sz="2400" dirty="0"/>
              <a:t>理解要点：</a:t>
            </a:r>
            <a:endParaRPr lang="en-US" altLang="zh-CN" sz="2400" dirty="0"/>
          </a:p>
          <a:p>
            <a:pPr lvl="1"/>
            <a:r>
              <a:rPr lang="en-US" altLang="zh-CN" dirty="0"/>
              <a:t>SR</a:t>
            </a:r>
            <a:r>
              <a:rPr lang="zh-CN" altLang="en-US" dirty="0"/>
              <a:t>：用于对系统进行控制</a:t>
            </a:r>
            <a:endParaRPr lang="en-US" altLang="zh-CN" dirty="0"/>
          </a:p>
          <a:p>
            <a:pPr lvl="2"/>
            <a:r>
              <a:rPr lang="zh-CN" altLang="en-US" sz="1800" dirty="0"/>
              <a:t>指令可读可写</a:t>
            </a:r>
            <a:endParaRPr lang="en-US" altLang="zh-CN" sz="1800" dirty="0"/>
          </a:p>
          <a:p>
            <a:pPr lvl="2"/>
            <a:r>
              <a:rPr lang="en-US" altLang="zh-CN" sz="1800" dirty="0"/>
              <a:t>IM[15:10], IE, EXL</a:t>
            </a:r>
          </a:p>
          <a:p>
            <a:pPr lvl="1"/>
            <a:r>
              <a:rPr lang="en-US" altLang="zh-CN" dirty="0"/>
              <a:t>Cause</a:t>
            </a:r>
            <a:r>
              <a:rPr lang="zh-CN" altLang="en-US" dirty="0"/>
              <a:t>：指令读取，硬件控制写入</a:t>
            </a:r>
            <a:endParaRPr lang="en-US" altLang="zh-CN" dirty="0"/>
          </a:p>
          <a:p>
            <a:pPr lvl="2"/>
            <a:r>
              <a:rPr lang="en-US" altLang="zh-CN" sz="1800" dirty="0"/>
              <a:t>IP[7:2]</a:t>
            </a:r>
            <a:r>
              <a:rPr lang="zh-CN" altLang="en-US" sz="1800" dirty="0"/>
              <a:t>：对应外部</a:t>
            </a:r>
            <a:r>
              <a:rPr lang="en-US" altLang="zh-CN" sz="1800" dirty="0"/>
              <a:t>6</a:t>
            </a:r>
            <a:r>
              <a:rPr lang="zh-CN" altLang="en-US" sz="1800" dirty="0"/>
              <a:t>个中断源</a:t>
            </a:r>
            <a:endParaRPr lang="en-US" altLang="zh-CN" sz="1800" dirty="0"/>
          </a:p>
          <a:p>
            <a:pPr lvl="2"/>
            <a:r>
              <a:rPr lang="en-US" altLang="zh-CN" sz="1800" dirty="0" err="1"/>
              <a:t>ExcCode</a:t>
            </a:r>
            <a:r>
              <a:rPr lang="zh-CN" altLang="en-US" sz="1800" dirty="0"/>
              <a:t>：</a:t>
            </a:r>
            <a:r>
              <a:rPr lang="en-US" altLang="zh-CN" sz="1800" dirty="0"/>
              <a:t>5</a:t>
            </a:r>
            <a:r>
              <a:rPr lang="zh-CN" altLang="en-US" sz="1800" dirty="0"/>
              <a:t>位</a:t>
            </a:r>
            <a:r>
              <a:rPr lang="en-US" altLang="zh-CN" sz="1800" dirty="0"/>
              <a:t>6-2</a:t>
            </a:r>
            <a:r>
              <a:rPr lang="zh-CN" altLang="en-US" sz="1800" dirty="0"/>
              <a:t>，异常</a:t>
            </a:r>
            <a:r>
              <a:rPr lang="en-US" altLang="zh-CN" sz="1800" dirty="0"/>
              <a:t>/</a:t>
            </a:r>
            <a:r>
              <a:rPr lang="zh-CN" altLang="en-US" sz="1800" dirty="0"/>
              <a:t>中断发生时控制器控制写入编码值（异常类型）</a:t>
            </a:r>
            <a:endParaRPr lang="en-US" altLang="zh-CN" sz="1800" dirty="0"/>
          </a:p>
          <a:p>
            <a:pPr lvl="1"/>
            <a:r>
              <a:rPr lang="en-US" altLang="zh-CN" dirty="0"/>
              <a:t>EPC</a:t>
            </a:r>
            <a:r>
              <a:rPr lang="zh-CN" altLang="en-US" dirty="0"/>
              <a:t>：用于保存异常</a:t>
            </a:r>
            <a:r>
              <a:rPr lang="en-US" altLang="zh-CN" dirty="0"/>
              <a:t>/</a:t>
            </a:r>
            <a:r>
              <a:rPr lang="zh-CN" altLang="en-US" dirty="0"/>
              <a:t>中断发生时的</a:t>
            </a:r>
            <a:r>
              <a:rPr lang="en-US" altLang="zh-CN" dirty="0"/>
              <a:t>PC</a:t>
            </a:r>
          </a:p>
          <a:p>
            <a:pPr lvl="2"/>
            <a:r>
              <a:rPr lang="zh-CN" altLang="en-US" sz="1800" dirty="0"/>
              <a:t>保存</a:t>
            </a:r>
            <a:r>
              <a:rPr lang="en-US" altLang="zh-CN" sz="1800" dirty="0"/>
              <a:t>PC</a:t>
            </a:r>
            <a:r>
              <a:rPr lang="zh-CN" altLang="en-US" sz="1800" dirty="0"/>
              <a:t>：硬件控制写入</a:t>
            </a:r>
            <a:endParaRPr lang="en-US" altLang="zh-CN" sz="1800" dirty="0"/>
          </a:p>
          <a:p>
            <a:pPr lvl="2"/>
            <a:r>
              <a:rPr lang="zh-CN" altLang="en-US" sz="1800" dirty="0"/>
              <a:t>指令读取：中断服务程序</a:t>
            </a:r>
            <a:endParaRPr lang="en-US" altLang="zh-CN" sz="1800" dirty="0"/>
          </a:p>
          <a:p>
            <a:pPr lvl="1"/>
            <a:r>
              <a:rPr lang="en-US" altLang="zh-CN" dirty="0" err="1"/>
              <a:t>PRId</a:t>
            </a:r>
            <a:r>
              <a:rPr lang="zh-CN" altLang="en-US" dirty="0"/>
              <a:t>：处理器</a:t>
            </a:r>
            <a:r>
              <a:rPr lang="en-US" altLang="zh-CN" dirty="0"/>
              <a:t>ID</a:t>
            </a:r>
            <a:r>
              <a:rPr lang="zh-CN" altLang="en-US" dirty="0"/>
              <a:t>（</a:t>
            </a:r>
            <a:r>
              <a:rPr lang="en-US" altLang="zh-CN" dirty="0"/>
              <a:t> CPU</a:t>
            </a:r>
            <a:r>
              <a:rPr lang="zh-CN" altLang="en-US" dirty="0"/>
              <a:t>类型和版本号）</a:t>
            </a:r>
            <a:endParaRPr lang="en-US" altLang="zh-CN" sz="1800" dirty="0"/>
          </a:p>
          <a:p>
            <a:pPr lvl="2"/>
            <a:r>
              <a:rPr lang="zh-CN" altLang="en-US" sz="1800" dirty="0"/>
              <a:t>可以用于实现个性的编码</a:t>
            </a:r>
            <a:r>
              <a:rPr lang="en-US" altLang="zh-CN" sz="1800" dirty="0">
                <a:sym typeface="Wingdings" panose="05000000000000000000" pitchFamily="2" charset="2"/>
              </a:rPr>
              <a:t></a:t>
            </a:r>
          </a:p>
        </p:txBody>
      </p:sp>
      <p:graphicFrame>
        <p:nvGraphicFramePr>
          <p:cNvPr id="4" name="表格 3"/>
          <p:cNvGraphicFramePr>
            <a:graphicFrameLocks noGrp="1"/>
          </p:cNvGraphicFramePr>
          <p:nvPr>
            <p:custDataLst>
              <p:tags r:id="rId1"/>
            </p:custDataLst>
          </p:nvPr>
        </p:nvGraphicFramePr>
        <p:xfrm>
          <a:off x="8827135" y="887730"/>
          <a:ext cx="2305050" cy="3017520"/>
        </p:xfrm>
        <a:graphic>
          <a:graphicData uri="http://schemas.openxmlformats.org/drawingml/2006/table">
            <a:tbl>
              <a:tblPr firstRow="1" bandRow="1">
                <a:tableStyleId>{21E4AEA4-8DFA-4A89-87EB-49C32662AFE0}</a:tableStyleId>
              </a:tblPr>
              <a:tblGrid>
                <a:gridCol w="970915">
                  <a:extLst>
                    <a:ext uri="{9D8B030D-6E8A-4147-A177-3AD203B41FA5}">
                      <a16:colId xmlns:a16="http://schemas.microsoft.com/office/drawing/2014/main" val="20000"/>
                    </a:ext>
                  </a:extLst>
                </a:gridCol>
                <a:gridCol w="1334135">
                  <a:extLst>
                    <a:ext uri="{9D8B030D-6E8A-4147-A177-3AD203B41FA5}">
                      <a16:colId xmlns:a16="http://schemas.microsoft.com/office/drawing/2014/main" val="20001"/>
                    </a:ext>
                  </a:extLst>
                </a:gridCol>
              </a:tblGrid>
              <a:tr h="822960">
                <a:tc>
                  <a:txBody>
                    <a:bodyPr/>
                    <a:lstStyle/>
                    <a:p>
                      <a:pPr algn="ctr"/>
                      <a:r>
                        <a:rPr lang="zh-CN" altLang="en-US" sz="2400" dirty="0"/>
                        <a:t>寄存器号</a:t>
                      </a:r>
                    </a:p>
                  </a:txBody>
                  <a:tcPr anchor="ctr"/>
                </a:tc>
                <a:tc>
                  <a:txBody>
                    <a:bodyPr/>
                    <a:lstStyle/>
                    <a:p>
                      <a:pPr algn="ctr"/>
                      <a:r>
                        <a:rPr lang="zh-CN" altLang="en-US" sz="2400" dirty="0"/>
                        <a:t>寄存器</a:t>
                      </a:r>
                    </a:p>
                  </a:txBody>
                  <a:tcPr anchor="ctr"/>
                </a:tc>
                <a:extLst>
                  <a:ext uri="{0D108BD9-81ED-4DB2-BD59-A6C34878D82A}">
                    <a16:rowId xmlns:a16="http://schemas.microsoft.com/office/drawing/2014/main" val="10000"/>
                  </a:ext>
                </a:extLst>
              </a:tr>
              <a:tr h="457200">
                <a:tc>
                  <a:txBody>
                    <a:bodyPr/>
                    <a:lstStyle/>
                    <a:p>
                      <a:pPr algn="ctr"/>
                      <a:r>
                        <a:rPr lang="en-US" altLang="zh-CN" sz="2400" dirty="0"/>
                        <a:t>12</a:t>
                      </a:r>
                      <a:endParaRPr lang="zh-CN" altLang="en-US" sz="2400" dirty="0"/>
                    </a:p>
                  </a:txBody>
                  <a:tcPr/>
                </a:tc>
                <a:tc>
                  <a:txBody>
                    <a:bodyPr/>
                    <a:lstStyle/>
                    <a:p>
                      <a:pPr algn="ctr"/>
                      <a:r>
                        <a:rPr lang="en-US" altLang="zh-CN" sz="2400" dirty="0"/>
                        <a:t>SR</a:t>
                      </a:r>
                      <a:endParaRPr lang="zh-CN" altLang="en-US" sz="2400" dirty="0"/>
                    </a:p>
                  </a:txBody>
                  <a:tcPr/>
                </a:tc>
                <a:extLst>
                  <a:ext uri="{0D108BD9-81ED-4DB2-BD59-A6C34878D82A}">
                    <a16:rowId xmlns:a16="http://schemas.microsoft.com/office/drawing/2014/main" val="10001"/>
                  </a:ext>
                </a:extLst>
              </a:tr>
              <a:tr h="822960">
                <a:tc>
                  <a:txBody>
                    <a:bodyPr/>
                    <a:lstStyle/>
                    <a:p>
                      <a:pPr algn="ctr"/>
                      <a:r>
                        <a:rPr lang="en-US" altLang="zh-CN" sz="2400" dirty="0"/>
                        <a:t>13</a:t>
                      </a:r>
                      <a:endParaRPr lang="zh-CN" altLang="en-US" sz="2400" dirty="0"/>
                    </a:p>
                  </a:txBody>
                  <a:tcPr/>
                </a:tc>
                <a:tc>
                  <a:txBody>
                    <a:bodyPr/>
                    <a:lstStyle/>
                    <a:p>
                      <a:pPr algn="ctr"/>
                      <a:r>
                        <a:rPr lang="en-US" altLang="zh-CN" sz="2400" dirty="0"/>
                        <a:t>CAUSE</a:t>
                      </a:r>
                      <a:endParaRPr lang="zh-CN" altLang="en-US" sz="2400" dirty="0"/>
                    </a:p>
                  </a:txBody>
                  <a:tcPr/>
                </a:tc>
                <a:extLst>
                  <a:ext uri="{0D108BD9-81ED-4DB2-BD59-A6C34878D82A}">
                    <a16:rowId xmlns:a16="http://schemas.microsoft.com/office/drawing/2014/main" val="10002"/>
                  </a:ext>
                </a:extLst>
              </a:tr>
              <a:tr h="457200">
                <a:tc>
                  <a:txBody>
                    <a:bodyPr/>
                    <a:lstStyle/>
                    <a:p>
                      <a:pPr algn="ctr"/>
                      <a:r>
                        <a:rPr lang="en-US" altLang="zh-CN" sz="2400" dirty="0"/>
                        <a:t>14</a:t>
                      </a:r>
                      <a:endParaRPr lang="zh-CN" altLang="en-US" sz="2400" dirty="0"/>
                    </a:p>
                  </a:txBody>
                  <a:tcPr/>
                </a:tc>
                <a:tc>
                  <a:txBody>
                    <a:bodyPr/>
                    <a:lstStyle/>
                    <a:p>
                      <a:pPr algn="ctr"/>
                      <a:r>
                        <a:rPr lang="en-US" altLang="zh-CN" sz="2400" dirty="0"/>
                        <a:t>EPC</a:t>
                      </a:r>
                      <a:endParaRPr lang="zh-CN" altLang="en-US" sz="2400" dirty="0"/>
                    </a:p>
                  </a:txBody>
                  <a:tcPr/>
                </a:tc>
                <a:extLst>
                  <a:ext uri="{0D108BD9-81ED-4DB2-BD59-A6C34878D82A}">
                    <a16:rowId xmlns:a16="http://schemas.microsoft.com/office/drawing/2014/main" val="10003"/>
                  </a:ext>
                </a:extLst>
              </a:tr>
              <a:tr h="457200">
                <a:tc>
                  <a:txBody>
                    <a:bodyPr/>
                    <a:lstStyle/>
                    <a:p>
                      <a:pPr algn="ctr"/>
                      <a:r>
                        <a:rPr lang="en-US" altLang="zh-CN" sz="2400" dirty="0"/>
                        <a:t>15</a:t>
                      </a:r>
                      <a:endParaRPr lang="zh-CN" altLang="en-US" sz="2400" dirty="0"/>
                    </a:p>
                  </a:txBody>
                  <a:tcPr/>
                </a:tc>
                <a:tc>
                  <a:txBody>
                    <a:bodyPr/>
                    <a:lstStyle/>
                    <a:p>
                      <a:pPr algn="ctr"/>
                      <a:r>
                        <a:rPr lang="en-US" altLang="zh-CN" sz="2400" dirty="0" err="1"/>
                        <a:t>PrID</a:t>
                      </a:r>
                      <a:endParaRPr lang="zh-CN" altLang="en-US" sz="2400" dirty="0"/>
                    </a:p>
                  </a:txBody>
                  <a:tcPr/>
                </a:tc>
                <a:extLst>
                  <a:ext uri="{0D108BD9-81ED-4DB2-BD59-A6C34878D82A}">
                    <a16:rowId xmlns:a16="http://schemas.microsoft.com/office/drawing/2014/main" val="10004"/>
                  </a:ext>
                </a:extLst>
              </a:tr>
            </a:tbl>
          </a:graphicData>
        </a:graphic>
      </p:graphicFrame>
      <p:sp>
        <p:nvSpPr>
          <p:cNvPr id="46" name="标题 2"/>
          <p:cNvSpPr>
            <a:spLocks noGrp="1"/>
          </p:cNvSpPr>
          <p:nvPr/>
        </p:nvSpPr>
        <p:spPr>
          <a:xfrm>
            <a:off x="0" y="300355"/>
            <a:ext cx="8527415" cy="101409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sym typeface="+mn-ea"/>
              </a:rPr>
              <a:t>5.4 CP0</a:t>
            </a:r>
            <a:r>
              <a:rPr lang="zh-CN" altLang="en-US" dirty="0">
                <a:sym typeface="+mn-ea"/>
              </a:rPr>
              <a:t>设计</a:t>
            </a:r>
            <a:r>
              <a:rPr lang="en-US" altLang="zh-CN" dirty="0">
                <a:sym typeface="+mn-ea"/>
              </a:rPr>
              <a:t>--0</a:t>
            </a:r>
            <a:r>
              <a:rPr lang="zh-CN" altLang="en-US" dirty="0">
                <a:sym typeface="+mn-ea"/>
              </a:rPr>
              <a:t>号协处理器</a:t>
            </a:r>
            <a:endParaRPr lang="zh-CN" altLang="en-US" dirty="0"/>
          </a:p>
          <a:p>
            <a:pPr indent="0">
              <a:buNone/>
            </a:pPr>
            <a:endParaRPr lang="zh-CN" altLang="en-US" dirty="0"/>
          </a:p>
          <a:p>
            <a:pPr indent="0">
              <a:buNone/>
            </a:pP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1"/>
          <p:cNvSpPr>
            <a:spLocks noGrp="1"/>
          </p:cNvSpPr>
          <p:nvPr>
            <p:ph idx="1"/>
          </p:nvPr>
        </p:nvSpPr>
        <p:spPr>
          <a:xfrm>
            <a:off x="551384" y="764705"/>
            <a:ext cx="10827816" cy="4128770"/>
          </a:xfrm>
        </p:spPr>
        <p:txBody>
          <a:bodyPr/>
          <a:lstStyle/>
          <a:p>
            <a:r>
              <a:rPr lang="zh-CN" altLang="en-US" sz="2400" dirty="0"/>
              <a:t>指令：</a:t>
            </a:r>
            <a:r>
              <a:rPr lang="en-US" altLang="zh-CN" sz="2400" dirty="0"/>
              <a:t>MFC0</a:t>
            </a:r>
            <a:r>
              <a:rPr lang="zh-CN" altLang="en-US" sz="2400" dirty="0"/>
              <a:t>、</a:t>
            </a:r>
            <a:r>
              <a:rPr lang="en-US" altLang="zh-CN" sz="2400" dirty="0"/>
              <a:t>MTC0</a:t>
            </a:r>
          </a:p>
          <a:p>
            <a:pPr lvl="1"/>
            <a:r>
              <a:rPr lang="zh-CN" altLang="en-US" dirty="0"/>
              <a:t>不能直接修改</a:t>
            </a:r>
            <a:r>
              <a:rPr lang="en-US" altLang="zh-CN" dirty="0"/>
              <a:t>CP0</a:t>
            </a:r>
            <a:r>
              <a:rPr lang="zh-CN" altLang="en-US" dirty="0"/>
              <a:t>寄存器，必须借助通用寄存器</a:t>
            </a:r>
            <a:endParaRPr lang="en-US" altLang="zh-CN" dirty="0"/>
          </a:p>
          <a:p>
            <a:r>
              <a:rPr lang="en-US" altLang="zh-CN" sz="2400" dirty="0"/>
              <a:t>MFC0</a:t>
            </a:r>
            <a:r>
              <a:rPr lang="zh-CN" altLang="en-US" sz="2400" dirty="0"/>
              <a:t>：读取</a:t>
            </a:r>
            <a:r>
              <a:rPr lang="en-US" altLang="zh-CN" sz="2400" dirty="0"/>
              <a:t>CP0</a:t>
            </a:r>
            <a:r>
              <a:rPr lang="zh-CN" altLang="en-US" sz="2400" dirty="0"/>
              <a:t>寄存器至通用寄存器</a:t>
            </a:r>
            <a:endParaRPr lang="en-US" altLang="zh-CN" sz="2400" dirty="0"/>
          </a:p>
          <a:p>
            <a:pPr lvl="1"/>
            <a:r>
              <a:rPr lang="en-US" altLang="zh-CN" dirty="0"/>
              <a:t>SR</a:t>
            </a:r>
            <a:r>
              <a:rPr lang="zh-CN" altLang="en-US" dirty="0"/>
              <a:t>（</a:t>
            </a:r>
            <a:r>
              <a:rPr lang="en-US" altLang="zh-CN" dirty="0"/>
              <a:t>12</a:t>
            </a:r>
            <a:r>
              <a:rPr lang="zh-CN" altLang="en-US" dirty="0"/>
              <a:t>）：获取处理器的状态信息</a:t>
            </a:r>
            <a:endParaRPr lang="en-US" altLang="zh-CN" dirty="0"/>
          </a:p>
          <a:p>
            <a:pPr lvl="1"/>
            <a:r>
              <a:rPr lang="en-US" altLang="zh-CN" dirty="0"/>
              <a:t>Cause</a:t>
            </a:r>
            <a:r>
              <a:rPr lang="zh-CN" altLang="en-US" dirty="0"/>
              <a:t>（</a:t>
            </a:r>
            <a:r>
              <a:rPr lang="en-US" altLang="zh-CN" dirty="0"/>
              <a:t>13</a:t>
            </a:r>
            <a:r>
              <a:rPr lang="zh-CN" altLang="en-US" dirty="0"/>
              <a:t>）：获取处理器当前异常请求信息</a:t>
            </a:r>
            <a:endParaRPr lang="en-US" altLang="zh-CN" dirty="0"/>
          </a:p>
          <a:p>
            <a:pPr lvl="1"/>
            <a:r>
              <a:rPr lang="en-US" altLang="zh-CN" dirty="0"/>
              <a:t>EPC</a:t>
            </a:r>
            <a:r>
              <a:rPr lang="zh-CN" altLang="en-US" dirty="0"/>
              <a:t>（</a:t>
            </a:r>
            <a:r>
              <a:rPr lang="en-US" altLang="zh-CN" dirty="0"/>
              <a:t>14</a:t>
            </a:r>
            <a:r>
              <a:rPr lang="zh-CN" altLang="en-US" dirty="0"/>
              <a:t>）：获取被异常</a:t>
            </a:r>
            <a:r>
              <a:rPr lang="en-US" altLang="zh-CN" dirty="0"/>
              <a:t>/</a:t>
            </a:r>
            <a:r>
              <a:rPr lang="zh-CN" altLang="en-US" dirty="0"/>
              <a:t>中断的指令地址</a:t>
            </a:r>
            <a:endParaRPr lang="en-US" altLang="zh-CN" dirty="0"/>
          </a:p>
          <a:p>
            <a:pPr lvl="1"/>
            <a:r>
              <a:rPr lang="en-US" altLang="zh-CN" dirty="0" err="1"/>
              <a:t>PRId</a:t>
            </a:r>
            <a:r>
              <a:rPr lang="zh-CN" altLang="en-US" dirty="0"/>
              <a:t>（</a:t>
            </a:r>
            <a:r>
              <a:rPr lang="en-US" altLang="zh-CN" dirty="0"/>
              <a:t>15</a:t>
            </a:r>
            <a:r>
              <a:rPr lang="zh-CN" altLang="en-US" dirty="0"/>
              <a:t>）：读取处理器</a:t>
            </a:r>
            <a:r>
              <a:rPr lang="en-US" altLang="zh-CN" dirty="0"/>
              <a:t>ID</a:t>
            </a:r>
            <a:r>
              <a:rPr lang="zh-CN" altLang="en-US" dirty="0"/>
              <a:t>（支持进行个性化编程）</a:t>
            </a:r>
            <a:endParaRPr lang="en-US" altLang="zh-CN" dirty="0"/>
          </a:p>
          <a:p>
            <a:r>
              <a:rPr lang="en-US" altLang="zh-CN" sz="2400" dirty="0"/>
              <a:t>MTC0</a:t>
            </a:r>
            <a:r>
              <a:rPr lang="zh-CN" altLang="en-US" sz="2400" dirty="0"/>
              <a:t>：通用寄存器值写入</a:t>
            </a:r>
            <a:r>
              <a:rPr lang="en-US" altLang="zh-CN" sz="2400" dirty="0"/>
              <a:t>CP0</a:t>
            </a:r>
            <a:r>
              <a:rPr lang="zh-CN" altLang="en-US" sz="2400" dirty="0"/>
              <a:t>寄存器</a:t>
            </a:r>
            <a:endParaRPr lang="en-US" altLang="zh-CN" sz="2400" dirty="0"/>
          </a:p>
          <a:p>
            <a:pPr lvl="1"/>
            <a:r>
              <a:rPr lang="en-US" altLang="zh-CN" dirty="0"/>
              <a:t>SR</a:t>
            </a:r>
            <a:r>
              <a:rPr lang="zh-CN" altLang="en-US" dirty="0"/>
              <a:t>：对处理器进行控制，例如关闭中断</a:t>
            </a:r>
            <a:endParaRPr lang="en-US" altLang="zh-CN" dirty="0"/>
          </a:p>
          <a:p>
            <a:pPr lvl="1"/>
            <a:r>
              <a:rPr lang="en-US" altLang="zh-CN" dirty="0"/>
              <a:t>EPC</a:t>
            </a:r>
            <a:r>
              <a:rPr lang="zh-CN" altLang="en-US" dirty="0"/>
              <a:t>：操作系统中将用于多任务切换</a:t>
            </a:r>
          </a:p>
        </p:txBody>
      </p:sp>
      <p:sp>
        <p:nvSpPr>
          <p:cNvPr id="2" name="文本框 1"/>
          <p:cNvSpPr txBox="1"/>
          <p:nvPr/>
        </p:nvSpPr>
        <p:spPr>
          <a:xfrm>
            <a:off x="1199456" y="5229200"/>
            <a:ext cx="4104570" cy="1329595"/>
          </a:xfrm>
          <a:prstGeom prst="rect">
            <a:avLst/>
          </a:prstGeom>
          <a:noFill/>
        </p:spPr>
        <p:txBody>
          <a:bodyPr wrap="square" rtlCol="0">
            <a:spAutoFit/>
          </a:bodyPr>
          <a:lstStyle/>
          <a:p>
            <a:pPr indent="0">
              <a:buNone/>
            </a:pPr>
            <a:r>
              <a:rPr lang="fr-FR" altLang="zh-CN" sz="1600" dirty="0"/>
              <a:t> </a:t>
            </a:r>
            <a:r>
              <a:rPr lang="fr-FR" altLang="zh-CN" sz="2400" dirty="0">
                <a:solidFill>
                  <a:schemeClr val="tx1"/>
                </a:solidFill>
              </a:rPr>
              <a:t>MFC0 $t0, Cause </a:t>
            </a:r>
            <a:r>
              <a:rPr lang="zh-CN" altLang="en-US" sz="2400" dirty="0">
                <a:solidFill>
                  <a:schemeClr val="tx1"/>
                </a:solidFill>
              </a:rPr>
              <a:t>读</a:t>
            </a:r>
            <a:endParaRPr lang="en-US" altLang="zh-CN" sz="2400" dirty="0">
              <a:solidFill>
                <a:schemeClr val="tx1"/>
              </a:solidFill>
            </a:endParaRPr>
          </a:p>
          <a:p>
            <a:pPr indent="0">
              <a:buNone/>
            </a:pPr>
            <a:r>
              <a:rPr lang="en-US" altLang="zh-CN" sz="2400" dirty="0"/>
              <a:t>  </a:t>
            </a:r>
            <a:r>
              <a:rPr lang="zh-CN" altLang="en-US" sz="2400" dirty="0"/>
              <a:t>可以对</a:t>
            </a:r>
            <a:r>
              <a:rPr lang="en-US" altLang="zh-CN" sz="2400" dirty="0"/>
              <a:t>$t0</a:t>
            </a:r>
            <a:r>
              <a:rPr lang="zh-CN" altLang="en-US" sz="2400" dirty="0"/>
              <a:t>进行位操作</a:t>
            </a:r>
            <a:endParaRPr lang="fr-FR" altLang="zh-CN" sz="2400" dirty="0">
              <a:solidFill>
                <a:schemeClr val="tx1"/>
              </a:solidFill>
            </a:endParaRPr>
          </a:p>
          <a:p>
            <a:pPr indent="0">
              <a:buNone/>
            </a:pPr>
            <a:r>
              <a:rPr lang="fr-FR" altLang="zh-CN" sz="2400" dirty="0">
                <a:solidFill>
                  <a:schemeClr val="tx1"/>
                </a:solidFill>
              </a:rPr>
              <a:t>MTC0 $t0, Cause </a:t>
            </a:r>
            <a:r>
              <a:rPr lang="zh-CN" altLang="en-US" sz="2400" dirty="0">
                <a:solidFill>
                  <a:schemeClr val="tx1"/>
                </a:solidFill>
              </a:rPr>
              <a:t>写</a:t>
            </a:r>
            <a:r>
              <a:rPr lang="fr-FR" altLang="zh-CN" sz="2400" dirty="0">
                <a:solidFill>
                  <a:schemeClr val="tx1"/>
                </a:solidFill>
              </a:rPr>
              <a:t> </a:t>
            </a:r>
          </a:p>
        </p:txBody>
      </p:sp>
      <p:sp>
        <p:nvSpPr>
          <p:cNvPr id="46" name="标题 2"/>
          <p:cNvSpPr>
            <a:spLocks noGrp="1"/>
          </p:cNvSpPr>
          <p:nvPr/>
        </p:nvSpPr>
        <p:spPr>
          <a:xfrm>
            <a:off x="0" y="300355"/>
            <a:ext cx="8527415" cy="1335405"/>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dirty="0">
                <a:sym typeface="+mn-ea"/>
              </a:rPr>
              <a:t>5.4 CP0</a:t>
            </a:r>
            <a:r>
              <a:rPr lang="zh-CN" altLang="en-US" dirty="0">
                <a:sym typeface="+mn-ea"/>
              </a:rPr>
              <a:t>设计</a:t>
            </a:r>
            <a:r>
              <a:rPr lang="en-US" altLang="zh-CN" dirty="0">
                <a:sym typeface="+mn-ea"/>
              </a:rPr>
              <a:t>--</a:t>
            </a:r>
            <a:r>
              <a:rPr lang="zh-CN" altLang="en-US" dirty="0">
                <a:sym typeface="+mn-ea"/>
              </a:rPr>
              <a:t>协处理器指令及用途</a:t>
            </a:r>
            <a:endParaRPr lang="zh-CN" altLang="en-US" dirty="0"/>
          </a:p>
          <a:p>
            <a:pPr indent="0">
              <a:buNone/>
            </a:pPr>
            <a:endParaRPr lang="zh-CN" altLang="en-US" dirty="0"/>
          </a:p>
          <a:p>
            <a:pPr indent="0">
              <a:buNone/>
            </a:pPr>
            <a:endParaRPr lang="zh-CN" altLang="en-US" dirty="0"/>
          </a:p>
          <a:p>
            <a:pPr indent="0">
              <a:buNone/>
            </a:pP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021320ed-6230-4f10-8d3e-999541f6565a}"/>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f4188e85-8fc4-493f-84c3-53eeea37e058}"/>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square" lIns="63500" tIns="25400" rIns="63500" bIns="25400" numCol="1" anchor="t" anchorCtr="0" compatLnSpc="1">
        <a:spAutoFit/>
      </a:bodyPr>
      <a:lstStyle>
        <a:defPPr marL="668655" marR="0" indent="-193675" algn="l" defTabSz="914400" rtl="0" eaLnBrk="0" fontAlgn="base" latinLnBrk="0" hangingPunct="0">
          <a:lnSpc>
            <a:spcPct val="85000"/>
          </a:lnSpc>
          <a:spcBef>
            <a:spcPct val="40000"/>
          </a:spcBef>
          <a:spcAft>
            <a:spcPct val="0"/>
          </a:spcAft>
          <a:buClr>
            <a:srgbClr val="001ADC"/>
          </a:buClr>
          <a:buSzPct val="100000"/>
          <a:buFont typeface="Wingdings" panose="05000000000000000000" pitchFamily="2" charset="2"/>
          <a:buChar char="Ø"/>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square" lIns="63500" tIns="25400" rIns="63500" bIns="25400" numCol="1" anchor="t" anchorCtr="0" compatLnSpc="1">
        <a:spAutoFit/>
      </a:bodyPr>
      <a:lstStyle>
        <a:defPPr marL="668655" marR="0" indent="-193675" algn="l" defTabSz="914400" rtl="0" eaLnBrk="0" fontAlgn="base" latinLnBrk="0" hangingPunct="0">
          <a:lnSpc>
            <a:spcPct val="85000"/>
          </a:lnSpc>
          <a:spcBef>
            <a:spcPct val="40000"/>
          </a:spcBef>
          <a:spcAft>
            <a:spcPct val="0"/>
          </a:spcAft>
          <a:buClr>
            <a:srgbClr val="001ADC"/>
          </a:buClr>
          <a:buSzPct val="100000"/>
          <a:buFont typeface="Wingdings" panose="05000000000000000000" pitchFamily="2" charset="2"/>
          <a:buChar char="Ø"/>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6F5BD"/>
        </a:solidFill>
        <a:ln w="12700">
          <a:solidFill>
            <a:schemeClr val="tx1"/>
          </a:solidFill>
          <a:miter lim="800000"/>
        </a:ln>
      </a:spPr>
      <a:bodyPr lIns="90487" tIns="44450" rIns="90487" bIns="44450">
        <a:spAutoFit/>
      </a:bodyPr>
      <a:lstStyle>
        <a:defPPr>
          <a:lnSpc>
            <a:spcPct val="100000"/>
          </a:lnSpc>
          <a:buNone/>
          <a:tabLst>
            <a:tab pos="292100" algn="l"/>
          </a:tabLst>
          <a:defRPr dirty="0">
            <a:latin typeface="Courier New" panose="02070309020205020404" pitchFamily="49"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accent1"/>
            </a:solidFill>
            <a:effectLst/>
            <a:latin typeface="Arial" panose="020B0604020202020204" pitchFamily="34" charset="0"/>
          </a:defRPr>
        </a:defPPr>
      </a:lstStyle>
    </a:lnDef>
    <a:txDef>
      <a:spPr>
        <a:noFill/>
      </a:spPr>
      <a:bodyPr wrap="square" rtlCol="0">
        <a:spAutoFit/>
      </a:bodyPr>
      <a:lstStyle>
        <a:defPPr>
          <a:buNone/>
          <a:defRPr dirty="0">
            <a:latin typeface="Calibri" panose="020F0502020204030204" pitchFamily="34" charset="0"/>
          </a:defRPr>
        </a:defPPr>
      </a:lstStyle>
    </a:tx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11475</TotalTime>
  <Pages>47</Pages>
  <Words>2923</Words>
  <Application>Microsoft Macintosh PowerPoint</Application>
  <PresentationFormat>宽屏</PresentationFormat>
  <Paragraphs>411</Paragraphs>
  <Slides>27</Slides>
  <Notes>19</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27</vt:i4>
      </vt:variant>
    </vt:vector>
  </HeadingPairs>
  <TitlesOfParts>
    <vt:vector size="41" baseType="lpstr">
      <vt:lpstr>18 VAG Rounded Light   02390</vt:lpstr>
      <vt:lpstr>黑体</vt:lpstr>
      <vt:lpstr>华文楷体</vt:lpstr>
      <vt:lpstr>楷体_GB2312</vt:lpstr>
      <vt:lpstr>微软雅黑</vt:lpstr>
      <vt:lpstr>Arial Unicode MS</vt:lpstr>
      <vt:lpstr>Arial</vt:lpstr>
      <vt:lpstr>Calibri</vt:lpstr>
      <vt:lpstr>Cambria</vt:lpstr>
      <vt:lpstr>Courier New</vt:lpstr>
      <vt:lpstr>Times New Roman</vt:lpstr>
      <vt:lpstr>Wingdings</vt:lpstr>
      <vt:lpstr>CS152-SP98</vt:lpstr>
      <vt:lpstr>1_CS152-SP98</vt:lpstr>
      <vt:lpstr>计算机硬件基础（软件专业）</vt:lpstr>
      <vt:lpstr>PowerPoint 演示文稿</vt:lpstr>
      <vt:lpstr>5.1 MIPS中断/异常--Exceptions and Interrupts</vt:lpstr>
      <vt:lpstr>PowerPoint 演示文稿</vt:lpstr>
      <vt:lpstr>PowerPoint 演示文稿</vt:lpstr>
      <vt:lpstr>PowerPoint 演示文稿</vt:lpstr>
      <vt:lpstr>PowerPoint 演示文稿</vt:lpstr>
      <vt:lpstr>PowerPoint 演示文稿</vt:lpstr>
      <vt:lpstr>PowerPoint 演示文稿</vt:lpstr>
      <vt:lpstr>5.2 支持中断/异常的数据通路--增加EPC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lxd</dc:creator>
  <dc:description>lecture 1</dc:description>
  <cp:lastModifiedBy>winnieliupku@gmail.com</cp:lastModifiedBy>
  <cp:revision>485</cp:revision>
  <cp:lastPrinted>2015-10-29T05:44:00Z</cp:lastPrinted>
  <dcterms:created xsi:type="dcterms:W3CDTF">1997-08-19T16:58:00Z</dcterms:created>
  <dcterms:modified xsi:type="dcterms:W3CDTF">2025-10-27T05:30:47Z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2052-11.1.0.9995</vt:lpwstr>
  </property>
</Properties>
</file>